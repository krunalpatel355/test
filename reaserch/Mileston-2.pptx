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1" r:id="rId15"/>
    <p:sldId id="272"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6667" autoAdjust="0"/>
  </p:normalViewPr>
  <p:slideViewPr>
    <p:cSldViewPr snapToGrid="0" snapToObjects="1">
      <p:cViewPr varScale="1">
        <p:scale>
          <a:sx n="63" d="100"/>
          <a:sy n="63" d="100"/>
        </p:scale>
        <p:origin x="1914" y="48"/>
      </p:cViewPr>
      <p:guideLst/>
    </p:cSldViewPr>
  </p:slideViewPr>
  <p:notesTextViewPr>
    <p:cViewPr>
      <p:scale>
        <a:sx n="1" d="1"/>
        <a:sy n="1" d="1"/>
      </p:scale>
      <p:origin x="0" y="0"/>
    </p:cViewPr>
  </p:notesTextViewPr>
  <p:notesViewPr>
    <p:cSldViewPr snapToGrid="0" snapToObjects="1">
      <p:cViewPr>
        <p:scale>
          <a:sx n="150" d="100"/>
          <a:sy n="150" d="100"/>
        </p:scale>
        <p:origin x="1824" y="-43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Thank you for being here. My name is </a:t>
            </a:r>
            <a:r>
              <a:rPr lang="en-US" b="1" dirty="0"/>
              <a:t>Komal Nandal and my partner’s name is </a:t>
            </a:r>
            <a:r>
              <a:rPr lang="en-US" b="1" dirty="0" err="1"/>
              <a:t>Ridham</a:t>
            </a:r>
            <a:r>
              <a:rPr lang="en-US" b="1" dirty="0"/>
              <a:t> Patel</a:t>
            </a:r>
            <a:r>
              <a:rPr lang="en-US" dirty="0"/>
              <a:t>, and today We are excited to present our group’s milestone project on </a:t>
            </a:r>
            <a:r>
              <a:rPr lang="en-US" b="1" dirty="0"/>
              <a:t>AI Agents and Frameworks</a:t>
            </a:r>
            <a:r>
              <a:rPr lang="en-US" dirty="0"/>
              <a:t>. We’ve entered a new era of AI—one where intelligent agents are no longer just tools, but collaborators.</a:t>
            </a:r>
          </a:p>
          <a:p>
            <a:r>
              <a:rPr lang="en-US" dirty="0"/>
              <a:t>This presentation will walk you through what AI agents are, why they matter, how frameworks help build them, and explore some of the most powerful frameworks available today. We'll also show how these agents operate step by step, and give examples from real-world applications.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was made possible through the efforts of our entire team, including </a:t>
            </a:r>
            <a:r>
              <a:rPr lang="en-US" dirty="0" err="1"/>
              <a:t>Yorbis</a:t>
            </a:r>
            <a:r>
              <a:rPr lang="en-US" dirty="0"/>
              <a:t>, Gustavo, </a:t>
            </a:r>
            <a:r>
              <a:rPr lang="en-US" dirty="0" err="1"/>
              <a:t>Mahek</a:t>
            </a:r>
            <a:r>
              <a:rPr lang="en-US" dirty="0"/>
              <a:t>, Krunal, Het, </a:t>
            </a:r>
            <a:r>
              <a:rPr lang="en-US" dirty="0" err="1"/>
              <a:t>Kamali</a:t>
            </a:r>
            <a:r>
              <a:rPr lang="en-US" dirty="0"/>
              <a:t>, </a:t>
            </a:r>
            <a:r>
              <a:rPr lang="en-US" dirty="0" err="1"/>
              <a:t>Riddham</a:t>
            </a:r>
            <a:r>
              <a:rPr lang="en-US" dirty="0"/>
              <a:t>, </a:t>
            </a:r>
            <a:r>
              <a:rPr lang="en-US" dirty="0" err="1"/>
              <a:t>Sangsun</a:t>
            </a:r>
            <a:r>
              <a:rPr lang="en-US" dirty="0"/>
              <a:t>, and myself—Komal. Each member contributed valuable research and insights into this rapidly evolving field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by defining what we mean by an AI agent.</a:t>
            </a:r>
            <a:br>
              <a:rPr lang="en-US" dirty="0"/>
            </a:br>
            <a:r>
              <a:rPr lang="en-US" dirty="0"/>
              <a:t>An AI agent is an autonomous system capable of </a:t>
            </a:r>
            <a:r>
              <a:rPr lang="en-US" b="1" dirty="0"/>
              <a:t>perceiving</a:t>
            </a:r>
            <a:r>
              <a:rPr lang="en-US" dirty="0"/>
              <a:t> its environment, </a:t>
            </a:r>
            <a:r>
              <a:rPr lang="en-US" b="1" dirty="0"/>
              <a:t>reasoning</a:t>
            </a:r>
            <a:r>
              <a:rPr lang="en-US" dirty="0"/>
              <a:t> to make decisions, taking </a:t>
            </a:r>
            <a:r>
              <a:rPr lang="en-US" b="1" dirty="0"/>
              <a:t>action</a:t>
            </a:r>
            <a:r>
              <a:rPr lang="en-US" dirty="0"/>
              <a:t>, and even </a:t>
            </a:r>
            <a:r>
              <a:rPr lang="en-US" b="1" dirty="0"/>
              <a:t>learning</a:t>
            </a:r>
            <a:r>
              <a:rPr lang="en-US" dirty="0"/>
              <a:t> from feedback</a:t>
            </a:r>
          </a:p>
          <a:p>
            <a:r>
              <a:rPr lang="en-US" dirty="0"/>
              <a:t>This process mimics how humans operate. We take in data through our senses, think about it, take action, and learn from the results.</a:t>
            </a:r>
            <a:br>
              <a:rPr lang="en-US" dirty="0"/>
            </a:br>
            <a:r>
              <a:rPr lang="en-US" dirty="0"/>
              <a:t>In the same way, AI agents use sensors, logic, memory, and tools to behave intelligently in dynamic environments.</a:t>
            </a:r>
          </a:p>
          <a:p>
            <a:r>
              <a:rPr lang="en-US" dirty="0"/>
              <a:t>At its core, the agent lifecycle is about perceiving inputs, planning, executing, and learning. And thanks to advances in large language models, agents today are more than just responsive—they're proactive, contextual, and continuously improving.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understand how AI agents have evolved over time—from simple tools to intelligent systems.</a:t>
            </a:r>
          </a:p>
          <a:p>
            <a:r>
              <a:rPr lang="en-US" dirty="0"/>
              <a:t>🔙 </a:t>
            </a:r>
            <a:r>
              <a:rPr lang="en-US" b="1" dirty="0"/>
              <a:t>In the past</a:t>
            </a:r>
            <a:r>
              <a:rPr lang="en-US" dirty="0"/>
              <a:t>, AI agents were very limited.</a:t>
            </a:r>
            <a:br>
              <a:rPr lang="en-US" dirty="0"/>
            </a:br>
            <a:r>
              <a:rPr lang="en-US" dirty="0"/>
              <a:t>They followed </a:t>
            </a:r>
            <a:r>
              <a:rPr lang="en-US" b="1" dirty="0"/>
              <a:t>predefined rules</a:t>
            </a:r>
            <a:r>
              <a:rPr lang="en-US" dirty="0"/>
              <a:t>, and their job was mostly to answer direct questions or follow basic commands.</a:t>
            </a:r>
            <a:br>
              <a:rPr lang="en-US" dirty="0"/>
            </a:br>
            <a:r>
              <a:rPr lang="en-US" dirty="0"/>
              <a:t>These were your typical </a:t>
            </a:r>
            <a:r>
              <a:rPr lang="en-US" b="1" dirty="0"/>
              <a:t>static Q&amp;A bots or rule-based systems</a:t>
            </a:r>
            <a:r>
              <a:rPr lang="en-US" dirty="0"/>
              <a:t>, with </a:t>
            </a:r>
            <a:r>
              <a:rPr lang="en-US" b="1" dirty="0"/>
              <a:t>very little flexibility</a:t>
            </a:r>
            <a:r>
              <a:rPr lang="en-US" dirty="0"/>
              <a:t>.</a:t>
            </a:r>
          </a:p>
          <a:p>
            <a:r>
              <a:rPr lang="en-US" dirty="0"/>
              <a:t>For example, if you asked a question outside their script—they’d just say “I don’t know” or give a generic response.</a:t>
            </a:r>
          </a:p>
          <a:p>
            <a:r>
              <a:rPr lang="en-US" dirty="0"/>
              <a:t>🤖 </a:t>
            </a:r>
            <a:r>
              <a:rPr lang="en-US" b="1" dirty="0"/>
              <a:t>Today’s agents</a:t>
            </a:r>
            <a:r>
              <a:rPr lang="en-US" dirty="0"/>
              <a:t> are much more powerful.</a:t>
            </a:r>
            <a:br>
              <a:rPr lang="en-US" dirty="0"/>
            </a:br>
            <a:r>
              <a:rPr lang="en-US" dirty="0"/>
              <a:t>Thanks to </a:t>
            </a:r>
            <a:r>
              <a:rPr lang="en-US" b="1" dirty="0"/>
              <a:t>Large Language Models</a:t>
            </a:r>
            <a:r>
              <a:rPr lang="en-US" dirty="0"/>
              <a:t>, agents can now:</a:t>
            </a:r>
          </a:p>
          <a:p>
            <a:r>
              <a:rPr lang="en-US" b="1" dirty="0"/>
              <a:t>Understand goals</a:t>
            </a:r>
            <a:r>
              <a:rPr lang="en-US" dirty="0"/>
              <a:t>,</a:t>
            </a:r>
          </a:p>
          <a:p>
            <a:r>
              <a:rPr lang="en-US" b="1" dirty="0"/>
              <a:t>Make decisions</a:t>
            </a:r>
            <a:r>
              <a:rPr lang="en-US" dirty="0"/>
              <a:t>,</a:t>
            </a:r>
          </a:p>
          <a:p>
            <a:r>
              <a:rPr lang="en-US" b="1" dirty="0"/>
              <a:t>Use APIs and tools</a:t>
            </a:r>
            <a:r>
              <a:rPr lang="en-US" dirty="0"/>
              <a:t>,</a:t>
            </a:r>
          </a:p>
          <a:p>
            <a:r>
              <a:rPr lang="en-US" dirty="0"/>
              <a:t>And even </a:t>
            </a:r>
            <a:r>
              <a:rPr lang="en-US" b="1" dirty="0"/>
              <a:t>learn and adapt</a:t>
            </a:r>
            <a:r>
              <a:rPr lang="en-US" dirty="0"/>
              <a:t> over time.</a:t>
            </a:r>
          </a:p>
          <a:p>
            <a:r>
              <a:rPr lang="en-US" dirty="0"/>
              <a:t>Modern agents don’t just react—they </a:t>
            </a:r>
            <a:r>
              <a:rPr lang="en-US" b="1" dirty="0"/>
              <a:t>reason, plan, and act</a:t>
            </a:r>
            <a:r>
              <a:rPr lang="en-US" dirty="0"/>
              <a:t> based on complex inputs.</a:t>
            </a:r>
            <a:br>
              <a:rPr lang="en-US" dirty="0"/>
            </a:br>
            <a:r>
              <a:rPr lang="en-US" dirty="0"/>
              <a:t>They work with other systems, pull in data from the web, and continuously improve their performance.</a:t>
            </a:r>
          </a:p>
          <a:p>
            <a:r>
              <a:rPr lang="en-US" dirty="0"/>
              <a:t>📌 So, to sum it up:</a:t>
            </a:r>
          </a:p>
          <a:p>
            <a:r>
              <a:rPr lang="en-US" dirty="0"/>
              <a:t>Traditional agents were </a:t>
            </a:r>
            <a:r>
              <a:rPr lang="en-US" b="1" dirty="0"/>
              <a:t>reactive and rigid</a:t>
            </a:r>
            <a:r>
              <a:rPr lang="en-US" dirty="0"/>
              <a:t>,</a:t>
            </a:r>
          </a:p>
          <a:p>
            <a:r>
              <a:rPr lang="en-US" dirty="0"/>
              <a:t>Modern agents are </a:t>
            </a:r>
            <a:r>
              <a:rPr lang="en-US" b="1" dirty="0"/>
              <a:t>goal-driven, tool-using, and adaptable</a:t>
            </a:r>
            <a:r>
              <a:rPr lang="en-US" dirty="0"/>
              <a:t>.</a:t>
            </a:r>
          </a:p>
          <a:p>
            <a:r>
              <a:rPr lang="en-US" dirty="0"/>
              <a:t>This shift is what makes AI agents so useful today—especially in business, automation, and decision-making tasks.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help us better understand what a modern AI agent is like, let’s compare it to something familiar—a </a:t>
            </a:r>
            <a:r>
              <a:rPr lang="en-US" b="1" dirty="0"/>
              <a:t>virtual intern</a:t>
            </a:r>
            <a:r>
              <a:rPr lang="en-US" dirty="0"/>
              <a:t>.</a:t>
            </a:r>
          </a:p>
          <a:p>
            <a:r>
              <a:rPr lang="en-US" dirty="0"/>
              <a:t>Think of this intern not just as a chatbot, but as someone who can:</a:t>
            </a:r>
          </a:p>
          <a:p>
            <a:r>
              <a:rPr lang="en-US" dirty="0"/>
              <a:t>Understand what you ask,</a:t>
            </a:r>
          </a:p>
          <a:p>
            <a:r>
              <a:rPr lang="en-US" dirty="0"/>
              <a:t>Use online tools or apps,</a:t>
            </a:r>
          </a:p>
          <a:p>
            <a:r>
              <a:rPr lang="en-US" dirty="0"/>
              <a:t>Make smart decisions,</a:t>
            </a:r>
          </a:p>
          <a:p>
            <a:r>
              <a:rPr lang="en-US" dirty="0"/>
              <a:t>And even work with others to get things done.</a:t>
            </a:r>
          </a:p>
          <a:p>
            <a:r>
              <a:rPr lang="en-US" dirty="0"/>
              <a:t>Let’s break this down into 4 key roles:</a:t>
            </a:r>
          </a:p>
          <a:p>
            <a:r>
              <a:rPr lang="en-US" dirty="0"/>
              <a:t>💬 </a:t>
            </a:r>
            <a:r>
              <a:rPr lang="en-US" b="1" dirty="0"/>
              <a:t>Understands Language</a:t>
            </a:r>
            <a:br>
              <a:rPr lang="en-US" dirty="0"/>
            </a:br>
            <a:r>
              <a:rPr lang="en-US" dirty="0"/>
              <a:t>This intern—or agent—can understand </a:t>
            </a:r>
            <a:r>
              <a:rPr lang="en-US" b="1" dirty="0"/>
              <a:t>complex natural language instructions</a:t>
            </a:r>
            <a:r>
              <a:rPr lang="en-US" dirty="0"/>
              <a:t>.</a:t>
            </a:r>
            <a:br>
              <a:rPr lang="en-US" dirty="0"/>
            </a:br>
            <a:r>
              <a:rPr lang="en-US" dirty="0"/>
              <a:t>So instead of clicking buttons or filling out forms, you just say what you need, and it figures it out.</a:t>
            </a:r>
          </a:p>
          <a:p>
            <a:r>
              <a:rPr lang="en-US" dirty="0"/>
              <a:t>⚙️ </a:t>
            </a:r>
            <a:r>
              <a:rPr lang="en-US" b="1" dirty="0"/>
              <a:t>Uses Tools</a:t>
            </a:r>
            <a:br>
              <a:rPr lang="en-US" dirty="0"/>
            </a:br>
            <a:r>
              <a:rPr lang="en-US" dirty="0"/>
              <a:t>Just like a real intern might open Google, use Excel, or check a database,</a:t>
            </a:r>
            <a:br>
              <a:rPr lang="en-US" dirty="0"/>
            </a:br>
            <a:r>
              <a:rPr lang="en-US" dirty="0"/>
              <a:t>an AI agent can connect to </a:t>
            </a:r>
            <a:r>
              <a:rPr lang="en-US" b="1" dirty="0"/>
              <a:t>external tools and apps</a:t>
            </a:r>
            <a:r>
              <a:rPr lang="en-US" dirty="0"/>
              <a:t> to find or process information.</a:t>
            </a:r>
          </a:p>
          <a:p>
            <a:r>
              <a:rPr lang="en-US" dirty="0"/>
              <a:t>💡 </a:t>
            </a:r>
            <a:r>
              <a:rPr lang="en-US" b="1" dirty="0"/>
              <a:t>Makes Decisions</a:t>
            </a:r>
            <a:br>
              <a:rPr lang="en-US" dirty="0"/>
            </a:br>
            <a:r>
              <a:rPr lang="en-US" dirty="0"/>
              <a:t>It’s not just following rules.</a:t>
            </a:r>
            <a:br>
              <a:rPr lang="en-US" dirty="0"/>
            </a:br>
            <a:r>
              <a:rPr lang="en-US" dirty="0"/>
              <a:t>This agent uses </a:t>
            </a:r>
            <a:r>
              <a:rPr lang="en-US" b="1" dirty="0"/>
              <a:t>context, knowledge, and feedback</a:t>
            </a:r>
            <a:r>
              <a:rPr lang="en-US" dirty="0"/>
              <a:t> to make smart decisions—like choosing the best approach to a task or adjusting its strategy on the fly.</a:t>
            </a:r>
          </a:p>
          <a:p>
            <a:r>
              <a:rPr lang="en-US" dirty="0"/>
              <a:t>🤝 </a:t>
            </a:r>
            <a:r>
              <a:rPr lang="en-US" b="1" dirty="0"/>
              <a:t>Coordinates &amp; Learns</a:t>
            </a:r>
            <a:br>
              <a:rPr lang="en-US" dirty="0"/>
            </a:br>
            <a:r>
              <a:rPr lang="en-US" dirty="0"/>
              <a:t>And like a good team player, it can </a:t>
            </a:r>
            <a:r>
              <a:rPr lang="en-US" b="1" dirty="0"/>
              <a:t>work with other agents or humans</a:t>
            </a:r>
            <a:r>
              <a:rPr lang="en-US" dirty="0"/>
              <a:t>, and </a:t>
            </a:r>
            <a:r>
              <a:rPr lang="en-US" b="1" dirty="0"/>
              <a:t>learn from past mistakes</a:t>
            </a:r>
            <a:r>
              <a:rPr lang="en-US" dirty="0"/>
              <a:t> to do better next time.</a:t>
            </a:r>
          </a:p>
          <a:p>
            <a:r>
              <a:rPr lang="en-US" dirty="0"/>
              <a:t>So overall, this analogy shows us that AI agents today are becoming </a:t>
            </a:r>
            <a:r>
              <a:rPr lang="en-US" b="1" dirty="0"/>
              <a:t>much more than bots—they’re intelligent, tool-using, decision-making collaborators.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 powerful, intelligent agent from scratch isn’t easy.</a:t>
            </a:r>
            <a:br>
              <a:rPr lang="en-US" dirty="0"/>
            </a:br>
            <a:r>
              <a:rPr lang="en-US" dirty="0"/>
              <a:t>You’d have to manage memory, plan tasks, handle tools, and make everything work together. That’s a huge challenge.</a:t>
            </a:r>
          </a:p>
          <a:p>
            <a:r>
              <a:rPr lang="en-US" dirty="0"/>
              <a:t>Agent frameworks help by </a:t>
            </a:r>
            <a:r>
              <a:rPr lang="en-US" b="1" dirty="0"/>
              <a:t>giving you ready-made building blocks</a:t>
            </a:r>
            <a:r>
              <a:rPr lang="en-US" dirty="0"/>
              <a:t> to speed things up and keep everything organized.</a:t>
            </a:r>
          </a:p>
          <a:p>
            <a:r>
              <a:rPr lang="en-US" dirty="0"/>
              <a:t>Here are the four biggest benefits:</a:t>
            </a:r>
          </a:p>
          <a:p>
            <a:r>
              <a:rPr lang="en-US" dirty="0"/>
              <a:t>🚀 </a:t>
            </a:r>
            <a:r>
              <a:rPr lang="en-US" b="1" dirty="0"/>
              <a:t>1. Accelerated Development</a:t>
            </a:r>
            <a:br>
              <a:rPr lang="en-US" dirty="0"/>
            </a:br>
            <a:r>
              <a:rPr lang="en-US" dirty="0"/>
              <a:t>Frameworks come with pre-built modules—so you don’t have to start from zero.</a:t>
            </a:r>
            <a:br>
              <a:rPr lang="en-US" dirty="0"/>
            </a:br>
            <a:r>
              <a:rPr lang="en-US" dirty="0"/>
              <a:t>This makes it easy to build and test agents quickly, which is great for rapid development or prototyping.</a:t>
            </a:r>
          </a:p>
          <a:p>
            <a:r>
              <a:rPr lang="en-US" dirty="0"/>
              <a:t>🧠 </a:t>
            </a:r>
            <a:r>
              <a:rPr lang="en-US" b="1" dirty="0"/>
              <a:t>2. Complex State Management</a:t>
            </a:r>
            <a:br>
              <a:rPr lang="en-US" dirty="0"/>
            </a:br>
            <a:r>
              <a:rPr lang="en-US" dirty="0"/>
              <a:t>Agents need to remember things across multiple steps and conversations.</a:t>
            </a:r>
            <a:br>
              <a:rPr lang="en-US" dirty="0"/>
            </a:br>
            <a:r>
              <a:rPr lang="en-US" dirty="0"/>
              <a:t>Frameworks make it easier to </a:t>
            </a:r>
            <a:r>
              <a:rPr lang="en-US" b="1" dirty="0"/>
              <a:t>manage memory and context</a:t>
            </a:r>
            <a:r>
              <a:rPr lang="en-US" dirty="0"/>
              <a:t>, especially for long-term tasks or ongoing chats.</a:t>
            </a:r>
          </a:p>
          <a:p>
            <a:r>
              <a:rPr lang="en-US" dirty="0"/>
              <a:t>🤝 </a:t>
            </a:r>
            <a:r>
              <a:rPr lang="en-US" b="1" dirty="0"/>
              <a:t>3. Multi-Agent Coordination</a:t>
            </a:r>
            <a:br>
              <a:rPr lang="en-US" dirty="0"/>
            </a:br>
            <a:r>
              <a:rPr lang="en-US" dirty="0"/>
              <a:t>Some projects need </a:t>
            </a:r>
            <a:r>
              <a:rPr lang="en-US" b="1" dirty="0"/>
              <a:t>multiple agents working together</a:t>
            </a:r>
            <a:r>
              <a:rPr lang="en-US" dirty="0"/>
              <a:t>—each doing a different job.</a:t>
            </a:r>
            <a:br>
              <a:rPr lang="en-US" dirty="0"/>
            </a:br>
            <a:r>
              <a:rPr lang="en-US" dirty="0"/>
              <a:t>Frameworks help coordinate this teamwork, like dividing tasks and combining results. This is perfect for solving complex problems.</a:t>
            </a:r>
          </a:p>
          <a:p>
            <a:r>
              <a:rPr lang="en-US" dirty="0"/>
              <a:t>🔌 </a:t>
            </a:r>
            <a:r>
              <a:rPr lang="en-US" b="1" dirty="0"/>
              <a:t>4. LLM &amp; Tool Interfacing</a:t>
            </a:r>
            <a:br>
              <a:rPr lang="en-US" dirty="0"/>
            </a:br>
            <a:r>
              <a:rPr lang="en-US" dirty="0"/>
              <a:t>Modern agents often need to use </a:t>
            </a:r>
            <a:r>
              <a:rPr lang="en-US" b="1" dirty="0"/>
              <a:t>APIs, databases, or online tools</a:t>
            </a:r>
            <a:r>
              <a:rPr lang="en-US" dirty="0"/>
              <a:t>.</a:t>
            </a:r>
            <a:br>
              <a:rPr lang="en-US" dirty="0"/>
            </a:br>
            <a:r>
              <a:rPr lang="en-US" dirty="0"/>
              <a:t>Frameworks make it much easier to connect these tools with language models like GPT.</a:t>
            </a:r>
          </a:p>
          <a:p>
            <a:r>
              <a:rPr lang="en-US" dirty="0"/>
              <a:t>So in short, frameworks save time, reduce complexity, and allow us to build more powerful and flexible AI systems without starting from scratch.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t>
            </a:r>
            <a:r>
              <a:rPr lang="en-US" b="1" dirty="0"/>
              <a:t>core abilities that make AI agents intelligent and useful</a:t>
            </a:r>
            <a:r>
              <a:rPr lang="en-US" dirty="0"/>
              <a:t>.</a:t>
            </a:r>
          </a:p>
          <a:p>
            <a:r>
              <a:rPr lang="en-US" dirty="0"/>
              <a:t>For an agent to behave like it “knows what it’s doing,” it needs these four key skills:</a:t>
            </a:r>
          </a:p>
          <a:p>
            <a:r>
              <a:rPr lang="en-US" dirty="0"/>
              <a:t>👁 </a:t>
            </a:r>
            <a:r>
              <a:rPr lang="en-US" b="1" dirty="0"/>
              <a:t>Perception</a:t>
            </a:r>
            <a:br>
              <a:rPr lang="en-US" dirty="0"/>
            </a:br>
            <a:r>
              <a:rPr lang="en-US" dirty="0"/>
              <a:t>This is how the agent </a:t>
            </a:r>
            <a:r>
              <a:rPr lang="en-US" b="1" dirty="0"/>
              <a:t>understands the world</a:t>
            </a:r>
            <a:r>
              <a:rPr lang="en-US" dirty="0"/>
              <a:t>—through user input, sensory data, or external information.</a:t>
            </a:r>
            <a:br>
              <a:rPr lang="en-US" dirty="0"/>
            </a:br>
            <a:r>
              <a:rPr lang="en-US" dirty="0"/>
              <a:t>It’s like the agent’s eyes and ears, helping it make sense of what's going on.</a:t>
            </a:r>
          </a:p>
          <a:p>
            <a:r>
              <a:rPr lang="en-US" dirty="0"/>
              <a:t>📋 </a:t>
            </a:r>
            <a:r>
              <a:rPr lang="en-US" b="1" dirty="0"/>
              <a:t>Planning</a:t>
            </a:r>
            <a:br>
              <a:rPr lang="en-US" dirty="0"/>
            </a:br>
            <a:r>
              <a:rPr lang="en-US" dirty="0"/>
              <a:t>Once it knows the situation, the agent needs a plan.</a:t>
            </a:r>
            <a:br>
              <a:rPr lang="en-US" dirty="0"/>
            </a:br>
            <a:r>
              <a:rPr lang="en-US" dirty="0"/>
              <a:t>It </a:t>
            </a:r>
            <a:r>
              <a:rPr lang="en-US" b="1" dirty="0"/>
              <a:t>breaks big tasks into smaller steps</a:t>
            </a:r>
            <a:r>
              <a:rPr lang="en-US" dirty="0"/>
              <a:t>, just like we would when solving a problem or completing a project.</a:t>
            </a:r>
          </a:p>
          <a:p>
            <a:r>
              <a:rPr lang="en-US" dirty="0"/>
              <a:t>🛠 </a:t>
            </a:r>
            <a:r>
              <a:rPr lang="en-US" b="1" dirty="0"/>
              <a:t>Action/Execution</a:t>
            </a:r>
            <a:br>
              <a:rPr lang="en-US" dirty="0"/>
            </a:br>
            <a:r>
              <a:rPr lang="en-US" dirty="0"/>
              <a:t>This is where the agent takes action.</a:t>
            </a:r>
            <a:br>
              <a:rPr lang="en-US" dirty="0"/>
            </a:br>
            <a:r>
              <a:rPr lang="en-US" dirty="0"/>
              <a:t>It might call an API, search for something online, or update a database.</a:t>
            </a:r>
            <a:br>
              <a:rPr lang="en-US" dirty="0"/>
            </a:br>
            <a:r>
              <a:rPr lang="en-US" dirty="0"/>
              <a:t>Basically, this is how it </a:t>
            </a:r>
            <a:r>
              <a:rPr lang="en-US" b="1" dirty="0"/>
              <a:t>gets things done</a:t>
            </a:r>
            <a:r>
              <a:rPr lang="en-US" dirty="0"/>
              <a:t>.</a:t>
            </a:r>
          </a:p>
          <a:p>
            <a:r>
              <a:rPr lang="en-US" dirty="0"/>
              <a:t>🧠 </a:t>
            </a:r>
            <a:r>
              <a:rPr lang="en-US" b="1" dirty="0"/>
              <a:t>Self-Improvement</a:t>
            </a:r>
            <a:br>
              <a:rPr lang="en-US" dirty="0"/>
            </a:br>
            <a:r>
              <a:rPr lang="en-US" dirty="0"/>
              <a:t>The best agents don’t just act—they </a:t>
            </a:r>
            <a:r>
              <a:rPr lang="en-US" b="1" dirty="0"/>
              <a:t>learn from their mistakes</a:t>
            </a:r>
            <a:r>
              <a:rPr lang="en-US" dirty="0"/>
              <a:t>.</a:t>
            </a:r>
            <a:br>
              <a:rPr lang="en-US" dirty="0"/>
            </a:br>
            <a:r>
              <a:rPr lang="en-US" dirty="0"/>
              <a:t>Over time, they get better by adjusting their responses based on feedback or new data.</a:t>
            </a:r>
          </a:p>
          <a:p>
            <a:r>
              <a:rPr lang="en-US" dirty="0"/>
              <a:t>Together, these four abilities form the foundation of how modern AI agents work—</a:t>
            </a:r>
            <a:r>
              <a:rPr lang="en-US" b="1" dirty="0"/>
              <a:t>seeing, thinking, acting, and learning</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different types of AI agents, each designed for a specific purpose and level of autonomy.</a:t>
            </a:r>
          </a:p>
          <a:p>
            <a:r>
              <a:rPr lang="en-US" dirty="0"/>
              <a:t>Understanding these types helps us choose the right kind of agent for the right task.</a:t>
            </a:r>
          </a:p>
          <a:p>
            <a:r>
              <a:rPr lang="en-US" dirty="0"/>
              <a:t>Let’s quickly go over each of the five main types:</a:t>
            </a:r>
          </a:p>
          <a:p>
            <a:r>
              <a:rPr lang="en-US" dirty="0"/>
              <a:t>🔹 </a:t>
            </a:r>
            <a:r>
              <a:rPr lang="en-US" b="1" dirty="0"/>
              <a:t>1. Reactive Agents</a:t>
            </a:r>
            <a:br>
              <a:rPr lang="en-US" dirty="0"/>
            </a:br>
            <a:r>
              <a:rPr lang="en-US" dirty="0"/>
              <a:t>These are the simplest type. They respond immediately to input—</a:t>
            </a:r>
            <a:r>
              <a:rPr lang="en-US" b="1" dirty="0"/>
              <a:t>no planning, just reaction</a:t>
            </a:r>
            <a:r>
              <a:rPr lang="en-US" dirty="0"/>
              <a:t>.</a:t>
            </a:r>
            <a:br>
              <a:rPr lang="en-US" dirty="0"/>
            </a:br>
            <a:r>
              <a:rPr lang="en-US" dirty="0"/>
              <a:t>Think of </a:t>
            </a:r>
            <a:r>
              <a:rPr lang="en-US" b="1" dirty="0"/>
              <a:t>Siri or </a:t>
            </a:r>
            <a:r>
              <a:rPr lang="en-US" b="1" dirty="0" err="1"/>
              <a:t>ChatGPT</a:t>
            </a:r>
            <a:r>
              <a:rPr lang="en-US" dirty="0"/>
              <a:t>: you ask a question, and they give an answer right away.</a:t>
            </a:r>
          </a:p>
          <a:p>
            <a:r>
              <a:rPr lang="en-US" dirty="0"/>
              <a:t>🔹 </a:t>
            </a:r>
            <a:r>
              <a:rPr lang="en-US" b="1" dirty="0"/>
              <a:t>2. Deliberative Agents</a:t>
            </a:r>
            <a:br>
              <a:rPr lang="en-US" dirty="0"/>
            </a:br>
            <a:r>
              <a:rPr lang="en-US" dirty="0"/>
              <a:t>These agents think before they act.</a:t>
            </a:r>
            <a:br>
              <a:rPr lang="en-US" dirty="0"/>
            </a:br>
            <a:r>
              <a:rPr lang="en-US" dirty="0"/>
              <a:t>They </a:t>
            </a:r>
            <a:r>
              <a:rPr lang="en-US" b="1" dirty="0"/>
              <a:t>analyze the situation, consider different outcomes</a:t>
            </a:r>
            <a:r>
              <a:rPr lang="en-US" dirty="0"/>
              <a:t>, and then choose a response.</a:t>
            </a:r>
            <a:br>
              <a:rPr lang="en-US" dirty="0"/>
            </a:br>
            <a:r>
              <a:rPr lang="en-US" dirty="0"/>
              <a:t>An example would be a </a:t>
            </a:r>
            <a:r>
              <a:rPr lang="en-US" b="1" dirty="0" err="1"/>
              <a:t>LangChain</a:t>
            </a:r>
            <a:r>
              <a:rPr lang="en-US" b="1" dirty="0"/>
              <a:t> agent</a:t>
            </a:r>
            <a:r>
              <a:rPr lang="en-US" dirty="0"/>
              <a:t> that uses tools and plans steps to reach a goal.</a:t>
            </a:r>
          </a:p>
          <a:p>
            <a:r>
              <a:rPr lang="en-US" dirty="0"/>
              <a:t>🔹 </a:t>
            </a:r>
            <a:r>
              <a:rPr lang="en-US" b="1" dirty="0"/>
              <a:t>3. Goal-Based Agents</a:t>
            </a:r>
            <a:br>
              <a:rPr lang="en-US" dirty="0"/>
            </a:br>
            <a:r>
              <a:rPr lang="en-US" dirty="0"/>
              <a:t>These agents focus on </a:t>
            </a:r>
            <a:r>
              <a:rPr lang="en-US" b="1" dirty="0"/>
              <a:t>achieving long-term goals</a:t>
            </a:r>
            <a:r>
              <a:rPr lang="en-US" dirty="0"/>
              <a:t>.</a:t>
            </a:r>
            <a:br>
              <a:rPr lang="en-US" dirty="0"/>
            </a:br>
            <a:r>
              <a:rPr lang="en-US" dirty="0"/>
              <a:t>They break down big tasks into smaller ones and work through them step-by-step.</a:t>
            </a:r>
            <a:br>
              <a:rPr lang="en-US" dirty="0"/>
            </a:br>
            <a:r>
              <a:rPr lang="en-US" dirty="0"/>
              <a:t>A good example is </a:t>
            </a:r>
            <a:r>
              <a:rPr lang="en-US" b="1" dirty="0" err="1"/>
              <a:t>AutoGen</a:t>
            </a:r>
            <a:r>
              <a:rPr lang="en-US" b="1" dirty="0"/>
              <a:t> agents</a:t>
            </a:r>
            <a:r>
              <a:rPr lang="en-US" dirty="0"/>
              <a:t>, which are designed to complete complex sequences of tasks.</a:t>
            </a:r>
          </a:p>
          <a:p>
            <a:r>
              <a:rPr lang="en-US" dirty="0"/>
              <a:t>🔹 </a:t>
            </a:r>
            <a:r>
              <a:rPr lang="en-US" b="1" dirty="0"/>
              <a:t>4. Multi-Agent Systems</a:t>
            </a:r>
            <a:br>
              <a:rPr lang="en-US" dirty="0"/>
            </a:br>
            <a:r>
              <a:rPr lang="en-US" dirty="0"/>
              <a:t>Here, </a:t>
            </a:r>
            <a:r>
              <a:rPr lang="en-US" b="1" dirty="0"/>
              <a:t>multiple agents work together</a:t>
            </a:r>
            <a:r>
              <a:rPr lang="en-US" dirty="0"/>
              <a:t>—each with a different role or skill.</a:t>
            </a:r>
            <a:br>
              <a:rPr lang="en-US" dirty="0"/>
            </a:br>
            <a:r>
              <a:rPr lang="en-US" dirty="0"/>
              <a:t>They collaborate, communicate, and solve problems as a team.</a:t>
            </a:r>
            <a:br>
              <a:rPr lang="en-US" dirty="0"/>
            </a:br>
            <a:r>
              <a:rPr lang="en-US" b="1" dirty="0" err="1"/>
              <a:t>CrewAI</a:t>
            </a:r>
            <a:r>
              <a:rPr lang="en-US" dirty="0"/>
              <a:t> is a great example of this.</a:t>
            </a:r>
          </a:p>
          <a:p>
            <a:r>
              <a:rPr lang="en-US" dirty="0"/>
              <a:t>🔹 </a:t>
            </a:r>
            <a:r>
              <a:rPr lang="en-US" b="1" dirty="0"/>
              <a:t>5. Self-Improving Agents</a:t>
            </a:r>
            <a:br>
              <a:rPr lang="en-US" dirty="0"/>
            </a:br>
            <a:r>
              <a:rPr lang="en-US" dirty="0"/>
              <a:t>These agents learn from experience.</a:t>
            </a:r>
            <a:br>
              <a:rPr lang="en-US" dirty="0"/>
            </a:br>
            <a:r>
              <a:rPr lang="en-US" dirty="0"/>
              <a:t>They </a:t>
            </a:r>
            <a:r>
              <a:rPr lang="en-US" b="1" dirty="0"/>
              <a:t>use feedback to get better over time</a:t>
            </a:r>
            <a:r>
              <a:rPr lang="en-US" dirty="0"/>
              <a:t>, just like how a human might improve after practice.</a:t>
            </a:r>
            <a:br>
              <a:rPr lang="en-US" dirty="0"/>
            </a:br>
            <a:r>
              <a:rPr lang="en-US" dirty="0"/>
              <a:t>An example is </a:t>
            </a:r>
            <a:r>
              <a:rPr lang="en-US" b="1" dirty="0" err="1"/>
              <a:t>DSPy</a:t>
            </a:r>
            <a:r>
              <a:rPr lang="en-US" dirty="0"/>
              <a:t>, which allows agents to improve their performance without retraining.</a:t>
            </a:r>
          </a:p>
          <a:p>
            <a:r>
              <a:rPr lang="en-US" dirty="0"/>
              <a:t>So to summarize:</a:t>
            </a:r>
          </a:p>
          <a:p>
            <a:r>
              <a:rPr lang="en-US" dirty="0"/>
              <a:t>Some agents react quickly,</a:t>
            </a:r>
          </a:p>
          <a:p>
            <a:r>
              <a:rPr lang="en-US" dirty="0"/>
              <a:t>Some plan ahead,</a:t>
            </a:r>
          </a:p>
          <a:p>
            <a:r>
              <a:rPr lang="en-US" dirty="0"/>
              <a:t>Some pursue long-term goals,</a:t>
            </a:r>
          </a:p>
          <a:p>
            <a:r>
              <a:rPr lang="en-US" dirty="0"/>
              <a:t>Some collaborate,</a:t>
            </a:r>
          </a:p>
          <a:p>
            <a:r>
              <a:rPr lang="en-US" dirty="0"/>
              <a:t>And some learn and evolve.</a:t>
            </a:r>
          </a:p>
          <a:p>
            <a:r>
              <a:rPr lang="en-US" dirty="0"/>
              <a:t>Knowing the difference helps us build smarter systems based on the problem we're trying to solve.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walk you through the </a:t>
            </a:r>
            <a:r>
              <a:rPr lang="en-US" b="1" dirty="0"/>
              <a:t>Agent Pipeline</a:t>
            </a:r>
            <a:r>
              <a:rPr lang="en-US" dirty="0"/>
              <a:t>—this is the process an AI agent follows to turn a user’s input into a final, meaningful response.</a:t>
            </a:r>
          </a:p>
          <a:p>
            <a:r>
              <a:rPr lang="en-US" dirty="0"/>
              <a:t>It’s a step-by-step journey, and understanding it helps us see how agents work under the hood.</a:t>
            </a:r>
          </a:p>
          <a:p>
            <a:r>
              <a:rPr lang="en-US" dirty="0"/>
              <a:t>🔹 </a:t>
            </a:r>
            <a:r>
              <a:rPr lang="en-US" b="1" dirty="0"/>
              <a:t>Step 1: Receive User Query</a:t>
            </a:r>
            <a:br>
              <a:rPr lang="en-US" dirty="0"/>
            </a:br>
            <a:r>
              <a:rPr lang="en-US" dirty="0"/>
              <a:t>The agent starts by receiving an input. This could be a simple command or a question in natural language.</a:t>
            </a:r>
          </a:p>
          <a:p>
            <a:r>
              <a:rPr lang="en-US" dirty="0"/>
              <a:t>🔹 </a:t>
            </a:r>
            <a:r>
              <a:rPr lang="en-US" b="1" dirty="0"/>
              <a:t>Step 2: Understand Intent</a:t>
            </a:r>
            <a:br>
              <a:rPr lang="en-US" dirty="0"/>
            </a:br>
            <a:r>
              <a:rPr lang="en-US" dirty="0"/>
              <a:t>Next, the agent uses a language model to </a:t>
            </a:r>
            <a:r>
              <a:rPr lang="en-US" b="1" dirty="0"/>
              <a:t>understand what the user really wants</a:t>
            </a:r>
            <a:r>
              <a:rPr lang="en-US" dirty="0"/>
              <a:t>.</a:t>
            </a:r>
            <a:br>
              <a:rPr lang="en-US" dirty="0"/>
            </a:br>
            <a:r>
              <a:rPr lang="en-US" dirty="0"/>
              <a:t>It looks at the context, tone, and goal behind the message.</a:t>
            </a:r>
          </a:p>
          <a:p>
            <a:r>
              <a:rPr lang="en-US" dirty="0"/>
              <a:t>🔹 </a:t>
            </a:r>
            <a:r>
              <a:rPr lang="en-US" b="1" dirty="0"/>
              <a:t>Step 3: Plan Actions</a:t>
            </a:r>
            <a:br>
              <a:rPr lang="en-US" dirty="0"/>
            </a:br>
            <a:r>
              <a:rPr lang="en-US" dirty="0"/>
              <a:t>Now, the agent creates a plan.</a:t>
            </a:r>
            <a:br>
              <a:rPr lang="en-US" dirty="0"/>
            </a:br>
            <a:r>
              <a:rPr lang="en-US" dirty="0"/>
              <a:t>This could include looking up information, calling an API, or doing calculations—whatever is needed to complete the task.</a:t>
            </a:r>
          </a:p>
          <a:p>
            <a:r>
              <a:rPr lang="en-US" dirty="0"/>
              <a:t>🔹 </a:t>
            </a:r>
            <a:r>
              <a:rPr lang="en-US" b="1" dirty="0"/>
              <a:t>Step 4: Execute Step-by-Step</a:t>
            </a:r>
            <a:br>
              <a:rPr lang="en-US" dirty="0"/>
            </a:br>
            <a:r>
              <a:rPr lang="en-US" dirty="0"/>
              <a:t>The agent then </a:t>
            </a:r>
            <a:r>
              <a:rPr lang="en-US" b="1" dirty="0"/>
              <a:t>carries out the steps</a:t>
            </a:r>
            <a:r>
              <a:rPr lang="en-US" dirty="0"/>
              <a:t>, one by one.</a:t>
            </a:r>
            <a:br>
              <a:rPr lang="en-US" dirty="0"/>
            </a:br>
            <a:r>
              <a:rPr lang="en-US" dirty="0"/>
              <a:t>It may interact with external tools, search the web, or access a database.</a:t>
            </a:r>
          </a:p>
          <a:p>
            <a:r>
              <a:rPr lang="en-US" dirty="0"/>
              <a:t>🔹 </a:t>
            </a:r>
            <a:r>
              <a:rPr lang="en-US" b="1" dirty="0"/>
              <a:t>Step 5: Reflect &amp; Decide Next Step</a:t>
            </a:r>
            <a:br>
              <a:rPr lang="en-US" dirty="0"/>
            </a:br>
            <a:r>
              <a:rPr lang="en-US" dirty="0"/>
              <a:t>After executing, the agent takes a moment to </a:t>
            </a:r>
            <a:r>
              <a:rPr lang="en-US" b="1" dirty="0"/>
              <a:t>evaluate what happened</a:t>
            </a:r>
            <a:r>
              <a:rPr lang="en-US" dirty="0"/>
              <a:t>.</a:t>
            </a:r>
            <a:br>
              <a:rPr lang="en-US" dirty="0"/>
            </a:br>
            <a:r>
              <a:rPr lang="en-US" dirty="0"/>
              <a:t>Did it get the right result? Does it need to adjust or try something else?</a:t>
            </a:r>
          </a:p>
          <a:p>
            <a:r>
              <a:rPr lang="en-US" dirty="0"/>
              <a:t>🔹 </a:t>
            </a:r>
            <a:r>
              <a:rPr lang="en-US" b="1" dirty="0"/>
              <a:t>Step 6: Generate Final Output</a:t>
            </a:r>
            <a:br>
              <a:rPr lang="en-US" dirty="0"/>
            </a:br>
            <a:r>
              <a:rPr lang="en-US" dirty="0"/>
              <a:t>Finally, it prepares a </a:t>
            </a:r>
            <a:r>
              <a:rPr lang="en-US" b="1" dirty="0"/>
              <a:t>clear and relevant response</a:t>
            </a:r>
            <a:r>
              <a:rPr lang="en-US" dirty="0"/>
              <a:t>—this is what the user sees.</a:t>
            </a:r>
            <a:br>
              <a:rPr lang="en-US" dirty="0"/>
            </a:br>
            <a:r>
              <a:rPr lang="en-US" dirty="0"/>
              <a:t>It could be an answer, a file, a summary, or an action taken.</a:t>
            </a:r>
          </a:p>
          <a:p>
            <a:r>
              <a:rPr lang="en-US" dirty="0"/>
              <a:t>So, this pipeline helps agents stay flexible, smart, and responsive—especially when tasks are complex or involve multiple steps.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this section up by looking at the big picture—where AI agents are headed and why frameworks are so important moving forward.</a:t>
            </a:r>
          </a:p>
          <a:p>
            <a:r>
              <a:rPr lang="en-US" dirty="0"/>
              <a:t>At the top of the slide, we see that </a:t>
            </a:r>
            <a:r>
              <a:rPr lang="en-US" b="1" dirty="0"/>
              <a:t>AI agents are changing the way we interact with technology</a:t>
            </a:r>
            <a:r>
              <a:rPr lang="en-US" dirty="0"/>
              <a:t>.</a:t>
            </a:r>
            <a:br>
              <a:rPr lang="en-US" dirty="0"/>
            </a:br>
            <a:r>
              <a:rPr lang="en-US" dirty="0"/>
              <a:t>We’re no longer just giving instructions—we’re building systems that understand, reason, act, and improve on their own.</a:t>
            </a:r>
          </a:p>
          <a:p>
            <a:r>
              <a:rPr lang="en-US" dirty="0"/>
              <a:t>This triangle diagram breaks down the future into three key ideas:</a:t>
            </a:r>
          </a:p>
          <a:p>
            <a:r>
              <a:rPr lang="en-US" dirty="0"/>
              <a:t>🔺 </a:t>
            </a:r>
            <a:r>
              <a:rPr lang="en-US" b="1" dirty="0"/>
              <a:t>Autonomous AI</a:t>
            </a:r>
            <a:br>
              <a:rPr lang="en-US" dirty="0"/>
            </a:br>
            <a:r>
              <a:rPr lang="en-US" dirty="0"/>
              <a:t>At the top, we have </a:t>
            </a:r>
            <a:r>
              <a:rPr lang="en-US" b="1" dirty="0"/>
              <a:t>Autonomous AI</a:t>
            </a:r>
            <a:r>
              <a:rPr lang="en-US" dirty="0"/>
              <a:t>.</a:t>
            </a:r>
            <a:br>
              <a:rPr lang="en-US" dirty="0"/>
            </a:br>
            <a:r>
              <a:rPr lang="en-US" dirty="0"/>
              <a:t>This means agents are becoming truly independent—they can set goals, make decisions, and complete tasks without constant human input.</a:t>
            </a:r>
            <a:br>
              <a:rPr lang="en-US" dirty="0"/>
            </a:br>
            <a:r>
              <a:rPr lang="en-US" dirty="0"/>
              <a:t>This is the ultimate goal: smart systems that can work on our behalf.</a:t>
            </a:r>
          </a:p>
          <a:p>
            <a:r>
              <a:rPr lang="en-US" dirty="0"/>
              <a:t>🟪 </a:t>
            </a:r>
            <a:r>
              <a:rPr lang="en-US" b="1" dirty="0"/>
              <a:t>Frameworks Are Key</a:t>
            </a:r>
            <a:br>
              <a:rPr lang="en-US" dirty="0"/>
            </a:br>
            <a:r>
              <a:rPr lang="en-US" dirty="0"/>
              <a:t>Right in the center is the foundation that makes all of this possible—</a:t>
            </a:r>
            <a:r>
              <a:rPr lang="en-US" b="1" dirty="0"/>
              <a:t>frameworks</a:t>
            </a:r>
            <a:r>
              <a:rPr lang="en-US" dirty="0"/>
              <a:t>.</a:t>
            </a:r>
            <a:br>
              <a:rPr lang="en-US" dirty="0"/>
            </a:br>
            <a:r>
              <a:rPr lang="en-US" dirty="0"/>
              <a:t>They help us build agents quickly, manage their memory and tools, and integrate everything smoothly.</a:t>
            </a:r>
            <a:br>
              <a:rPr lang="en-US" dirty="0"/>
            </a:br>
            <a:r>
              <a:rPr lang="en-US" dirty="0"/>
              <a:t>Without frameworks, creating these systems would be slow and complex.</a:t>
            </a:r>
          </a:p>
          <a:p>
            <a:r>
              <a:rPr lang="en-US" dirty="0"/>
              <a:t>🟦 </a:t>
            </a:r>
            <a:r>
              <a:rPr lang="en-US" b="1" dirty="0"/>
              <a:t>Collaboration &amp; Learning</a:t>
            </a:r>
            <a:br>
              <a:rPr lang="en-US" dirty="0"/>
            </a:br>
            <a:r>
              <a:rPr lang="en-US" dirty="0"/>
              <a:t>At the base is </a:t>
            </a:r>
            <a:r>
              <a:rPr lang="en-US" b="1" dirty="0"/>
              <a:t>collaboration and learning</a:t>
            </a:r>
            <a:r>
              <a:rPr lang="en-US" dirty="0"/>
              <a:t>.</a:t>
            </a:r>
            <a:br>
              <a:rPr lang="en-US" dirty="0"/>
            </a:br>
            <a:r>
              <a:rPr lang="en-US" dirty="0"/>
              <a:t>This is where things get exciting—agents will not only work together but also learn from experience.</a:t>
            </a:r>
            <a:br>
              <a:rPr lang="en-US" dirty="0"/>
            </a:br>
            <a:r>
              <a:rPr lang="en-US" dirty="0"/>
              <a:t>Multi-agent systems that can </a:t>
            </a:r>
            <a:r>
              <a:rPr lang="en-US" b="1" dirty="0"/>
              <a:t>communicate, share tasks</a:t>
            </a:r>
            <a:r>
              <a:rPr lang="en-US" dirty="0"/>
              <a:t>, and </a:t>
            </a:r>
            <a:r>
              <a:rPr lang="en-US" b="1" dirty="0"/>
              <a:t>improve over time</a:t>
            </a:r>
            <a:r>
              <a:rPr lang="en-US" dirty="0"/>
              <a:t> will be the future of intelligent automation.</a:t>
            </a:r>
          </a:p>
          <a:p>
            <a:r>
              <a:rPr lang="en-US" dirty="0"/>
              <a:t>So to sum up:</a:t>
            </a:r>
          </a:p>
          <a:p>
            <a:r>
              <a:rPr lang="en-US" dirty="0"/>
              <a:t>AI agents are moving toward autonomy,</a:t>
            </a:r>
          </a:p>
          <a:p>
            <a:r>
              <a:rPr lang="en-US" dirty="0"/>
              <a:t>Frameworks make it all possible,</a:t>
            </a:r>
          </a:p>
          <a:p>
            <a:r>
              <a:rPr lang="en-US" dirty="0"/>
              <a:t>And learning + teamwork will define the next generation of AI.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what agents are and how they operate, let’s dive into six powerful frameworks enabling them.</a:t>
            </a:r>
          </a:p>
          <a:p>
            <a:r>
              <a:rPr lang="en-US" dirty="0"/>
              <a:t>We’ll be introducing 6 of them and then deep diving into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let’s look at </a:t>
            </a:r>
            <a:r>
              <a:rPr lang="en-US" b="1" dirty="0" err="1"/>
              <a:t>LangChain</a:t>
            </a:r>
            <a:r>
              <a:rPr lang="en-US" dirty="0"/>
              <a:t>, one of the most popular frameworks for building smart, language-based agents.</a:t>
            </a:r>
          </a:p>
          <a:p>
            <a:r>
              <a:rPr lang="en-US" dirty="0"/>
              <a:t>You can think of </a:t>
            </a:r>
            <a:r>
              <a:rPr lang="en-US" dirty="0" err="1"/>
              <a:t>LangChain</a:t>
            </a:r>
            <a:r>
              <a:rPr lang="en-US" dirty="0"/>
              <a:t> as a </a:t>
            </a:r>
            <a:r>
              <a:rPr lang="en-US" b="1" dirty="0"/>
              <a:t>toolbox</a:t>
            </a:r>
            <a:r>
              <a:rPr lang="en-US" dirty="0"/>
              <a:t> that helps you connect large language models like GPT with other tools, APIs, and memory—all in a structured and reusable way.</a:t>
            </a:r>
          </a:p>
          <a:p>
            <a:r>
              <a:rPr lang="en-US" dirty="0"/>
              <a:t>🧩 </a:t>
            </a:r>
            <a:r>
              <a:rPr lang="en-US" b="1" dirty="0"/>
              <a:t>Key Features</a:t>
            </a:r>
            <a:endParaRPr lang="en-US" dirty="0"/>
          </a:p>
          <a:p>
            <a:r>
              <a:rPr lang="en-US" b="1" dirty="0"/>
              <a:t>Chains</a:t>
            </a:r>
            <a:r>
              <a:rPr lang="en-US" dirty="0"/>
              <a:t>: These are step-by-step flows that combine logic with LLM calls—like a workflow that follows specific rules.</a:t>
            </a:r>
          </a:p>
          <a:p>
            <a:r>
              <a:rPr lang="en-US" b="1" dirty="0"/>
              <a:t>Agents</a:t>
            </a:r>
            <a:r>
              <a:rPr lang="en-US" dirty="0"/>
              <a:t>: These can </a:t>
            </a:r>
            <a:r>
              <a:rPr lang="en-US" b="1" dirty="0"/>
              <a:t>dynamically choose the right tools</a:t>
            </a:r>
            <a:r>
              <a:rPr lang="en-US" dirty="0"/>
              <a:t> based on what the user is asking.</a:t>
            </a:r>
          </a:p>
          <a:p>
            <a:r>
              <a:rPr lang="en-US" b="1" dirty="0"/>
              <a:t>Tools</a:t>
            </a:r>
            <a:r>
              <a:rPr lang="en-US" dirty="0"/>
              <a:t>: </a:t>
            </a:r>
            <a:r>
              <a:rPr lang="en-US" dirty="0" err="1"/>
              <a:t>LangChain</a:t>
            </a:r>
            <a:r>
              <a:rPr lang="en-US" dirty="0"/>
              <a:t> supports external tools like Google Search, Python functions, and even databases.</a:t>
            </a:r>
          </a:p>
          <a:p>
            <a:r>
              <a:rPr lang="en-US" b="1" dirty="0"/>
              <a:t>Memory</a:t>
            </a:r>
            <a:r>
              <a:rPr lang="en-US" dirty="0"/>
              <a:t>: It helps agents </a:t>
            </a:r>
            <a:r>
              <a:rPr lang="en-US" b="1" dirty="0"/>
              <a:t>remember context</a:t>
            </a:r>
            <a:r>
              <a:rPr lang="en-US" dirty="0"/>
              <a:t> from earlier in the conversation.</a:t>
            </a:r>
          </a:p>
          <a:p>
            <a:r>
              <a:rPr lang="en-US" b="1" dirty="0"/>
              <a:t>Retrievers/RAG</a:t>
            </a:r>
            <a:r>
              <a:rPr lang="en-US" dirty="0"/>
              <a:t>: This means you can </a:t>
            </a:r>
            <a:r>
              <a:rPr lang="en-US" b="1" dirty="0"/>
              <a:t>connect your agent to external knowledge sources</a:t>
            </a:r>
            <a:r>
              <a:rPr lang="en-US" dirty="0"/>
              <a:t>—like documents, websites, or databases—to answer questions more accurately.</a:t>
            </a:r>
          </a:p>
          <a:p>
            <a:r>
              <a:rPr lang="en-US" dirty="0"/>
              <a:t>💼 </a:t>
            </a:r>
            <a:r>
              <a:rPr lang="en-US" b="1" dirty="0"/>
              <a:t>Ideal For</a:t>
            </a:r>
            <a:br>
              <a:rPr lang="en-US" dirty="0"/>
            </a:br>
            <a:r>
              <a:rPr lang="en-US" dirty="0" err="1"/>
              <a:t>LangChain</a:t>
            </a:r>
            <a:r>
              <a:rPr lang="en-US" dirty="0"/>
              <a:t> works well for:</a:t>
            </a:r>
          </a:p>
          <a:p>
            <a:r>
              <a:rPr lang="en-US" b="1" dirty="0"/>
              <a:t>Conversational agents</a:t>
            </a:r>
            <a:r>
              <a:rPr lang="en-US" dirty="0"/>
              <a:t>, like smart chatbots.</a:t>
            </a:r>
          </a:p>
          <a:p>
            <a:r>
              <a:rPr lang="en-US" b="1" dirty="0"/>
              <a:t>RAG pipelines</a:t>
            </a:r>
            <a:r>
              <a:rPr lang="en-US" dirty="0"/>
              <a:t>, where retrieval is combined with generation.</a:t>
            </a:r>
          </a:p>
          <a:p>
            <a:r>
              <a:rPr lang="en-US" b="1" dirty="0"/>
              <a:t>API-enhanced assistants</a:t>
            </a:r>
            <a:r>
              <a:rPr lang="en-US" dirty="0"/>
              <a:t>, that use web tools or databases.</a:t>
            </a:r>
          </a:p>
          <a:p>
            <a:r>
              <a:rPr lang="en-US" dirty="0"/>
              <a:t>And </a:t>
            </a:r>
            <a:r>
              <a:rPr lang="en-US" b="1" dirty="0"/>
              <a:t>enterprise automation</a:t>
            </a:r>
            <a:r>
              <a:rPr lang="en-US" dirty="0"/>
              <a:t>, where complex workflows need reliable agents.</a:t>
            </a:r>
          </a:p>
          <a:p>
            <a:r>
              <a:rPr lang="en-US" dirty="0"/>
              <a:t>📘 </a:t>
            </a:r>
            <a:r>
              <a:rPr lang="en-US" b="1" dirty="0"/>
              <a:t>Example Use Case</a:t>
            </a:r>
            <a:br>
              <a:rPr lang="en-US" dirty="0"/>
            </a:br>
            <a:r>
              <a:rPr lang="en-US" dirty="0"/>
              <a:t>Imagine a “</a:t>
            </a:r>
            <a:r>
              <a:rPr lang="en-US" b="1" dirty="0"/>
              <a:t>Research Assistant</a:t>
            </a:r>
            <a:r>
              <a:rPr lang="en-US" dirty="0"/>
              <a:t>” agent.</a:t>
            </a:r>
            <a:br>
              <a:rPr lang="en-US" dirty="0"/>
            </a:br>
            <a:r>
              <a:rPr lang="en-US" dirty="0"/>
              <a:t>It can:</a:t>
            </a:r>
          </a:p>
          <a:p>
            <a:r>
              <a:rPr lang="en-US" dirty="0"/>
              <a:t>Read long PDFs,</a:t>
            </a:r>
          </a:p>
          <a:p>
            <a:r>
              <a:rPr lang="en-US" dirty="0"/>
              <a:t>Summarize them,</a:t>
            </a:r>
          </a:p>
          <a:p>
            <a:r>
              <a:rPr lang="en-US" dirty="0"/>
              <a:t>And then answer your questions—</a:t>
            </a:r>
            <a:r>
              <a:rPr lang="en-US" b="1" dirty="0"/>
              <a:t>with proper citations</a:t>
            </a:r>
            <a:r>
              <a:rPr lang="en-US" dirty="0"/>
              <a:t>.</a:t>
            </a:r>
          </a:p>
          <a:p>
            <a:r>
              <a:rPr lang="en-US" dirty="0"/>
              <a:t>This makes </a:t>
            </a:r>
            <a:r>
              <a:rPr lang="en-US" dirty="0" err="1"/>
              <a:t>LangChain</a:t>
            </a:r>
            <a:r>
              <a:rPr lang="en-US" dirty="0"/>
              <a:t> great for anything that needs reasoning, memory, and reliable access to external information.</a:t>
            </a:r>
          </a:p>
          <a:p>
            <a:r>
              <a:rPr lang="en-US" dirty="0"/>
              <a:t>So in summary, </a:t>
            </a:r>
            <a:r>
              <a:rPr lang="en-US" dirty="0" err="1"/>
              <a:t>LangChain</a:t>
            </a:r>
            <a:r>
              <a:rPr lang="en-US" dirty="0"/>
              <a:t> helps developers build flexible and powerful agents using a modular and well-supported structure.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a:t>
            </a:r>
            <a:r>
              <a:rPr lang="en-US" b="1" dirty="0" err="1"/>
              <a:t>DSPy</a:t>
            </a:r>
            <a:r>
              <a:rPr lang="en-US" dirty="0"/>
              <a:t>, which stands for </a:t>
            </a:r>
            <a:r>
              <a:rPr lang="en-US" i="1" dirty="0"/>
              <a:t>Declarative Self-Improving Python</a:t>
            </a:r>
            <a:r>
              <a:rPr lang="en-US" dirty="0"/>
              <a:t>. This is a framework that focuses on helping agents get smarter over time—with very little manual training.</a:t>
            </a:r>
          </a:p>
          <a:p>
            <a:r>
              <a:rPr lang="en-US" dirty="0"/>
              <a:t>💡 </a:t>
            </a:r>
            <a:r>
              <a:rPr lang="en-US" b="1" dirty="0"/>
              <a:t>Declarative Design</a:t>
            </a:r>
            <a:br>
              <a:rPr lang="en-US" dirty="0"/>
            </a:br>
            <a:r>
              <a:rPr lang="en-US" dirty="0"/>
              <a:t>Instead of writing out exactly </a:t>
            </a:r>
            <a:r>
              <a:rPr lang="en-US" i="1" dirty="0"/>
              <a:t>how</a:t>
            </a:r>
            <a:r>
              <a:rPr lang="en-US" dirty="0"/>
              <a:t> to do a task, you simply tell </a:t>
            </a:r>
            <a:r>
              <a:rPr lang="en-US" dirty="0" err="1"/>
              <a:t>DSPy</a:t>
            </a:r>
            <a:r>
              <a:rPr lang="en-US" dirty="0"/>
              <a:t> </a:t>
            </a:r>
            <a:r>
              <a:rPr lang="en-US" i="1" dirty="0"/>
              <a:t>what</a:t>
            </a:r>
            <a:r>
              <a:rPr lang="en-US" dirty="0"/>
              <a:t> you want.</a:t>
            </a:r>
            <a:br>
              <a:rPr lang="en-US" dirty="0"/>
            </a:br>
            <a:r>
              <a:rPr lang="en-US" dirty="0"/>
              <a:t>For example, you don’t code step-by-step instructions—you say “Summarize this text clearly,” and </a:t>
            </a:r>
            <a:r>
              <a:rPr lang="en-US" dirty="0" err="1"/>
              <a:t>DSPy</a:t>
            </a:r>
            <a:r>
              <a:rPr lang="en-US" dirty="0"/>
              <a:t> figures out the best way to do it. This makes development faster and cleaner.</a:t>
            </a:r>
          </a:p>
          <a:p>
            <a:r>
              <a:rPr lang="en-US" dirty="0"/>
              <a:t>⚙️ </a:t>
            </a:r>
            <a:r>
              <a:rPr lang="en-US" b="1" dirty="0"/>
              <a:t>Training-Free Optimization</a:t>
            </a:r>
            <a:br>
              <a:rPr lang="en-US" dirty="0"/>
            </a:br>
            <a:r>
              <a:rPr lang="en-US" dirty="0"/>
              <a:t>This is a big benefit. </a:t>
            </a:r>
            <a:r>
              <a:rPr lang="en-US" dirty="0" err="1"/>
              <a:t>DSPy</a:t>
            </a:r>
            <a:r>
              <a:rPr lang="en-US" dirty="0"/>
              <a:t> doesn’t need you to train models from scratch.</a:t>
            </a:r>
            <a:br>
              <a:rPr lang="en-US" dirty="0"/>
            </a:br>
            <a:r>
              <a:rPr lang="en-US" dirty="0"/>
              <a:t>It improves by learning from examples—called </a:t>
            </a:r>
            <a:r>
              <a:rPr lang="en-US" i="1" dirty="0"/>
              <a:t>demonstrations</a:t>
            </a:r>
            <a:r>
              <a:rPr lang="en-US" dirty="0"/>
              <a:t>. This means you can keep upgrading your agent’s output by just showing it better ways to respond.</a:t>
            </a:r>
          </a:p>
          <a:p>
            <a:r>
              <a:rPr lang="en-US" dirty="0"/>
              <a:t>🧠 </a:t>
            </a:r>
            <a:r>
              <a:rPr lang="en-US" b="1" dirty="0"/>
              <a:t>Compositional Reasoning</a:t>
            </a:r>
            <a:br>
              <a:rPr lang="en-US" dirty="0"/>
            </a:br>
            <a:r>
              <a:rPr lang="en-US" dirty="0" err="1"/>
              <a:t>DSPy</a:t>
            </a:r>
            <a:r>
              <a:rPr lang="en-US" dirty="0"/>
              <a:t> can </a:t>
            </a:r>
            <a:r>
              <a:rPr lang="en-US" b="1" dirty="0"/>
              <a:t>chain together logic and explanations</a:t>
            </a:r>
            <a:r>
              <a:rPr lang="en-US" dirty="0"/>
              <a:t> for more complex tasks.</a:t>
            </a:r>
            <a:br>
              <a:rPr lang="en-US" dirty="0"/>
            </a:br>
            <a:r>
              <a:rPr lang="en-US" dirty="0"/>
              <a:t>So instead of just giving an answer, it can also explain </a:t>
            </a:r>
            <a:r>
              <a:rPr lang="en-US" i="1" dirty="0"/>
              <a:t>why</a:t>
            </a:r>
            <a:r>
              <a:rPr lang="en-US" dirty="0"/>
              <a:t>—and even combine different modules to handle multi-step reasoning.</a:t>
            </a:r>
          </a:p>
          <a:p>
            <a:r>
              <a:rPr lang="en-US" dirty="0"/>
              <a:t>🧪 </a:t>
            </a:r>
            <a:r>
              <a:rPr lang="en-US" b="1" dirty="0"/>
              <a:t>Instrumentation</a:t>
            </a:r>
            <a:br>
              <a:rPr lang="en-US" dirty="0"/>
            </a:br>
            <a:r>
              <a:rPr lang="en-US" dirty="0"/>
              <a:t>This means you can </a:t>
            </a:r>
            <a:r>
              <a:rPr lang="en-US" b="1" dirty="0"/>
              <a:t>measure how well your agent is performing</a:t>
            </a:r>
            <a:r>
              <a:rPr lang="en-US" dirty="0"/>
              <a:t>.</a:t>
            </a:r>
            <a:br>
              <a:rPr lang="en-US" dirty="0"/>
            </a:br>
            <a:r>
              <a:rPr lang="en-US" dirty="0" err="1"/>
              <a:t>DSPy</a:t>
            </a:r>
            <a:r>
              <a:rPr lang="en-US" dirty="0"/>
              <a:t> lets you compare outputs, tune the logic, and make improvements based on feedback.</a:t>
            </a:r>
          </a:p>
          <a:p>
            <a:r>
              <a:rPr lang="en-US" dirty="0"/>
              <a:t>📘 </a:t>
            </a:r>
            <a:r>
              <a:rPr lang="en-US" b="1" dirty="0"/>
              <a:t>Example</a:t>
            </a:r>
            <a:br>
              <a:rPr lang="en-US" dirty="0"/>
            </a:br>
            <a:r>
              <a:rPr lang="en-US" dirty="0"/>
              <a:t>A great example is an </a:t>
            </a:r>
            <a:r>
              <a:rPr lang="en-US" b="1" dirty="0"/>
              <a:t>AI tutor</a:t>
            </a:r>
            <a:r>
              <a:rPr lang="en-US" dirty="0"/>
              <a:t> built with </a:t>
            </a:r>
            <a:r>
              <a:rPr lang="en-US" dirty="0" err="1"/>
              <a:t>DSPy</a:t>
            </a:r>
            <a:r>
              <a:rPr lang="en-US" dirty="0"/>
              <a:t>.</a:t>
            </a:r>
            <a:br>
              <a:rPr lang="en-US" dirty="0"/>
            </a:br>
            <a:r>
              <a:rPr lang="en-US" dirty="0"/>
              <a:t>At first, it gives basic feedback. But over time, it </a:t>
            </a:r>
            <a:r>
              <a:rPr lang="en-US" b="1" dirty="0"/>
              <a:t>learns from student responses and its own mistakes</a:t>
            </a:r>
            <a:r>
              <a:rPr lang="en-US" dirty="0"/>
              <a:t>—so it improves how it explains and helps students.</a:t>
            </a:r>
            <a:br>
              <a:rPr lang="en-US" dirty="0"/>
            </a:br>
            <a:r>
              <a:rPr lang="en-US" dirty="0"/>
              <a:t>This makes it great for research, learning systems, and any agent that needs to evolve.</a:t>
            </a:r>
          </a:p>
          <a:p>
            <a:r>
              <a:rPr lang="en-US" dirty="0"/>
              <a:t>So in short, </a:t>
            </a:r>
            <a:r>
              <a:rPr lang="en-US" dirty="0" err="1"/>
              <a:t>DSPy</a:t>
            </a:r>
            <a:r>
              <a:rPr lang="en-US" dirty="0"/>
              <a:t> is perfect when you want an agent that </a:t>
            </a:r>
            <a:r>
              <a:rPr lang="en-US" b="1" dirty="0"/>
              <a:t>learns, adapts, and improves itself</a:t>
            </a:r>
            <a:r>
              <a:rPr lang="en-US" dirty="0"/>
              <a:t>—without needing full retraining or deep technical setup.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a:t>
            </a:r>
            <a:r>
              <a:rPr lang="en-US" b="1" dirty="0" err="1"/>
              <a:t>AutoAgent</a:t>
            </a:r>
            <a:r>
              <a:rPr lang="en-US" dirty="0"/>
              <a:t>—a tool designed to make automation super simple, even for people who don’t have a technical background.</a:t>
            </a:r>
          </a:p>
          <a:p>
            <a:r>
              <a:rPr lang="en-US" dirty="0"/>
              <a:t>It’s great for doing </a:t>
            </a:r>
            <a:r>
              <a:rPr lang="en-US" b="1" dirty="0"/>
              <a:t>repetitive tasks</a:t>
            </a:r>
            <a:r>
              <a:rPr lang="en-US" dirty="0"/>
              <a:t> automatically—like scraping websites, working with files, or sending emails.</a:t>
            </a:r>
          </a:p>
          <a:p>
            <a:r>
              <a:rPr lang="en-US" dirty="0"/>
              <a:t>🔧 </a:t>
            </a:r>
            <a:r>
              <a:rPr lang="en-US" b="1" dirty="0"/>
              <a:t>Key Features</a:t>
            </a:r>
            <a:br>
              <a:rPr lang="en-US" dirty="0"/>
            </a:br>
            <a:r>
              <a:rPr lang="en-US" dirty="0" err="1"/>
              <a:t>AutoAgent</a:t>
            </a:r>
            <a:r>
              <a:rPr lang="en-US" dirty="0"/>
              <a:t> doesn’t require a lot of setup. It has:</a:t>
            </a:r>
          </a:p>
          <a:p>
            <a:r>
              <a:rPr lang="en-US" b="1" dirty="0"/>
              <a:t>Minimal configuration</a:t>
            </a:r>
            <a:r>
              <a:rPr lang="en-US" dirty="0"/>
              <a:t>, so it’s easy to start.</a:t>
            </a:r>
          </a:p>
          <a:p>
            <a:r>
              <a:rPr lang="en-US" dirty="0"/>
              <a:t>It supports </a:t>
            </a:r>
            <a:r>
              <a:rPr lang="en-US" b="1" dirty="0"/>
              <a:t>web browsing and APIs</a:t>
            </a:r>
            <a:r>
              <a:rPr lang="en-US" dirty="0"/>
              <a:t>, meaning it can search the web or pull data from online services.</a:t>
            </a:r>
          </a:p>
          <a:p>
            <a:r>
              <a:rPr lang="en-US" dirty="0"/>
              <a:t>It runs in </a:t>
            </a:r>
            <a:r>
              <a:rPr lang="en-US" b="1" dirty="0"/>
              <a:t>loops</a:t>
            </a:r>
            <a:r>
              <a:rPr lang="en-US" dirty="0"/>
              <a:t>, meaning it can do tasks again and again automatically.</a:t>
            </a:r>
          </a:p>
          <a:p>
            <a:r>
              <a:rPr lang="en-US" dirty="0"/>
              <a:t>Plus, it has </a:t>
            </a:r>
            <a:r>
              <a:rPr lang="en-US" b="1" dirty="0"/>
              <a:t>built-in tools</a:t>
            </a:r>
            <a:r>
              <a:rPr lang="en-US" dirty="0"/>
              <a:t> for working with files, scraping data, and sending emails.</a:t>
            </a:r>
          </a:p>
          <a:p>
            <a:r>
              <a:rPr lang="en-US" dirty="0"/>
              <a:t>🚀 </a:t>
            </a:r>
            <a:r>
              <a:rPr lang="en-US" b="1" dirty="0"/>
              <a:t>Ideal For</a:t>
            </a:r>
            <a:br>
              <a:rPr lang="en-US" dirty="0"/>
            </a:br>
            <a:r>
              <a:rPr lang="en-US" dirty="0" err="1"/>
              <a:t>AutoAgent</a:t>
            </a:r>
            <a:r>
              <a:rPr lang="en-US" dirty="0"/>
              <a:t> is perfect for:</a:t>
            </a:r>
          </a:p>
          <a:p>
            <a:r>
              <a:rPr lang="en-US" b="1" dirty="0"/>
              <a:t>Workflow automation</a:t>
            </a:r>
            <a:r>
              <a:rPr lang="en-US" dirty="0"/>
              <a:t>—like gathering data, processing it, and sending it somewhere.</a:t>
            </a:r>
          </a:p>
          <a:p>
            <a:r>
              <a:rPr lang="en-US" dirty="0"/>
              <a:t>Running </a:t>
            </a:r>
            <a:r>
              <a:rPr lang="en-US" b="1" dirty="0"/>
              <a:t>tasks like scraping, parsing, or storing information</a:t>
            </a:r>
            <a:r>
              <a:rPr lang="en-US" dirty="0"/>
              <a:t>.</a:t>
            </a:r>
          </a:p>
          <a:p>
            <a:r>
              <a:rPr lang="en-US" dirty="0"/>
              <a:t>And it’s great for </a:t>
            </a:r>
            <a:r>
              <a:rPr lang="en-US" b="1" dirty="0"/>
              <a:t>non-technical users</a:t>
            </a:r>
            <a:r>
              <a:rPr lang="en-US" dirty="0"/>
              <a:t>—people who want to build smart agents without writing a lot of code.</a:t>
            </a:r>
          </a:p>
          <a:p>
            <a:r>
              <a:rPr lang="en-US" dirty="0"/>
              <a:t>📬 </a:t>
            </a:r>
            <a:r>
              <a:rPr lang="en-US" b="1" dirty="0"/>
              <a:t>Example Use Case</a:t>
            </a:r>
            <a:br>
              <a:rPr lang="en-US" dirty="0"/>
            </a:br>
            <a:r>
              <a:rPr lang="en-US" dirty="0"/>
              <a:t>Let’s say you want a bot to check a job site every day.</a:t>
            </a:r>
          </a:p>
          <a:p>
            <a:r>
              <a:rPr lang="en-US" dirty="0" err="1"/>
              <a:t>AutoAgent</a:t>
            </a:r>
            <a:r>
              <a:rPr lang="en-US" dirty="0"/>
              <a:t> can:</a:t>
            </a:r>
          </a:p>
          <a:p>
            <a:r>
              <a:rPr lang="en-US" b="1" dirty="0"/>
              <a:t>Log into the site</a:t>
            </a:r>
            <a:r>
              <a:rPr lang="en-US" dirty="0"/>
              <a:t>,</a:t>
            </a:r>
          </a:p>
          <a:p>
            <a:r>
              <a:rPr lang="en-US" b="1" dirty="0"/>
              <a:t>Scrape job listings</a:t>
            </a:r>
            <a:r>
              <a:rPr lang="en-US" dirty="0"/>
              <a:t>,</a:t>
            </a:r>
          </a:p>
          <a:p>
            <a:r>
              <a:rPr lang="en-US" b="1" dirty="0"/>
              <a:t>Filter them</a:t>
            </a:r>
            <a:r>
              <a:rPr lang="en-US" dirty="0"/>
              <a:t>,</a:t>
            </a:r>
          </a:p>
          <a:p>
            <a:r>
              <a:rPr lang="en-US" dirty="0"/>
              <a:t>And </a:t>
            </a:r>
            <a:r>
              <a:rPr lang="en-US" b="1" dirty="0"/>
              <a:t>email you the results every morning</a:t>
            </a:r>
            <a:r>
              <a:rPr lang="en-US" dirty="0"/>
              <a:t>.</a:t>
            </a:r>
          </a:p>
          <a:p>
            <a:r>
              <a:rPr lang="en-US" dirty="0"/>
              <a:t>Simple, useful, and saves a lot of time.</a:t>
            </a:r>
          </a:p>
          <a:p>
            <a:r>
              <a:rPr lang="en-US" dirty="0"/>
              <a:t>So overall, </a:t>
            </a:r>
            <a:r>
              <a:rPr lang="en-US" dirty="0" err="1"/>
              <a:t>AutoAgent</a:t>
            </a:r>
            <a:r>
              <a:rPr lang="en-US" dirty="0"/>
              <a:t> is about making automation </a:t>
            </a:r>
            <a:r>
              <a:rPr lang="en-US" b="1" dirty="0"/>
              <a:t>accessible and easy to use</a:t>
            </a:r>
            <a:r>
              <a:rPr lang="en-US" dirty="0"/>
              <a:t>—whether you’re a developer or not.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a:t>
            </a:r>
            <a:r>
              <a:rPr lang="en-US" b="1" dirty="0" err="1"/>
              <a:t>AgentScope</a:t>
            </a:r>
            <a:r>
              <a:rPr lang="en-US" dirty="0"/>
              <a:t>, a tool developed by </a:t>
            </a:r>
            <a:r>
              <a:rPr lang="en-US" dirty="0" err="1"/>
              <a:t>OpenAI</a:t>
            </a:r>
            <a:r>
              <a:rPr lang="en-US" dirty="0"/>
              <a:t> to help manage intelligent agents—especially in big companies.</a:t>
            </a:r>
          </a:p>
          <a:p>
            <a:r>
              <a:rPr lang="en-US" dirty="0"/>
              <a:t>You can think of </a:t>
            </a:r>
            <a:r>
              <a:rPr lang="en-US" dirty="0" err="1"/>
              <a:t>AgentScope</a:t>
            </a:r>
            <a:r>
              <a:rPr lang="en-US" dirty="0"/>
              <a:t> as a </a:t>
            </a:r>
            <a:r>
              <a:rPr lang="en-US" b="1" dirty="0"/>
              <a:t>dashboard</a:t>
            </a:r>
            <a:r>
              <a:rPr lang="en-US" dirty="0"/>
              <a:t> or </a:t>
            </a:r>
            <a:r>
              <a:rPr lang="en-US" b="1" dirty="0"/>
              <a:t>control center</a:t>
            </a:r>
            <a:r>
              <a:rPr lang="en-US" dirty="0"/>
              <a:t> for keeping track of your agents and making sure they’re working the way they should.</a:t>
            </a:r>
          </a:p>
          <a:p>
            <a:r>
              <a:rPr lang="en-US" dirty="0"/>
              <a:t>Here are the main features:</a:t>
            </a:r>
          </a:p>
          <a:p>
            <a:r>
              <a:rPr lang="en-US" dirty="0"/>
              <a:t>✅ </a:t>
            </a:r>
            <a:r>
              <a:rPr lang="en-US" b="1" dirty="0"/>
              <a:t>Observability &amp; Logging</a:t>
            </a:r>
            <a:br>
              <a:rPr lang="en-US" dirty="0"/>
            </a:br>
            <a:r>
              <a:rPr lang="en-US" dirty="0"/>
              <a:t>This just means you can </a:t>
            </a:r>
            <a:r>
              <a:rPr lang="en-US" b="1" dirty="0"/>
              <a:t>see what your agents are doing</a:t>
            </a:r>
            <a:r>
              <a:rPr lang="en-US" dirty="0"/>
              <a:t>—track their actions and make sure everything is running smoothly.</a:t>
            </a:r>
          </a:p>
          <a:p>
            <a:r>
              <a:rPr lang="en-US" dirty="0"/>
              <a:t>✅ </a:t>
            </a:r>
            <a:r>
              <a:rPr lang="en-US" b="1" dirty="0"/>
              <a:t>Prompt Tracking &amp; Versioning</a:t>
            </a:r>
            <a:br>
              <a:rPr lang="en-US" dirty="0"/>
            </a:br>
            <a:r>
              <a:rPr lang="en-US" dirty="0"/>
              <a:t>When you change an agent’s prompt, you can </a:t>
            </a:r>
            <a:r>
              <a:rPr lang="en-US" b="1" dirty="0"/>
              <a:t>save different versions</a:t>
            </a:r>
            <a:r>
              <a:rPr lang="en-US" dirty="0"/>
              <a:t> and go back to them later. This is useful when you want to improve your agent or check what’s working best.</a:t>
            </a:r>
          </a:p>
          <a:p>
            <a:r>
              <a:rPr lang="en-US" dirty="0"/>
              <a:t>✅ </a:t>
            </a:r>
            <a:r>
              <a:rPr lang="en-US" b="1" dirty="0"/>
              <a:t>Controlled Execution Loops</a:t>
            </a:r>
            <a:br>
              <a:rPr lang="en-US" dirty="0"/>
            </a:br>
            <a:r>
              <a:rPr lang="en-US" dirty="0"/>
              <a:t>This feature </a:t>
            </a:r>
            <a:r>
              <a:rPr lang="en-US" b="1" dirty="0"/>
              <a:t>sets limits</a:t>
            </a:r>
            <a:r>
              <a:rPr lang="en-US" dirty="0"/>
              <a:t> on what agents can do. It prevents them from going too far or running in endless loops.</a:t>
            </a:r>
          </a:p>
          <a:p>
            <a:r>
              <a:rPr lang="en-US" dirty="0"/>
              <a:t>✅ </a:t>
            </a:r>
            <a:r>
              <a:rPr lang="en-US" b="1" dirty="0"/>
              <a:t>Supports Team-Based Workflows</a:t>
            </a:r>
            <a:br>
              <a:rPr lang="en-US" dirty="0"/>
            </a:br>
            <a:r>
              <a:rPr lang="en-US" dirty="0"/>
              <a:t>You can have </a:t>
            </a:r>
            <a:r>
              <a:rPr lang="en-US" b="1" dirty="0"/>
              <a:t>multiple agents working together as a team</a:t>
            </a:r>
            <a:r>
              <a:rPr lang="en-US" dirty="0"/>
              <a:t>, each doing a different task. </a:t>
            </a:r>
            <a:r>
              <a:rPr lang="en-US" dirty="0" err="1"/>
              <a:t>AgentScope</a:t>
            </a:r>
            <a:r>
              <a:rPr lang="en-US" dirty="0"/>
              <a:t> helps you manage and coordinate them easily.</a:t>
            </a:r>
          </a:p>
          <a:p>
            <a:r>
              <a:rPr lang="en-US" dirty="0"/>
              <a:t>The image on the right shows what the dashboard might look like. It’s a simple way to see all your agents and what they’re currently working on.</a:t>
            </a:r>
          </a:p>
          <a:p>
            <a:r>
              <a:rPr lang="en-US" dirty="0"/>
              <a:t>So in short, </a:t>
            </a:r>
            <a:r>
              <a:rPr lang="en-US" dirty="0" err="1"/>
              <a:t>AgentScope</a:t>
            </a:r>
            <a:r>
              <a:rPr lang="en-US" dirty="0"/>
              <a:t> is a powerful tool for making sure agents are safe, trackable, and well-coordinated—especially in professional or enterprise environments.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closer look at what makes </a:t>
            </a:r>
            <a:r>
              <a:rPr lang="en-US" dirty="0" err="1"/>
              <a:t>AutoGen</a:t>
            </a:r>
            <a:r>
              <a:rPr lang="en-US" dirty="0"/>
              <a:t> Studio such a powerful and accessible tool for building AI agents.</a:t>
            </a:r>
          </a:p>
          <a:p>
            <a:r>
              <a:rPr lang="en-US" b="1" dirty="0"/>
              <a:t>Visual Development</a:t>
            </a:r>
            <a:r>
              <a:rPr lang="en-US" dirty="0"/>
              <a:t>:</a:t>
            </a:r>
            <a:br>
              <a:rPr lang="en-US" dirty="0"/>
            </a:br>
            <a:r>
              <a:rPr lang="en-US" dirty="0" err="1"/>
              <a:t>AutoGen</a:t>
            </a:r>
            <a:r>
              <a:rPr lang="en-US" dirty="0"/>
              <a:t> Studio stands out for offering a </a:t>
            </a:r>
            <a:r>
              <a:rPr lang="en-US" b="1" dirty="0"/>
              <a:t>visual interface</a:t>
            </a:r>
            <a:r>
              <a:rPr lang="en-US" dirty="0"/>
              <a:t> for developing multi-agent LLM workflows.</a:t>
            </a:r>
            <a:br>
              <a:rPr lang="en-US" dirty="0"/>
            </a:br>
            <a:r>
              <a:rPr lang="en-US" dirty="0"/>
              <a:t>This means you don’t need to write complex code to manage interactions between different agents.</a:t>
            </a:r>
            <a:br>
              <a:rPr lang="en-US" dirty="0"/>
            </a:br>
            <a:r>
              <a:rPr lang="en-US" dirty="0"/>
              <a:t>You can visually design how agents work together, making the process more intuitive and collaborative.</a:t>
            </a:r>
          </a:p>
          <a:p>
            <a:r>
              <a:rPr lang="en-US" b="1" dirty="0"/>
              <a:t>Microsoft </a:t>
            </a:r>
            <a:r>
              <a:rPr lang="en-US" b="1" dirty="0" err="1"/>
              <a:t>AutoGen</a:t>
            </a:r>
            <a:r>
              <a:rPr lang="en-US" dirty="0"/>
              <a:t>:</a:t>
            </a:r>
            <a:br>
              <a:rPr lang="en-US" dirty="0"/>
            </a:br>
            <a:r>
              <a:rPr lang="en-US" dirty="0"/>
              <a:t>It’s built on </a:t>
            </a:r>
            <a:r>
              <a:rPr lang="en-US" b="1" dirty="0"/>
              <a:t>Microsoft’s </a:t>
            </a:r>
            <a:r>
              <a:rPr lang="en-US" b="1" dirty="0" err="1"/>
              <a:t>AutoGen</a:t>
            </a:r>
            <a:r>
              <a:rPr lang="en-US" b="1" dirty="0"/>
              <a:t> framework</a:t>
            </a:r>
            <a:r>
              <a:rPr lang="en-US" dirty="0"/>
              <a:t>, which is a robust and scalable foundation for creating agent-based systems.</a:t>
            </a:r>
            <a:br>
              <a:rPr lang="en-US" dirty="0"/>
            </a:br>
            <a:r>
              <a:rPr lang="en-US" dirty="0"/>
              <a:t>This ensures compatibility, performance, and integration with the Microsoft ecosystem.</a:t>
            </a:r>
          </a:p>
          <a:p>
            <a:r>
              <a:rPr lang="en-US" b="1" dirty="0"/>
              <a:t>Simplifies Design</a:t>
            </a:r>
            <a:r>
              <a:rPr lang="en-US" dirty="0"/>
              <a:t>:</a:t>
            </a:r>
            <a:br>
              <a:rPr lang="en-US" dirty="0"/>
            </a:br>
            <a:r>
              <a:rPr lang="en-US" dirty="0"/>
              <a:t>One of the biggest benefits is how it </a:t>
            </a:r>
            <a:r>
              <a:rPr lang="en-US" b="1" dirty="0"/>
              <a:t>simplifies agent creation</a:t>
            </a:r>
            <a:r>
              <a:rPr lang="en-US" dirty="0"/>
              <a:t>.</a:t>
            </a:r>
            <a:br>
              <a:rPr lang="en-US" dirty="0"/>
            </a:br>
            <a:r>
              <a:rPr lang="en-US" dirty="0"/>
              <a:t>From customization to interaction flows, it reduces the complexity involved in building smart agents.</a:t>
            </a:r>
            <a:br>
              <a:rPr lang="en-US" dirty="0"/>
            </a:br>
            <a:r>
              <a:rPr lang="en-US" dirty="0"/>
              <a:t>Whether you're a developer or a product designer, this makes your work faster and more accessible.</a:t>
            </a:r>
          </a:p>
          <a:p>
            <a:r>
              <a:rPr lang="en-US" b="1" dirty="0"/>
              <a:t>Democratizes AI</a:t>
            </a:r>
            <a:r>
              <a:rPr lang="en-US" dirty="0"/>
              <a:t>:</a:t>
            </a:r>
            <a:br>
              <a:rPr lang="en-US" dirty="0"/>
            </a:br>
            <a:r>
              <a:rPr lang="en-US" dirty="0"/>
              <a:t>Most importantly, </a:t>
            </a:r>
            <a:r>
              <a:rPr lang="en-US" dirty="0" err="1"/>
              <a:t>AutoGen</a:t>
            </a:r>
            <a:r>
              <a:rPr lang="en-US" dirty="0"/>
              <a:t> Studio </a:t>
            </a:r>
            <a:r>
              <a:rPr lang="en-US" b="1" dirty="0"/>
              <a:t>aims to democratize AI</a:t>
            </a:r>
            <a:r>
              <a:rPr lang="en-US" dirty="0"/>
              <a:t>—making powerful AI tools accessible to everyone, not just those with a deep technical background.</a:t>
            </a:r>
            <a:br>
              <a:rPr lang="en-US" dirty="0"/>
            </a:br>
            <a:r>
              <a:rPr lang="en-US" dirty="0"/>
              <a:t>It empowers students, startups, educators, and even non-tech professionals to participate in AI innovation.</a:t>
            </a:r>
          </a:p>
          <a:p>
            <a:r>
              <a:rPr lang="en-US" dirty="0"/>
              <a:t>Together, these features make </a:t>
            </a:r>
            <a:r>
              <a:rPr lang="en-US" dirty="0" err="1"/>
              <a:t>AutoGen</a:t>
            </a:r>
            <a:r>
              <a:rPr lang="en-US" dirty="0"/>
              <a:t> Studio not just a tool, but a platform that bridges the gap between complex AI development and real-world usability."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walk through the user interface of </a:t>
            </a:r>
            <a:r>
              <a:rPr lang="en-US" dirty="0" err="1"/>
              <a:t>AutoGen</a:t>
            </a:r>
            <a:r>
              <a:rPr lang="en-US" dirty="0"/>
              <a:t> Studio, which makes it incredibly intuitive to build and manage multi-agent workflows.</a:t>
            </a:r>
          </a:p>
          <a:p>
            <a:r>
              <a:rPr lang="en-US" dirty="0"/>
              <a:t>First, what you see here is a </a:t>
            </a:r>
            <a:r>
              <a:rPr lang="en-US" b="1" dirty="0"/>
              <a:t>graph-based interface</a:t>
            </a:r>
            <a:r>
              <a:rPr lang="en-US" dirty="0"/>
              <a:t>. This allows users to visually map out how agents interact with one another — a perfect way to understand complex workflows at a glance.</a:t>
            </a:r>
          </a:p>
          <a:p>
            <a:r>
              <a:rPr lang="en-US" dirty="0"/>
              <a:t>It supports </a:t>
            </a:r>
            <a:r>
              <a:rPr lang="en-US" b="1" dirty="0"/>
              <a:t>drag-and-drop components</a:t>
            </a:r>
            <a:r>
              <a:rPr lang="en-US" dirty="0"/>
              <a:t>, so instead of writing lines of code, you can simply add agents, functions, or logic blocks onto the canvas and connect them.</a:t>
            </a:r>
          </a:p>
          <a:p>
            <a:r>
              <a:rPr lang="en-US" dirty="0"/>
              <a:t>The system offers </a:t>
            </a:r>
            <a:r>
              <a:rPr lang="en-US" b="1" dirty="0"/>
              <a:t>real-time feedback</a:t>
            </a:r>
            <a:r>
              <a:rPr lang="en-US" dirty="0"/>
              <a:t>, meaning any changes you make to the flow — like updating prompts or logic — are immediately reflected, which really helps with rapid iteration.</a:t>
            </a:r>
          </a:p>
          <a:p>
            <a:r>
              <a:rPr lang="en-US" dirty="0"/>
              <a:t>And for those who want deeper control, there’s an </a:t>
            </a:r>
            <a:r>
              <a:rPr lang="en-US" b="1" dirty="0"/>
              <a:t>integrated code editor</a:t>
            </a:r>
            <a:r>
              <a:rPr lang="en-US" dirty="0"/>
              <a:t>. This allows you to fine-tune behaviors, add custom scripts, or tweak any backend logic directly from within the interface.</a:t>
            </a:r>
          </a:p>
          <a:p>
            <a:r>
              <a:rPr lang="en-US" dirty="0"/>
              <a:t>Overall, the interface is designed for both beginners and advanced users — making it a powerful yet approachable platform for building AI-powered agent pipelines."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us a deeper understanding of the capabilities and flexibility of agents within </a:t>
            </a:r>
            <a:r>
              <a:rPr lang="en-US" dirty="0" err="1"/>
              <a:t>AutoGen</a:t>
            </a:r>
            <a:r>
              <a:rPr lang="en-US" dirty="0"/>
              <a:t> Studio.</a:t>
            </a:r>
          </a:p>
          <a:p>
            <a:r>
              <a:rPr lang="en-US" dirty="0"/>
              <a:t>On the left, we see </a:t>
            </a:r>
            <a:r>
              <a:rPr lang="en-US" b="1" dirty="0"/>
              <a:t>four major capabilities</a:t>
            </a:r>
            <a:r>
              <a:rPr lang="en-US" dirty="0"/>
              <a:t> that make </a:t>
            </a:r>
            <a:r>
              <a:rPr lang="en-US" dirty="0" err="1"/>
              <a:t>AutoGen</a:t>
            </a:r>
            <a:r>
              <a:rPr lang="en-US" dirty="0"/>
              <a:t> agents truly powerful:</a:t>
            </a:r>
          </a:p>
          <a:p>
            <a:pPr lvl="1"/>
            <a:r>
              <a:rPr lang="en-US" b="1" dirty="0"/>
              <a:t>Customizable Roles</a:t>
            </a:r>
            <a:br>
              <a:rPr lang="en-US" dirty="0"/>
            </a:br>
            <a:r>
              <a:rPr lang="en-US" dirty="0"/>
              <a:t>Agents can be tailored with specific roles, skills, and knowledge.</a:t>
            </a:r>
            <a:br>
              <a:rPr lang="en-US" dirty="0"/>
            </a:br>
            <a:r>
              <a:rPr lang="en-US" dirty="0"/>
              <a:t>For example, you can create an agent to behave like a data analyst, customer support assistant, or content writer — each with unique behavior and responses.</a:t>
            </a:r>
          </a:p>
          <a:p>
            <a:pPr lvl="1"/>
            <a:r>
              <a:rPr lang="en-US" b="1" dirty="0"/>
              <a:t>LLM Support</a:t>
            </a:r>
            <a:br>
              <a:rPr lang="en-US" dirty="0"/>
            </a:br>
            <a:r>
              <a:rPr lang="en-US" dirty="0"/>
              <a:t>The system is compatible with top-tier large language models like </a:t>
            </a:r>
            <a:r>
              <a:rPr lang="en-US" b="1" dirty="0"/>
              <a:t>GPT-4 and Google’s Gemini</a:t>
            </a:r>
            <a:r>
              <a:rPr lang="en-US" dirty="0"/>
              <a:t>, so you have the flexibility to choose the model that best fits your needs or budget.</a:t>
            </a:r>
          </a:p>
          <a:p>
            <a:pPr lvl="1"/>
            <a:r>
              <a:rPr lang="en-US" b="1" dirty="0"/>
              <a:t>Collaboration</a:t>
            </a:r>
            <a:br>
              <a:rPr lang="en-US" dirty="0"/>
            </a:br>
            <a:r>
              <a:rPr lang="en-US" dirty="0"/>
              <a:t>Agents don’t work in isolation — they </a:t>
            </a:r>
            <a:r>
              <a:rPr lang="en-US" b="1" dirty="0"/>
              <a:t>communicate and collaborate</a:t>
            </a:r>
            <a:r>
              <a:rPr lang="en-US" dirty="0"/>
              <a:t> to complete tasks.</a:t>
            </a:r>
            <a:br>
              <a:rPr lang="en-US" dirty="0"/>
            </a:br>
            <a:r>
              <a:rPr lang="en-US" dirty="0"/>
              <a:t>For instance, a 'Research Agent' can gather data, and a 'Writer Agent' can then use that data to draft a report — all automatically.</a:t>
            </a:r>
          </a:p>
          <a:p>
            <a:pPr lvl="1"/>
            <a:r>
              <a:rPr lang="en-US" b="1" dirty="0"/>
              <a:t>Diverse Examples</a:t>
            </a:r>
            <a:br>
              <a:rPr lang="en-US" dirty="0"/>
            </a:br>
            <a:r>
              <a:rPr lang="en-US" dirty="0"/>
              <a:t>The platform supports a wide range of use cases — from </a:t>
            </a:r>
            <a:r>
              <a:rPr lang="en-US" b="1" dirty="0"/>
              <a:t>data analysis</a:t>
            </a:r>
            <a:r>
              <a:rPr lang="en-US" dirty="0"/>
              <a:t> and </a:t>
            </a:r>
            <a:r>
              <a:rPr lang="en-US" b="1" dirty="0"/>
              <a:t>project management</a:t>
            </a:r>
            <a:r>
              <a:rPr lang="en-US" dirty="0"/>
              <a:t> to </a:t>
            </a:r>
            <a:r>
              <a:rPr lang="en-US" b="1" dirty="0"/>
              <a:t>content creation</a:t>
            </a:r>
            <a:r>
              <a:rPr lang="en-US" dirty="0"/>
              <a:t>.</a:t>
            </a:r>
            <a:br>
              <a:rPr lang="en-US" dirty="0"/>
            </a:br>
            <a:r>
              <a:rPr lang="en-US" dirty="0"/>
              <a:t>It’s built for versatility, allowing you to apply AI to almost any workflow.</a:t>
            </a:r>
          </a:p>
          <a:p>
            <a:r>
              <a:rPr lang="en-US" dirty="0"/>
              <a:t>On the right, we have </a:t>
            </a:r>
            <a:r>
              <a:rPr lang="en-US" b="1" dirty="0"/>
              <a:t>illustrations of agent roles</a:t>
            </a:r>
            <a:r>
              <a:rPr lang="en-US" dirty="0"/>
              <a:t>: Analyst, Creator, Project Manager, and others.</a:t>
            </a:r>
            <a:br>
              <a:rPr lang="en-US" dirty="0"/>
            </a:br>
            <a:r>
              <a:rPr lang="en-US" dirty="0"/>
              <a:t>These visuals represent how agents can take on human-like functions within your workflows — not to replace humans, but to assist and scale productivity.</a:t>
            </a:r>
          </a:p>
          <a:p>
            <a:r>
              <a:rPr lang="en-US" dirty="0"/>
              <a:t>Overall, the takeaway here is: with </a:t>
            </a:r>
            <a:r>
              <a:rPr lang="en-US" dirty="0" err="1"/>
              <a:t>AutoGen</a:t>
            </a:r>
            <a:r>
              <a:rPr lang="en-US" dirty="0"/>
              <a:t> Studio, you’re not just using AI—you’re designing </a:t>
            </a:r>
            <a:r>
              <a:rPr lang="en-US" b="1" dirty="0"/>
              <a:t>collaborative AI teams</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showcases four major use cases where </a:t>
            </a:r>
            <a:r>
              <a:rPr lang="en-US" dirty="0" err="1"/>
              <a:t>AutoGen</a:t>
            </a:r>
            <a:r>
              <a:rPr lang="en-US" dirty="0"/>
              <a:t> Studio really shines. Let’s quickly walk through them:</a:t>
            </a:r>
          </a:p>
          <a:p>
            <a:r>
              <a:rPr lang="en-US" b="1" dirty="0"/>
              <a:t>Data Analysis</a:t>
            </a:r>
            <a:br>
              <a:rPr lang="en-US" dirty="0"/>
            </a:br>
            <a:r>
              <a:rPr lang="en-US" dirty="0" err="1"/>
              <a:t>AutoGen</a:t>
            </a:r>
            <a:r>
              <a:rPr lang="en-US" dirty="0"/>
              <a:t> can automate complex data workflows, such as cleaning, visualizing, and even interpreting large datasets.</a:t>
            </a:r>
            <a:br>
              <a:rPr lang="en-US" dirty="0"/>
            </a:br>
            <a:r>
              <a:rPr lang="en-US" dirty="0"/>
              <a:t>For example, you can assign agents to pull data from sources, generate visualizations, and deliver summaries — saving hours of manual work.</a:t>
            </a:r>
          </a:p>
          <a:p>
            <a:r>
              <a:rPr lang="en-US" b="1" dirty="0"/>
              <a:t>Content Generation</a:t>
            </a:r>
            <a:br>
              <a:rPr lang="en-US" dirty="0"/>
            </a:br>
            <a:r>
              <a:rPr lang="en-US" dirty="0"/>
              <a:t>With multiple agents working together, you can build dynamic content pipelines — whether it’s social media captions, blog drafts, or ad copy.</a:t>
            </a:r>
            <a:br>
              <a:rPr lang="en-US" dirty="0"/>
            </a:br>
            <a:r>
              <a:rPr lang="en-US" dirty="0"/>
              <a:t>One agent can research the topic, another can write, and another can polish the tone or add SEO keywords.</a:t>
            </a:r>
          </a:p>
          <a:p>
            <a:r>
              <a:rPr lang="en-US" b="1" dirty="0"/>
              <a:t>Project Management</a:t>
            </a:r>
            <a:br>
              <a:rPr lang="en-US" dirty="0"/>
            </a:br>
            <a:r>
              <a:rPr lang="en-US" dirty="0"/>
              <a:t>Agents can also help </a:t>
            </a:r>
            <a:r>
              <a:rPr lang="en-US" b="1" dirty="0"/>
              <a:t>streamline team workflows</a:t>
            </a:r>
            <a:r>
              <a:rPr lang="en-US" dirty="0"/>
              <a:t> by tracking progress, assigning tasks, or generating reports.</a:t>
            </a:r>
            <a:br>
              <a:rPr lang="en-US" dirty="0"/>
            </a:br>
            <a:r>
              <a:rPr lang="en-US" dirty="0"/>
              <a:t>Think of them as intelligent project coordinators that keep things on track without micromanagement.</a:t>
            </a:r>
          </a:p>
          <a:p>
            <a:r>
              <a:rPr lang="en-US" b="1" dirty="0"/>
              <a:t>Chatbots</a:t>
            </a:r>
            <a:br>
              <a:rPr lang="en-US" dirty="0"/>
            </a:br>
            <a:r>
              <a:rPr lang="en-US" dirty="0"/>
              <a:t>Lastly, </a:t>
            </a:r>
            <a:r>
              <a:rPr lang="en-US" dirty="0" err="1"/>
              <a:t>AutoGen</a:t>
            </a:r>
            <a:r>
              <a:rPr lang="en-US" dirty="0"/>
              <a:t> is powerful for creating </a:t>
            </a:r>
            <a:r>
              <a:rPr lang="en-US" b="1" dirty="0"/>
              <a:t>multi-skill chatbots</a:t>
            </a:r>
            <a:r>
              <a:rPr lang="en-US" dirty="0"/>
              <a:t>.</a:t>
            </a:r>
            <a:br>
              <a:rPr lang="en-US" dirty="0"/>
            </a:br>
            <a:r>
              <a:rPr lang="en-US" dirty="0"/>
              <a:t>You can build agents that handle customer service, technical support, or onboarding — all with specialized knowledge and a consistent tone.</a:t>
            </a:r>
          </a:p>
          <a:p>
            <a:r>
              <a:rPr lang="en-US" dirty="0"/>
              <a:t>The key point is that </a:t>
            </a:r>
            <a:r>
              <a:rPr lang="en-US" dirty="0" err="1"/>
              <a:t>AutoGen</a:t>
            </a:r>
            <a:r>
              <a:rPr lang="en-US" dirty="0"/>
              <a:t> Studio is flexible — it’s not just for developers or analysts. Anyone building automated workflows can benefit."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the </a:t>
            </a:r>
            <a:r>
              <a:rPr lang="en-US" b="1" dirty="0"/>
              <a:t>workflow of how agents operate in </a:t>
            </a:r>
            <a:r>
              <a:rPr lang="en-US" b="1" dirty="0" err="1"/>
              <a:t>AutoGen</a:t>
            </a:r>
            <a:r>
              <a:rPr lang="en-US" b="1" dirty="0"/>
              <a:t> Studio</a:t>
            </a:r>
            <a:r>
              <a:rPr lang="en-US" dirty="0"/>
              <a:t>, from setup to final output.</a:t>
            </a:r>
          </a:p>
          <a:p>
            <a:r>
              <a:rPr lang="en-US" b="1" dirty="0"/>
              <a:t>Step 1 – Define Goals and Prompts</a:t>
            </a:r>
            <a:br>
              <a:rPr lang="en-US" dirty="0"/>
            </a:br>
            <a:r>
              <a:rPr lang="en-US" dirty="0"/>
              <a:t>Everything begins with the user.</a:t>
            </a:r>
            <a:br>
              <a:rPr lang="en-US" dirty="0"/>
            </a:br>
            <a:r>
              <a:rPr lang="en-US" dirty="0"/>
              <a:t>You define the </a:t>
            </a:r>
            <a:r>
              <a:rPr lang="en-US" b="1" dirty="0"/>
              <a:t>overall goal</a:t>
            </a:r>
            <a:r>
              <a:rPr lang="en-US" dirty="0"/>
              <a:t> — for example, generate a report or analyze a dataset — and provide the </a:t>
            </a:r>
            <a:r>
              <a:rPr lang="en-US" b="1" dirty="0"/>
              <a:t>initial prompts</a:t>
            </a:r>
            <a:r>
              <a:rPr lang="en-US" dirty="0"/>
              <a:t> that guide agent behavior.</a:t>
            </a:r>
          </a:p>
          <a:p>
            <a:r>
              <a:rPr lang="en-US" b="1" dirty="0"/>
              <a:t>Step 2 – Configure Roles and Capabilities</a:t>
            </a:r>
            <a:br>
              <a:rPr lang="en-US" dirty="0"/>
            </a:br>
            <a:r>
              <a:rPr lang="en-US" dirty="0"/>
              <a:t>Next, you </a:t>
            </a:r>
            <a:r>
              <a:rPr lang="en-US" b="1" dirty="0"/>
              <a:t>customize each agent</a:t>
            </a:r>
            <a:r>
              <a:rPr lang="en-US" dirty="0"/>
              <a:t> by assigning specific roles.</a:t>
            </a:r>
            <a:br>
              <a:rPr lang="en-US" dirty="0"/>
            </a:br>
            <a:r>
              <a:rPr lang="en-US" dirty="0"/>
              <a:t>This includes their knowledge base, skills, and how they’re expected to contribute in the task — like assigning one agent as a researcher and another as a summarizer.</a:t>
            </a:r>
          </a:p>
          <a:p>
            <a:r>
              <a:rPr lang="en-US" b="1" dirty="0"/>
              <a:t>Step 3 – Connect Agents to Tools</a:t>
            </a:r>
            <a:br>
              <a:rPr lang="en-US" dirty="0"/>
            </a:br>
            <a:r>
              <a:rPr lang="en-US" dirty="0"/>
              <a:t>You then link these agents to </a:t>
            </a:r>
            <a:r>
              <a:rPr lang="en-US" b="1" dirty="0"/>
              <a:t>executors</a:t>
            </a:r>
            <a:r>
              <a:rPr lang="en-US" dirty="0"/>
              <a:t>, such as web search, file handlers, or APIs.</a:t>
            </a:r>
            <a:br>
              <a:rPr lang="en-US" dirty="0"/>
            </a:br>
            <a:r>
              <a:rPr lang="en-US" dirty="0"/>
              <a:t>This gives them the ability to take action, gather data, or interact with external systems.</a:t>
            </a:r>
          </a:p>
          <a:p>
            <a:r>
              <a:rPr lang="en-US" b="1" dirty="0"/>
              <a:t>Step 4 – Collaboration through Dynamic Chat</a:t>
            </a:r>
            <a:br>
              <a:rPr lang="en-US" dirty="0"/>
            </a:br>
            <a:r>
              <a:rPr lang="en-US" dirty="0"/>
              <a:t>Once everything is set, agents </a:t>
            </a:r>
            <a:r>
              <a:rPr lang="en-US" b="1" dirty="0"/>
              <a:t>communicate and collaborate</a:t>
            </a:r>
            <a:r>
              <a:rPr lang="en-US" dirty="0"/>
              <a:t> with each other dynamically in real-time chat — just like a virtual team working together.</a:t>
            </a:r>
          </a:p>
          <a:p>
            <a:r>
              <a:rPr lang="en-US" b="1" dirty="0"/>
              <a:t>Final Step – Results Delivery</a:t>
            </a:r>
            <a:br>
              <a:rPr lang="en-US" dirty="0"/>
            </a:br>
            <a:r>
              <a:rPr lang="en-US" dirty="0"/>
              <a:t>The outcomes are then </a:t>
            </a:r>
            <a:r>
              <a:rPr lang="en-US" b="1" dirty="0"/>
              <a:t>delivered to you</a:t>
            </a:r>
            <a:r>
              <a:rPr lang="en-US" dirty="0"/>
              <a:t>, whether in the form of text, visual dashboards, files, or logs.</a:t>
            </a:r>
            <a:br>
              <a:rPr lang="en-US" dirty="0"/>
            </a:br>
            <a:r>
              <a:rPr lang="en-US" dirty="0"/>
              <a:t>You can choose to export them or feed them into another pipeline for further automation.</a:t>
            </a:r>
          </a:p>
          <a:p>
            <a:r>
              <a:rPr lang="en-US" dirty="0"/>
              <a:t>In short, </a:t>
            </a:r>
            <a:r>
              <a:rPr lang="en-US" dirty="0" err="1"/>
              <a:t>AutoGen</a:t>
            </a:r>
            <a:r>
              <a:rPr lang="en-US" dirty="0"/>
              <a:t> Studio brings structure to agent workflows — it turns a collection of LLMs into a coordinated, goal-oriented 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how </a:t>
            </a:r>
            <a:r>
              <a:rPr lang="en-US" dirty="0" err="1"/>
              <a:t>AutoGen</a:t>
            </a:r>
            <a:r>
              <a:rPr lang="en-US" dirty="0"/>
              <a:t> operates using this simple example.</a:t>
            </a:r>
          </a:p>
          <a:p>
            <a:r>
              <a:rPr lang="en-US" dirty="0" err="1"/>
              <a:t>AutoGen</a:t>
            </a:r>
            <a:r>
              <a:rPr lang="en-US" dirty="0"/>
              <a:t> is a framework that allows multiple AI agents to collaborate in a structured way to solve a task.</a:t>
            </a:r>
          </a:p>
          <a:p>
            <a:r>
              <a:rPr lang="en-US" dirty="0"/>
              <a:t>Here, the task starts with the </a:t>
            </a:r>
            <a:r>
              <a:rPr lang="en-US" b="1" dirty="0"/>
              <a:t>User Agent</a:t>
            </a:r>
            <a:r>
              <a:rPr lang="en-US" dirty="0"/>
              <a:t>—this is you, the human or a user proxy. The user initiates a request: </a:t>
            </a:r>
            <a:r>
              <a:rPr lang="en-US" i="1" dirty="0"/>
              <a:t>‘Write a Python script to scrape event data.’</a:t>
            </a:r>
            <a:endParaRPr lang="en-US" dirty="0"/>
          </a:p>
          <a:p>
            <a:r>
              <a:rPr lang="en-US" dirty="0"/>
              <a:t>The request is passed on to the </a:t>
            </a:r>
            <a:r>
              <a:rPr lang="en-US" b="1" dirty="0"/>
              <a:t>Coder Agent</a:t>
            </a:r>
            <a:r>
              <a:rPr lang="en-US" dirty="0"/>
              <a:t>, whose role is to generate the code. In this example, the coder uses Python with libraries like requests and </a:t>
            </a:r>
            <a:r>
              <a:rPr lang="en-US" dirty="0" err="1"/>
              <a:t>BeautifulSoup</a:t>
            </a:r>
            <a:r>
              <a:rPr lang="en-US" dirty="0"/>
              <a:t> to write a basic script for web scraping.</a:t>
            </a:r>
          </a:p>
          <a:p>
            <a:r>
              <a:rPr lang="en-US" dirty="0"/>
              <a:t>Next, the generated code goes to the </a:t>
            </a:r>
            <a:r>
              <a:rPr lang="en-US" b="1" dirty="0"/>
              <a:t>Critic Agent</a:t>
            </a:r>
            <a:r>
              <a:rPr lang="en-US" dirty="0"/>
              <a:t>. This agent reviews the output—almost like a peer reviewer. It doesn’t just accept the code blindly; instead, it provides helpful feedback. For example, it suggests adding error handling to make the script more robust.</a:t>
            </a:r>
          </a:p>
          <a:p>
            <a:r>
              <a:rPr lang="en-US" dirty="0"/>
              <a:t>Finally, the revised and improved script returns to the </a:t>
            </a:r>
            <a:r>
              <a:rPr lang="en-US" b="1" dirty="0"/>
              <a:t>User Agent</a:t>
            </a:r>
            <a:r>
              <a:rPr lang="en-US" dirty="0"/>
              <a:t>, who accepts the final output and proceeds to use the script.</a:t>
            </a:r>
          </a:p>
          <a:p>
            <a:r>
              <a:rPr lang="en-US" dirty="0"/>
              <a:t>So essentially, what you're seeing here is a small autonomous team of agents—each with a specific role—collaborating through conversations to produce high-quality work with minimal human input.</a:t>
            </a:r>
          </a:p>
          <a:p>
            <a:r>
              <a:rPr lang="en-US" dirty="0"/>
              <a:t>This modular and cooperative agent design is what makes </a:t>
            </a:r>
            <a:r>
              <a:rPr lang="en-US" dirty="0" err="1"/>
              <a:t>AutoGen</a:t>
            </a:r>
            <a:r>
              <a:rPr lang="en-US" dirty="0"/>
              <a:t> ideal for solving complex, multi-step problems."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concept of </a:t>
            </a:r>
            <a:r>
              <a:rPr lang="en-US" b="1" dirty="0"/>
              <a:t>agent orchestration</a:t>
            </a:r>
            <a:r>
              <a:rPr lang="en-US" dirty="0"/>
              <a:t>, especially as implemented in frameworks like </a:t>
            </a:r>
            <a:r>
              <a:rPr lang="en-US" dirty="0" err="1"/>
              <a:t>CrewAI</a:t>
            </a:r>
            <a:r>
              <a:rPr lang="en-US" dirty="0"/>
              <a:t>.</a:t>
            </a:r>
          </a:p>
          <a:p>
            <a:r>
              <a:rPr lang="en-US" b="1" dirty="0"/>
              <a:t>Orchestration Framework</a:t>
            </a:r>
            <a:br>
              <a:rPr lang="en-US" dirty="0"/>
            </a:br>
            <a:r>
              <a:rPr lang="en-US" dirty="0"/>
              <a:t>At the core, </a:t>
            </a:r>
            <a:r>
              <a:rPr lang="en-US" dirty="0" err="1"/>
              <a:t>CrewAI</a:t>
            </a:r>
            <a:r>
              <a:rPr lang="en-US" dirty="0"/>
              <a:t> provides an </a:t>
            </a:r>
            <a:r>
              <a:rPr lang="en-US" b="1" dirty="0"/>
              <a:t>open-source orchestration layer</a:t>
            </a:r>
            <a:r>
              <a:rPr lang="en-US" dirty="0"/>
              <a:t> that manages multiple agents — referred to as a ‘crew’.</a:t>
            </a:r>
            <a:br>
              <a:rPr lang="en-US" dirty="0"/>
            </a:br>
            <a:r>
              <a:rPr lang="en-US" dirty="0"/>
              <a:t>Think of it like a control room where every AI agent has a specific role, and the framework ensures they work together smoothly.</a:t>
            </a:r>
          </a:p>
          <a:p>
            <a:r>
              <a:rPr lang="en-US" b="1" dirty="0"/>
              <a:t>Collaborative Problem-Solving</a:t>
            </a:r>
            <a:br>
              <a:rPr lang="en-US" dirty="0"/>
            </a:br>
            <a:r>
              <a:rPr lang="en-US" dirty="0"/>
              <a:t>The framework supports </a:t>
            </a:r>
            <a:r>
              <a:rPr lang="en-US" b="1" dirty="0"/>
              <a:t>role-based collaboration</a:t>
            </a:r>
            <a:r>
              <a:rPr lang="en-US" dirty="0"/>
              <a:t>, meaning each agent can be assigned a different specialty — like a planner, researcher, or executor.</a:t>
            </a:r>
            <a:br>
              <a:rPr lang="en-US" dirty="0"/>
            </a:br>
            <a:r>
              <a:rPr lang="en-US" dirty="0"/>
              <a:t>This allows agents to </a:t>
            </a:r>
            <a:r>
              <a:rPr lang="en-US" b="1" dirty="0"/>
              <a:t>divide and conquer</a:t>
            </a:r>
            <a:r>
              <a:rPr lang="en-US" dirty="0"/>
              <a:t> tasks intelligently, just like a well-functioning team.</a:t>
            </a:r>
          </a:p>
          <a:p>
            <a:r>
              <a:rPr lang="en-US" b="1" dirty="0"/>
              <a:t>Task Management</a:t>
            </a:r>
            <a:br>
              <a:rPr lang="en-US" dirty="0"/>
            </a:br>
            <a:r>
              <a:rPr lang="en-US" dirty="0" err="1"/>
              <a:t>CrewAI</a:t>
            </a:r>
            <a:r>
              <a:rPr lang="en-US" dirty="0"/>
              <a:t> also includes </a:t>
            </a:r>
            <a:r>
              <a:rPr lang="en-US" b="1" dirty="0"/>
              <a:t>tools for defining and tracking tasks</a:t>
            </a:r>
            <a:r>
              <a:rPr lang="en-US" dirty="0"/>
              <a:t>.</a:t>
            </a:r>
            <a:br>
              <a:rPr lang="en-US" dirty="0"/>
            </a:br>
            <a:r>
              <a:rPr lang="en-US" dirty="0"/>
              <a:t>You can assign tasks to individual agents, monitor progress, and control the flow of information — enabling seamless execution across different agents.</a:t>
            </a:r>
          </a:p>
          <a:p>
            <a:r>
              <a:rPr lang="en-US" b="1" dirty="0"/>
              <a:t>Complex Applications</a:t>
            </a:r>
            <a:br>
              <a:rPr lang="en-US" dirty="0"/>
            </a:br>
            <a:r>
              <a:rPr lang="en-US" dirty="0"/>
              <a:t>This setup is ideal for </a:t>
            </a:r>
            <a:r>
              <a:rPr lang="en-US" b="1" dirty="0"/>
              <a:t>complex, multi-step AI applications</a:t>
            </a:r>
            <a:r>
              <a:rPr lang="en-US" dirty="0"/>
              <a:t> — from customer service automation to end-to-end content pipelines and decision support systems.</a:t>
            </a:r>
            <a:br>
              <a:rPr lang="en-US" dirty="0"/>
            </a:br>
            <a:r>
              <a:rPr lang="en-US" dirty="0"/>
              <a:t>If you're building an app that needs planning, generation, reasoning, and feedback, </a:t>
            </a:r>
            <a:r>
              <a:rPr lang="en-US" dirty="0" err="1"/>
              <a:t>CrewAI</a:t>
            </a:r>
            <a:r>
              <a:rPr lang="en-US" dirty="0"/>
              <a:t> can handle that entire lifecycle.</a:t>
            </a:r>
          </a:p>
          <a:p>
            <a:r>
              <a:rPr lang="en-US" dirty="0"/>
              <a:t>In short, </a:t>
            </a:r>
            <a:r>
              <a:rPr lang="en-US" dirty="0" err="1"/>
              <a:t>CrewAI</a:t>
            </a:r>
            <a:r>
              <a:rPr lang="en-US" dirty="0"/>
              <a:t> is designed not for single-agent tasks, but for </a:t>
            </a:r>
            <a:r>
              <a:rPr lang="en-US" b="1" dirty="0"/>
              <a:t>coordinated multi-agent missions</a:t>
            </a:r>
            <a:r>
              <a:rPr lang="en-US" dirty="0"/>
              <a:t> — where structure, collaboration, and oversight are critical."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pyramid represents the </a:t>
            </a:r>
            <a:r>
              <a:rPr lang="en-US" b="1" dirty="0"/>
              <a:t>four foundational principles</a:t>
            </a:r>
            <a:r>
              <a:rPr lang="en-US" dirty="0"/>
              <a:t> of effective multi-agent collaboration in systems like </a:t>
            </a:r>
            <a:r>
              <a:rPr lang="en-US" dirty="0" err="1"/>
              <a:t>CrewAI</a:t>
            </a:r>
            <a:r>
              <a:rPr lang="en-US" dirty="0"/>
              <a:t> or </a:t>
            </a:r>
            <a:r>
              <a:rPr lang="en-US" dirty="0" err="1"/>
              <a:t>AutoGen</a:t>
            </a:r>
            <a:r>
              <a:rPr lang="en-US" dirty="0"/>
              <a:t> Studio.</a:t>
            </a:r>
          </a:p>
          <a:p>
            <a:r>
              <a:rPr lang="en-US" dirty="0"/>
              <a:t>Let’s walk through each layer:</a:t>
            </a:r>
          </a:p>
          <a:p>
            <a:r>
              <a:rPr lang="en-US" b="1" dirty="0"/>
              <a:t>Knowledge Retention</a:t>
            </a:r>
            <a:r>
              <a:rPr lang="en-US" dirty="0"/>
              <a:t> </a:t>
            </a:r>
            <a:r>
              <a:rPr lang="en-US" i="1" dirty="0"/>
              <a:t>(Base Layer)</a:t>
            </a:r>
            <a:br>
              <a:rPr lang="en-US" dirty="0"/>
            </a:br>
            <a:r>
              <a:rPr lang="en-US" dirty="0"/>
              <a:t>At the foundation, we have </a:t>
            </a:r>
            <a:r>
              <a:rPr lang="en-US" b="1" dirty="0"/>
              <a:t>context and memory</a:t>
            </a:r>
            <a:r>
              <a:rPr lang="en-US" dirty="0"/>
              <a:t>.</a:t>
            </a:r>
            <a:br>
              <a:rPr lang="en-US" dirty="0"/>
            </a:br>
            <a:r>
              <a:rPr lang="en-US" dirty="0"/>
              <a:t>Agents must be able to </a:t>
            </a:r>
            <a:r>
              <a:rPr lang="en-US" b="1" dirty="0"/>
              <a:t>retain and share knowledge</a:t>
            </a:r>
            <a:r>
              <a:rPr lang="en-US" dirty="0"/>
              <a:t> across tasks.</a:t>
            </a:r>
            <a:br>
              <a:rPr lang="en-US" dirty="0"/>
            </a:br>
            <a:r>
              <a:rPr lang="en-US" dirty="0"/>
              <a:t>For example, if one agent collects data and another analyzes it, the context must carry over seamlessly.</a:t>
            </a:r>
          </a:p>
          <a:p>
            <a:r>
              <a:rPr lang="en-US" b="1" dirty="0"/>
              <a:t>Execution Flexibility</a:t>
            </a:r>
            <a:br>
              <a:rPr lang="en-US" dirty="0"/>
            </a:br>
            <a:r>
              <a:rPr lang="en-US" dirty="0"/>
              <a:t>Next, agents should be able to handle tasks </a:t>
            </a:r>
            <a:r>
              <a:rPr lang="en-US" b="1" dirty="0"/>
              <a:t>either sequentially or concurrently</a:t>
            </a:r>
            <a:r>
              <a:rPr lang="en-US" dirty="0"/>
              <a:t>.</a:t>
            </a:r>
            <a:br>
              <a:rPr lang="en-US" dirty="0"/>
            </a:br>
            <a:r>
              <a:rPr lang="en-US" dirty="0"/>
              <a:t>Some tasks may depend on others, while some can happen in parallel — this flexibility is key to efficiency and performance.</a:t>
            </a:r>
          </a:p>
          <a:p>
            <a:r>
              <a:rPr lang="en-US" b="1" dirty="0"/>
              <a:t>Task Delegation</a:t>
            </a:r>
            <a:br>
              <a:rPr lang="en-US" dirty="0"/>
            </a:br>
            <a:r>
              <a:rPr lang="en-US" dirty="0"/>
              <a:t>This is all about </a:t>
            </a:r>
            <a:r>
              <a:rPr lang="en-US" b="1" dirty="0"/>
              <a:t>coordination</a:t>
            </a:r>
            <a:r>
              <a:rPr lang="en-US" dirty="0"/>
              <a:t>.</a:t>
            </a:r>
            <a:br>
              <a:rPr lang="en-US" dirty="0"/>
            </a:br>
            <a:r>
              <a:rPr lang="en-US" dirty="0"/>
              <a:t>The system should be able to delegate the right task to the right agent at the right time — just like a smart project manager.</a:t>
            </a:r>
            <a:br>
              <a:rPr lang="en-US" dirty="0"/>
            </a:br>
            <a:r>
              <a:rPr lang="en-US" dirty="0"/>
              <a:t>It ensures no confusion, no overlap, and optimal productivity.</a:t>
            </a:r>
          </a:p>
          <a:p>
            <a:r>
              <a:rPr lang="en-US" b="1" dirty="0"/>
              <a:t>Tools and Expertise</a:t>
            </a:r>
            <a:r>
              <a:rPr lang="en-US" dirty="0"/>
              <a:t> </a:t>
            </a:r>
            <a:r>
              <a:rPr lang="en-US" i="1" dirty="0"/>
              <a:t>(Top Layer)</a:t>
            </a:r>
            <a:br>
              <a:rPr lang="en-US" dirty="0"/>
            </a:br>
            <a:r>
              <a:rPr lang="en-US" dirty="0"/>
              <a:t>Finally, at the top of the pyramid is </a:t>
            </a:r>
            <a:r>
              <a:rPr lang="en-US" b="1" dirty="0"/>
              <a:t>specialization</a:t>
            </a:r>
            <a:r>
              <a:rPr lang="en-US" dirty="0"/>
              <a:t>.</a:t>
            </a:r>
            <a:br>
              <a:rPr lang="en-US" dirty="0"/>
            </a:br>
            <a:r>
              <a:rPr lang="en-US" dirty="0"/>
              <a:t>Each agent should be equipped with the right tools, domain knowledge, and skills to perform its assigned function.</a:t>
            </a:r>
            <a:br>
              <a:rPr lang="en-US" dirty="0"/>
            </a:br>
            <a:r>
              <a:rPr lang="en-US" dirty="0"/>
              <a:t>This turns a group of agents into a high-functioning team.</a:t>
            </a:r>
          </a:p>
          <a:p>
            <a:r>
              <a:rPr lang="en-US" dirty="0"/>
              <a:t>Together, these layers form a </a:t>
            </a:r>
            <a:r>
              <a:rPr lang="en-US" b="1" dirty="0"/>
              <a:t>robust architecture for AI teamwork</a:t>
            </a:r>
            <a:r>
              <a:rPr lang="en-US" dirty="0"/>
              <a:t> — one where agents aren't just acting alone, but working together efficiently toward a common goal."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core components of </a:t>
            </a:r>
            <a:r>
              <a:rPr lang="en-US" b="1" dirty="0" err="1"/>
              <a:t>CrewAI's</a:t>
            </a:r>
            <a:r>
              <a:rPr lang="en-US" b="1" dirty="0"/>
              <a:t> architecture</a:t>
            </a:r>
            <a:r>
              <a:rPr lang="en-US" dirty="0"/>
              <a:t>, which is designed to orchestrate multiple intelligent agents working together.</a:t>
            </a:r>
          </a:p>
          <a:p>
            <a:r>
              <a:rPr lang="en-US" b="1" dirty="0"/>
              <a:t>Crew</a:t>
            </a:r>
            <a:br>
              <a:rPr lang="en-US" dirty="0"/>
            </a:br>
            <a:r>
              <a:rPr lang="en-US" dirty="0"/>
              <a:t>At the highest level, a </a:t>
            </a:r>
            <a:r>
              <a:rPr lang="en-US" b="1" dirty="0"/>
              <a:t>Crew</a:t>
            </a:r>
            <a:r>
              <a:rPr lang="en-US" dirty="0"/>
              <a:t> is a team of agents that collaborates toward a </a:t>
            </a:r>
            <a:r>
              <a:rPr lang="en-US" b="1" dirty="0"/>
              <a:t>shared objective</a:t>
            </a:r>
            <a:r>
              <a:rPr lang="en-US" dirty="0"/>
              <a:t>.</a:t>
            </a:r>
            <a:br>
              <a:rPr lang="en-US" dirty="0"/>
            </a:br>
            <a:r>
              <a:rPr lang="en-US" dirty="0"/>
              <a:t>Just like a human team, each member has a specific role, but they’re all aligned toward one final goal.</a:t>
            </a:r>
          </a:p>
          <a:p>
            <a:r>
              <a:rPr lang="en-US" b="1" dirty="0"/>
              <a:t>Agent</a:t>
            </a:r>
            <a:br>
              <a:rPr lang="en-US" dirty="0"/>
            </a:br>
            <a:r>
              <a:rPr lang="en-US" dirty="0"/>
              <a:t>An </a:t>
            </a:r>
            <a:r>
              <a:rPr lang="en-US" b="1" dirty="0"/>
              <a:t>Agent</a:t>
            </a:r>
            <a:r>
              <a:rPr lang="en-US" dirty="0"/>
              <a:t> is the individual unit within the crew.</a:t>
            </a:r>
            <a:br>
              <a:rPr lang="en-US" dirty="0"/>
            </a:br>
            <a:r>
              <a:rPr lang="en-US" dirty="0"/>
              <a:t>Each agent is equipped with specific </a:t>
            </a:r>
            <a:r>
              <a:rPr lang="en-US" b="1" dirty="0"/>
              <a:t>skills, knowledge, and tools</a:t>
            </a:r>
            <a:r>
              <a:rPr lang="en-US" dirty="0"/>
              <a:t> tailored to a certain task — like a researcher, analyst, or executor.</a:t>
            </a:r>
          </a:p>
          <a:p>
            <a:r>
              <a:rPr lang="en-US" b="1" dirty="0"/>
              <a:t>Task</a:t>
            </a:r>
            <a:br>
              <a:rPr lang="en-US" dirty="0"/>
            </a:br>
            <a:r>
              <a:rPr lang="en-US" dirty="0"/>
              <a:t>Tasks are the </a:t>
            </a:r>
            <a:r>
              <a:rPr lang="en-US" b="1" dirty="0"/>
              <a:t>assignments given to agents</a:t>
            </a:r>
            <a:r>
              <a:rPr lang="en-US" dirty="0"/>
              <a:t>.</a:t>
            </a:r>
            <a:br>
              <a:rPr lang="en-US" dirty="0"/>
            </a:br>
            <a:r>
              <a:rPr lang="en-US" dirty="0"/>
              <a:t>Every agent in the crew receives a defined task to perform — whether it's fetching information, generating content, or making decisions.</a:t>
            </a:r>
            <a:br>
              <a:rPr lang="en-US" dirty="0"/>
            </a:br>
            <a:r>
              <a:rPr lang="en-US" dirty="0"/>
              <a:t>This structure ensures clear responsibilities and minimizes overlap.</a:t>
            </a:r>
          </a:p>
          <a:p>
            <a:r>
              <a:rPr lang="en-US" b="1" dirty="0"/>
              <a:t>Tools</a:t>
            </a:r>
            <a:br>
              <a:rPr lang="en-US" dirty="0"/>
            </a:br>
            <a:r>
              <a:rPr lang="en-US" dirty="0"/>
              <a:t>Agents don’t work alone — they use </a:t>
            </a:r>
            <a:r>
              <a:rPr lang="en-US" b="1" dirty="0"/>
              <a:t>external tools</a:t>
            </a:r>
            <a:r>
              <a:rPr lang="en-US" dirty="0"/>
              <a:t> like APIs, databases, file systems, or search engines.</a:t>
            </a:r>
            <a:br>
              <a:rPr lang="en-US" dirty="0"/>
            </a:br>
            <a:r>
              <a:rPr lang="en-US" dirty="0"/>
              <a:t>These tools empower agents to act, fetch data, or even trigger actions in the real world.</a:t>
            </a:r>
          </a:p>
          <a:p>
            <a:r>
              <a:rPr lang="en-US" dirty="0"/>
              <a:t>Altogether, this architecture is designed to support </a:t>
            </a:r>
            <a:r>
              <a:rPr lang="en-US" b="1" dirty="0"/>
              <a:t>modular, scalable, and intelligent teamwork</a:t>
            </a:r>
            <a:r>
              <a:rPr lang="en-US" dirty="0"/>
              <a:t> between AI agents.</a:t>
            </a:r>
            <a:br>
              <a:rPr lang="en-US" dirty="0"/>
            </a:br>
            <a:r>
              <a:rPr lang="en-US" dirty="0"/>
              <a:t>And the best part? It’s open-source and adaptable — you can create a crew for almost any workflow."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us through the </a:t>
            </a:r>
            <a:r>
              <a:rPr lang="en-US" b="1" dirty="0"/>
              <a:t>step-by-step execution process in </a:t>
            </a:r>
            <a:r>
              <a:rPr lang="en-US" b="1" dirty="0" err="1"/>
              <a:t>CrewAI</a:t>
            </a:r>
            <a:r>
              <a:rPr lang="en-US" dirty="0"/>
              <a:t>, from agent setup to the final result.</a:t>
            </a:r>
          </a:p>
          <a:p>
            <a:r>
              <a:rPr lang="en-US" b="1" dirty="0"/>
              <a:t>Define Agents</a:t>
            </a:r>
            <a:br>
              <a:rPr lang="en-US" dirty="0"/>
            </a:br>
            <a:r>
              <a:rPr lang="en-US" dirty="0"/>
              <a:t>First, we begin by </a:t>
            </a:r>
            <a:r>
              <a:rPr lang="en-US" b="1" dirty="0"/>
              <a:t>defining each agent</a:t>
            </a:r>
            <a:r>
              <a:rPr lang="en-US" dirty="0"/>
              <a:t> in the crew.</a:t>
            </a:r>
            <a:br>
              <a:rPr lang="en-US" dirty="0"/>
            </a:br>
            <a:r>
              <a:rPr lang="en-US" dirty="0"/>
              <a:t>We assign them </a:t>
            </a:r>
            <a:r>
              <a:rPr lang="en-US" b="1" dirty="0"/>
              <a:t>specific roles, skills, and tools</a:t>
            </a:r>
            <a:r>
              <a:rPr lang="en-US" dirty="0"/>
              <a:t> based on what we want them to do — for example, a data collector, a summarizer, or a visualizer.</a:t>
            </a:r>
            <a:br>
              <a:rPr lang="en-US" dirty="0"/>
            </a:br>
            <a:r>
              <a:rPr lang="en-US" dirty="0"/>
              <a:t>Just like forming a team, each member has a job they’re best suited for.</a:t>
            </a:r>
          </a:p>
          <a:p>
            <a:r>
              <a:rPr lang="en-US" b="1" dirty="0"/>
              <a:t>Assign Tasks</a:t>
            </a:r>
            <a:br>
              <a:rPr lang="en-US" dirty="0"/>
            </a:br>
            <a:r>
              <a:rPr lang="en-US" dirty="0"/>
              <a:t>Next, we </a:t>
            </a:r>
            <a:r>
              <a:rPr lang="en-US" b="1" dirty="0"/>
              <a:t>assign tasks</a:t>
            </a:r>
            <a:r>
              <a:rPr lang="en-US" dirty="0"/>
              <a:t> to these agents.</a:t>
            </a:r>
            <a:br>
              <a:rPr lang="en-US" dirty="0"/>
            </a:br>
            <a:r>
              <a:rPr lang="en-US" dirty="0"/>
              <a:t>Each task is tied to a clear and measurable goal, ensuring agents know exactly what’s expected of them.</a:t>
            </a:r>
            <a:br>
              <a:rPr lang="en-US" dirty="0"/>
            </a:br>
            <a:r>
              <a:rPr lang="en-US" dirty="0"/>
              <a:t>This step removes ambiguity and keeps the workflow aligned with the overall objective.</a:t>
            </a:r>
          </a:p>
          <a:p>
            <a:r>
              <a:rPr lang="en-US" b="1" dirty="0"/>
              <a:t>Crew Executes</a:t>
            </a:r>
            <a:br>
              <a:rPr lang="en-US" dirty="0"/>
            </a:br>
            <a:r>
              <a:rPr lang="en-US" dirty="0"/>
              <a:t>Once the tasks are defined, the </a:t>
            </a:r>
            <a:r>
              <a:rPr lang="en-US" b="1" dirty="0"/>
              <a:t>agents begin collaborating dynamically</a:t>
            </a:r>
            <a:r>
              <a:rPr lang="en-US" dirty="0"/>
              <a:t> using their built-in logic and advanced LLMs.</a:t>
            </a:r>
            <a:br>
              <a:rPr lang="en-US" dirty="0"/>
            </a:br>
            <a:r>
              <a:rPr lang="en-US" dirty="0"/>
              <a:t>This is where the magic happens — agents communicate, delegate sub-tasks, and work in sync just like a real team would.</a:t>
            </a:r>
          </a:p>
          <a:p>
            <a:r>
              <a:rPr lang="en-US" b="1" dirty="0"/>
              <a:t>Final Output</a:t>
            </a:r>
            <a:br>
              <a:rPr lang="en-US" dirty="0"/>
            </a:br>
            <a:r>
              <a:rPr lang="en-US" dirty="0"/>
              <a:t>At the end, you receive a </a:t>
            </a:r>
            <a:r>
              <a:rPr lang="en-US" b="1" dirty="0"/>
              <a:t>unified, high-quality output</a:t>
            </a:r>
            <a:r>
              <a:rPr lang="en-US" dirty="0"/>
              <a:t>.</a:t>
            </a:r>
            <a:br>
              <a:rPr lang="en-US" dirty="0"/>
            </a:br>
            <a:r>
              <a:rPr lang="en-US" dirty="0"/>
              <a:t>All individual results from agents are aggregated into a cohesive final product — whether it’s a report, insight, or decision.</a:t>
            </a:r>
          </a:p>
          <a:p>
            <a:r>
              <a:rPr lang="en-US" dirty="0"/>
              <a:t>This streamlined flow makes it easy to go from an idea to a working, intelligent system powered by multiple agents."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Claude, an AI assistant by Anthropic, works.</a:t>
            </a:r>
          </a:p>
          <a:p>
            <a:r>
              <a:rPr lang="en-US" dirty="0"/>
              <a:t>In this example, the user asks Claude to </a:t>
            </a:r>
            <a:r>
              <a:rPr lang="en-US" i="1" dirty="0"/>
              <a:t>summarize a report</a:t>
            </a:r>
            <a:r>
              <a:rPr lang="en-US" dirty="0"/>
              <a:t>. Claude reads the content and gives a short, clear response: </a:t>
            </a:r>
            <a:r>
              <a:rPr lang="en-US" i="1" dirty="0"/>
              <a:t>'The report outlines a 12% growth in revenue.'</a:t>
            </a:r>
            <a:endParaRPr lang="en-US" dirty="0"/>
          </a:p>
          <a:p>
            <a:r>
              <a:rPr lang="en-US" dirty="0"/>
              <a:t>Claude is designed to be helpful, honest, and safe. It’s trained to follow rules and give thoughtful answers, even for complex tasks like summarizing or explaining information.</a:t>
            </a:r>
          </a:p>
          <a:p>
            <a:r>
              <a:rPr lang="en-US" dirty="0"/>
              <a:t>So, while it may look like a normal chatbot, Claude actually understands large amounts of information and gives reliable, well-written answers—quickly and clearly."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a:t>
            </a:r>
          </a:p>
          <a:p>
            <a:r>
              <a:rPr lang="en-US" dirty="0"/>
              <a:t>AI agents are no longer just responsive bots. They’re becoming </a:t>
            </a:r>
            <a:r>
              <a:rPr lang="en-US" b="1" dirty="0"/>
              <a:t>autonomous, adaptive systems</a:t>
            </a:r>
            <a:r>
              <a:rPr lang="en-US" dirty="0"/>
              <a:t> capable of reasoning, learning, and collaborating.</a:t>
            </a:r>
          </a:p>
          <a:p>
            <a:r>
              <a:rPr lang="en-US" dirty="0"/>
              <a:t>Frameworks like </a:t>
            </a:r>
            <a:r>
              <a:rPr lang="en-US" dirty="0" err="1"/>
              <a:t>LangChain</a:t>
            </a:r>
            <a:r>
              <a:rPr lang="en-US" dirty="0"/>
              <a:t>, </a:t>
            </a:r>
            <a:r>
              <a:rPr lang="en-US" dirty="0" err="1"/>
              <a:t>DSPy</a:t>
            </a:r>
            <a:r>
              <a:rPr lang="en-US" dirty="0"/>
              <a:t>, </a:t>
            </a:r>
            <a:r>
              <a:rPr lang="en-US" dirty="0" err="1"/>
              <a:t>AutoGen</a:t>
            </a:r>
            <a:r>
              <a:rPr lang="en-US" dirty="0"/>
              <a:t> Studio, </a:t>
            </a:r>
            <a:r>
              <a:rPr lang="en-US" dirty="0" err="1"/>
              <a:t>AutoAgent</a:t>
            </a:r>
            <a:r>
              <a:rPr lang="en-US" dirty="0"/>
              <a:t>, and </a:t>
            </a:r>
            <a:r>
              <a:rPr lang="en-US" dirty="0" err="1"/>
              <a:t>CrewAI</a:t>
            </a:r>
            <a:r>
              <a:rPr lang="en-US" dirty="0"/>
              <a:t> are </a:t>
            </a:r>
            <a:r>
              <a:rPr lang="en-US" b="1" dirty="0"/>
              <a:t>critical enablers</a:t>
            </a:r>
            <a:r>
              <a:rPr lang="en-US" dirty="0"/>
              <a:t>—they allow us to build smart agents without reinventing the wheel.</a:t>
            </a:r>
          </a:p>
          <a:p>
            <a:r>
              <a:rPr lang="en-US" dirty="0"/>
              <a:t>The future lies in:</a:t>
            </a:r>
          </a:p>
          <a:p>
            <a:r>
              <a:rPr lang="en-US" b="1" dirty="0"/>
              <a:t>Multi-agent collaboration</a:t>
            </a:r>
            <a:r>
              <a:rPr lang="en-US" dirty="0"/>
              <a:t>,</a:t>
            </a:r>
          </a:p>
          <a:p>
            <a:r>
              <a:rPr lang="en-US" b="1" dirty="0"/>
              <a:t>Continuous self-improvement</a:t>
            </a:r>
            <a:r>
              <a:rPr lang="en-US" dirty="0"/>
              <a:t>,</a:t>
            </a:r>
          </a:p>
          <a:p>
            <a:r>
              <a:rPr lang="en-US" dirty="0"/>
              <a:t>And frameworks that are easy to use, yet extremely powerful.</a:t>
            </a:r>
          </a:p>
          <a:p>
            <a:r>
              <a:rPr lang="en-US" dirty="0"/>
              <a:t>Thank you so much for your time and attention. I’m happy to take any questions you may have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2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295" y="-1"/>
            <a:ext cx="5556695" cy="8335043"/>
          </a:xfrm>
          <a:prstGeom prst="rect">
            <a:avLst/>
          </a:prstGeom>
        </p:spPr>
      </p:pic>
      <p:sp>
        <p:nvSpPr>
          <p:cNvPr id="3" name="Text 0"/>
          <p:cNvSpPr/>
          <p:nvPr/>
        </p:nvSpPr>
        <p:spPr>
          <a:xfrm>
            <a:off x="5701553" y="3538669"/>
            <a:ext cx="8971878" cy="1155669"/>
          </a:xfrm>
          <a:prstGeom prst="rect">
            <a:avLst/>
          </a:prstGeom>
          <a:noFill/>
          <a:ln/>
        </p:spPr>
        <p:txBody>
          <a:bodyPr wrap="square" lIns="0" tIns="0" rIns="0" bIns="0" rtlCol="0" anchor="t"/>
          <a:lstStyle/>
          <a:p>
            <a:pPr marL="0" indent="0" algn="l">
              <a:lnSpc>
                <a:spcPts val="5550"/>
              </a:lnSpc>
              <a:buNone/>
            </a:pPr>
            <a:r>
              <a:rPr lang="en-US" sz="2800" b="1" i="1" dirty="0">
                <a:solidFill>
                  <a:srgbClr val="000000"/>
                </a:solidFill>
                <a:latin typeface="Inter Bold" pitchFamily="34" charset="0"/>
                <a:ea typeface="Inter Bold" pitchFamily="34" charset="-122"/>
                <a:cs typeface="Inter Bold" pitchFamily="34" charset="-120"/>
              </a:rPr>
              <a:t>Agents and Frameworks: The Future of AI Systems</a:t>
            </a:r>
            <a:endParaRPr lang="en-US" sz="2800" i="1" dirty="0"/>
          </a:p>
        </p:txBody>
      </p:sp>
      <p:sp>
        <p:nvSpPr>
          <p:cNvPr id="4" name="Text 1"/>
          <p:cNvSpPr/>
          <p:nvPr/>
        </p:nvSpPr>
        <p:spPr>
          <a:xfrm>
            <a:off x="6183372" y="3904893"/>
            <a:ext cx="7653239" cy="177514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5" name="Rectangle 4">
            <a:extLst>
              <a:ext uri="{FF2B5EF4-FFF2-40B4-BE49-F238E27FC236}">
                <a16:creationId xmlns:a16="http://schemas.microsoft.com/office/drawing/2014/main" id="{16DC3B82-B1F4-4796-BA31-1440C7617944}"/>
              </a:ext>
            </a:extLst>
          </p:cNvPr>
          <p:cNvSpPr/>
          <p:nvPr/>
        </p:nvSpPr>
        <p:spPr>
          <a:xfrm>
            <a:off x="12368431" y="7691207"/>
            <a:ext cx="2305000" cy="538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193DBA37-58AD-44B0-845A-A9DBEE78D2C6}"/>
              </a:ext>
            </a:extLst>
          </p:cNvPr>
          <p:cNvSpPr txBox="1"/>
          <p:nvPr/>
        </p:nvSpPr>
        <p:spPr>
          <a:xfrm>
            <a:off x="5701553" y="2519600"/>
            <a:ext cx="5090495" cy="1015663"/>
          </a:xfrm>
          <a:prstGeom prst="rect">
            <a:avLst/>
          </a:prstGeom>
          <a:noFill/>
        </p:spPr>
        <p:txBody>
          <a:bodyPr wrap="square" rtlCol="0">
            <a:spAutoFit/>
          </a:bodyPr>
          <a:lstStyle/>
          <a:p>
            <a:r>
              <a:rPr lang="en-IN" sz="6000" b="1" dirty="0"/>
              <a:t>Milestone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912025"/>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Project Members</a:t>
            </a:r>
            <a:endParaRPr lang="en-US" sz="4450" dirty="0"/>
          </a:p>
        </p:txBody>
      </p:sp>
      <p:sp>
        <p:nvSpPr>
          <p:cNvPr id="4" name="Text 1"/>
          <p:cNvSpPr/>
          <p:nvPr/>
        </p:nvSpPr>
        <p:spPr>
          <a:xfrm>
            <a:off x="793790" y="3165038"/>
            <a:ext cx="2149554"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ea typeface="Inter" pitchFamily="34" charset="-122"/>
                <a:cs typeface="Inter" pitchFamily="34" charset="-120"/>
              </a:rPr>
              <a:t>Yorbis Daniel Alarcon Rojas : C0941168</a:t>
            </a:r>
            <a:endParaRPr lang="en-US" sz="1750" dirty="0"/>
          </a:p>
        </p:txBody>
      </p:sp>
      <p:sp>
        <p:nvSpPr>
          <p:cNvPr id="5" name="Text 2"/>
          <p:cNvSpPr/>
          <p:nvPr/>
        </p:nvSpPr>
        <p:spPr>
          <a:xfrm>
            <a:off x="793790" y="4072174"/>
            <a:ext cx="2149554"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ea typeface="Inter" pitchFamily="34" charset="-122"/>
                <a:cs typeface="Inter" pitchFamily="34" charset="-120"/>
              </a:rPr>
              <a:t>Gustavo Vera Suarez : C0917164</a:t>
            </a:r>
            <a:endParaRPr lang="en-US" sz="1750" dirty="0"/>
          </a:p>
        </p:txBody>
      </p:sp>
      <p:sp>
        <p:nvSpPr>
          <p:cNvPr id="6" name="Text 3"/>
          <p:cNvSpPr/>
          <p:nvPr/>
        </p:nvSpPr>
        <p:spPr>
          <a:xfrm>
            <a:off x="793790" y="5022275"/>
            <a:ext cx="2149554"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ea typeface="Inter" pitchFamily="34" charset="-122"/>
                <a:cs typeface="Inter" pitchFamily="34" charset="-120"/>
              </a:rPr>
              <a:t>Mahek Ghanchi : C0937254</a:t>
            </a:r>
            <a:endParaRPr lang="en-US" sz="1750" dirty="0"/>
          </a:p>
        </p:txBody>
      </p:sp>
      <p:sp>
        <p:nvSpPr>
          <p:cNvPr id="7" name="Text 4"/>
          <p:cNvSpPr/>
          <p:nvPr/>
        </p:nvSpPr>
        <p:spPr>
          <a:xfrm>
            <a:off x="3504367" y="3165038"/>
            <a:ext cx="2149554"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ea typeface="Inter" pitchFamily="34" charset="-122"/>
                <a:cs typeface="Inter" pitchFamily="34" charset="-120"/>
              </a:rPr>
              <a:t>Krunal Patel : C0936008</a:t>
            </a:r>
            <a:endParaRPr lang="en-US" sz="1750" dirty="0"/>
          </a:p>
        </p:txBody>
      </p:sp>
      <p:sp>
        <p:nvSpPr>
          <p:cNvPr id="8" name="Text 5"/>
          <p:cNvSpPr/>
          <p:nvPr/>
        </p:nvSpPr>
        <p:spPr>
          <a:xfrm>
            <a:off x="3504367" y="4094917"/>
            <a:ext cx="2149554"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ea typeface="Inter" pitchFamily="34" charset="-122"/>
                <a:cs typeface="Inter" pitchFamily="34" charset="-120"/>
              </a:rPr>
              <a:t>Het Patel : </a:t>
            </a:r>
          </a:p>
          <a:p>
            <a:pPr marL="0" indent="0" algn="l">
              <a:lnSpc>
                <a:spcPts val="2850"/>
              </a:lnSpc>
              <a:buNone/>
            </a:pPr>
            <a:r>
              <a:rPr lang="en-US" sz="1750" b="1" dirty="0">
                <a:solidFill>
                  <a:srgbClr val="272525"/>
                </a:solidFill>
                <a:ea typeface="Inter" pitchFamily="34" charset="-122"/>
                <a:cs typeface="Inter" pitchFamily="34" charset="-120"/>
              </a:rPr>
              <a:t>C0933081</a:t>
            </a:r>
            <a:endParaRPr lang="en-US" sz="1750" dirty="0"/>
          </a:p>
        </p:txBody>
      </p:sp>
      <p:sp>
        <p:nvSpPr>
          <p:cNvPr id="9" name="Text 6"/>
          <p:cNvSpPr/>
          <p:nvPr/>
        </p:nvSpPr>
        <p:spPr>
          <a:xfrm>
            <a:off x="3504367" y="5024795"/>
            <a:ext cx="2149554"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ea typeface="Inter" pitchFamily="34" charset="-122"/>
                <a:cs typeface="Inter" pitchFamily="34" charset="-120"/>
              </a:rPr>
              <a:t>Kamali Patel : C0933954</a:t>
            </a:r>
            <a:endParaRPr lang="en-US" sz="1750" dirty="0"/>
          </a:p>
        </p:txBody>
      </p:sp>
      <p:sp>
        <p:nvSpPr>
          <p:cNvPr id="10" name="Text 7"/>
          <p:cNvSpPr/>
          <p:nvPr/>
        </p:nvSpPr>
        <p:spPr>
          <a:xfrm>
            <a:off x="6214943" y="3165038"/>
            <a:ext cx="2149554" cy="725805"/>
          </a:xfrm>
          <a:prstGeom prst="rect">
            <a:avLst/>
          </a:prstGeom>
          <a:noFill/>
          <a:ln/>
        </p:spPr>
        <p:txBody>
          <a:bodyPr wrap="square" lIns="0" tIns="0" rIns="0" bIns="0" rtlCol="0" anchor="t"/>
          <a:lstStyle/>
          <a:p>
            <a:pPr marL="0" indent="0" algn="l">
              <a:lnSpc>
                <a:spcPts val="2850"/>
              </a:lnSpc>
              <a:buNone/>
            </a:pPr>
            <a:r>
              <a:rPr lang="en-US" sz="1750" b="1">
                <a:solidFill>
                  <a:srgbClr val="272525"/>
                </a:solidFill>
                <a:ea typeface="Inter" pitchFamily="34" charset="-122"/>
                <a:cs typeface="Inter" pitchFamily="34" charset="-120"/>
              </a:rPr>
              <a:t>Ridham</a:t>
            </a:r>
            <a:r>
              <a:rPr lang="en-US" sz="1750" b="1" dirty="0">
                <a:solidFill>
                  <a:srgbClr val="272525"/>
                </a:solidFill>
                <a:ea typeface="Inter" pitchFamily="34" charset="-122"/>
                <a:cs typeface="Inter" pitchFamily="34" charset="-120"/>
              </a:rPr>
              <a:t> Patel : C0935656</a:t>
            </a:r>
            <a:endParaRPr lang="en-US" sz="1750" dirty="0"/>
          </a:p>
        </p:txBody>
      </p:sp>
      <p:sp>
        <p:nvSpPr>
          <p:cNvPr id="11" name="Text 8"/>
          <p:cNvSpPr/>
          <p:nvPr/>
        </p:nvSpPr>
        <p:spPr>
          <a:xfrm>
            <a:off x="6214943" y="4094917"/>
            <a:ext cx="2149554"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ea typeface="Inter" pitchFamily="34" charset="-122"/>
                <a:cs typeface="Inter" pitchFamily="34" charset="-120"/>
              </a:rPr>
              <a:t>Komal Nandal : C0938518</a:t>
            </a:r>
            <a:endParaRPr lang="en-US" sz="1750" dirty="0"/>
          </a:p>
        </p:txBody>
      </p:sp>
      <p:sp>
        <p:nvSpPr>
          <p:cNvPr id="12" name="Text 9"/>
          <p:cNvSpPr/>
          <p:nvPr/>
        </p:nvSpPr>
        <p:spPr>
          <a:xfrm>
            <a:off x="6214943" y="5024795"/>
            <a:ext cx="2149554"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ea typeface="Inter" pitchFamily="34" charset="-122"/>
                <a:cs typeface="Inter" pitchFamily="34" charset="-120"/>
              </a:rPr>
              <a:t>Sang sun Lee : C0905412</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90506"/>
            <a:ext cx="11136392"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Defining AI Agents: Perception to Action</a:t>
            </a:r>
            <a:endParaRPr lang="en-US" sz="4450" dirty="0"/>
          </a:p>
        </p:txBody>
      </p:sp>
      <p:sp>
        <p:nvSpPr>
          <p:cNvPr id="3" name="Text 1"/>
          <p:cNvSpPr/>
          <p:nvPr/>
        </p:nvSpPr>
        <p:spPr>
          <a:xfrm>
            <a:off x="793790" y="235291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AI agents are autonomous entities capable of intelligent behavior. They operate through a core cycle of perception, reasoning, and action.</a:t>
            </a:r>
            <a:endParaRPr lang="en-US" sz="1750" dirty="0"/>
          </a:p>
        </p:txBody>
      </p:sp>
      <p:sp>
        <p:nvSpPr>
          <p:cNvPr id="4" name="Shape 2"/>
          <p:cNvSpPr/>
          <p:nvPr/>
        </p:nvSpPr>
        <p:spPr>
          <a:xfrm>
            <a:off x="793790" y="3333869"/>
            <a:ext cx="13042821" cy="3705225"/>
          </a:xfrm>
          <a:prstGeom prst="roundRect">
            <a:avLst>
              <a:gd name="adj" fmla="val 2571"/>
            </a:avLst>
          </a:prstGeom>
          <a:noFill/>
          <a:ln w="7620">
            <a:solidFill>
              <a:srgbClr val="000000">
                <a:alpha val="8000"/>
              </a:srgbClr>
            </a:solidFill>
            <a:prstDash val="solid"/>
          </a:ln>
        </p:spPr>
      </p:sp>
      <p:sp>
        <p:nvSpPr>
          <p:cNvPr id="5" name="Shape 3"/>
          <p:cNvSpPr/>
          <p:nvPr/>
        </p:nvSpPr>
        <p:spPr>
          <a:xfrm>
            <a:off x="801410" y="3341489"/>
            <a:ext cx="13026271" cy="650319"/>
          </a:xfrm>
          <a:prstGeom prst="rect">
            <a:avLst/>
          </a:prstGeom>
          <a:solidFill>
            <a:srgbClr val="FFFFFF">
              <a:alpha val="4000"/>
            </a:srgbClr>
          </a:solidFill>
          <a:ln/>
        </p:spPr>
      </p:sp>
      <p:sp>
        <p:nvSpPr>
          <p:cNvPr id="6" name="Text 4"/>
          <p:cNvSpPr/>
          <p:nvPr/>
        </p:nvSpPr>
        <p:spPr>
          <a:xfrm>
            <a:off x="1029653" y="348519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Component</a:t>
            </a:r>
            <a:endParaRPr lang="en-US" sz="1750" dirty="0"/>
          </a:p>
        </p:txBody>
      </p:sp>
      <p:sp>
        <p:nvSpPr>
          <p:cNvPr id="7" name="Text 5"/>
          <p:cNvSpPr/>
          <p:nvPr/>
        </p:nvSpPr>
        <p:spPr>
          <a:xfrm>
            <a:off x="5375077" y="3485198"/>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Description</a:t>
            </a:r>
            <a:endParaRPr lang="en-US" sz="1750" dirty="0"/>
          </a:p>
        </p:txBody>
      </p:sp>
      <p:sp>
        <p:nvSpPr>
          <p:cNvPr id="8" name="Text 6"/>
          <p:cNvSpPr/>
          <p:nvPr/>
        </p:nvSpPr>
        <p:spPr>
          <a:xfrm>
            <a:off x="9716691" y="348519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Key Function</a:t>
            </a:r>
            <a:endParaRPr lang="en-US" sz="1750" dirty="0"/>
          </a:p>
        </p:txBody>
      </p:sp>
      <p:sp>
        <p:nvSpPr>
          <p:cNvPr id="9" name="Shape 7"/>
          <p:cNvSpPr/>
          <p:nvPr/>
        </p:nvSpPr>
        <p:spPr>
          <a:xfrm>
            <a:off x="801410" y="3991808"/>
            <a:ext cx="13026271" cy="1013222"/>
          </a:xfrm>
          <a:prstGeom prst="rect">
            <a:avLst/>
          </a:prstGeom>
          <a:solidFill>
            <a:srgbClr val="000000">
              <a:alpha val="4000"/>
            </a:srgbClr>
          </a:solidFill>
          <a:ln/>
        </p:spPr>
      </p:sp>
      <p:sp>
        <p:nvSpPr>
          <p:cNvPr id="10" name="Text 8"/>
          <p:cNvSpPr/>
          <p:nvPr/>
        </p:nvSpPr>
        <p:spPr>
          <a:xfrm>
            <a:off x="1029653" y="413551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Perception</a:t>
            </a:r>
            <a:endParaRPr lang="en-US" sz="1750" dirty="0"/>
          </a:p>
        </p:txBody>
      </p:sp>
      <p:sp>
        <p:nvSpPr>
          <p:cNvPr id="11" name="Text 9"/>
          <p:cNvSpPr/>
          <p:nvPr/>
        </p:nvSpPr>
        <p:spPr>
          <a:xfrm>
            <a:off x="5375077" y="4135517"/>
            <a:ext cx="388036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Agents gather data from their environment.</a:t>
            </a:r>
            <a:endParaRPr lang="en-US" sz="1750" dirty="0"/>
          </a:p>
        </p:txBody>
      </p:sp>
      <p:sp>
        <p:nvSpPr>
          <p:cNvPr id="12" name="Text 10"/>
          <p:cNvSpPr/>
          <p:nvPr/>
        </p:nvSpPr>
        <p:spPr>
          <a:xfrm>
            <a:off x="9716691" y="413551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Interpreting diverse inputs.</a:t>
            </a:r>
            <a:endParaRPr lang="en-US" sz="1750" dirty="0"/>
          </a:p>
        </p:txBody>
      </p:sp>
      <p:sp>
        <p:nvSpPr>
          <p:cNvPr id="13" name="Shape 11"/>
          <p:cNvSpPr/>
          <p:nvPr/>
        </p:nvSpPr>
        <p:spPr>
          <a:xfrm>
            <a:off x="801410" y="5005030"/>
            <a:ext cx="13026271" cy="1013222"/>
          </a:xfrm>
          <a:prstGeom prst="rect">
            <a:avLst/>
          </a:prstGeom>
          <a:solidFill>
            <a:srgbClr val="FFFFFF">
              <a:alpha val="4000"/>
            </a:srgbClr>
          </a:solidFill>
          <a:ln/>
        </p:spPr>
      </p:sp>
      <p:sp>
        <p:nvSpPr>
          <p:cNvPr id="14" name="Text 12"/>
          <p:cNvSpPr/>
          <p:nvPr/>
        </p:nvSpPr>
        <p:spPr>
          <a:xfrm>
            <a:off x="1029653" y="5148739"/>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Reasoning</a:t>
            </a:r>
            <a:endParaRPr lang="en-US" sz="1750" dirty="0"/>
          </a:p>
        </p:txBody>
      </p:sp>
      <p:sp>
        <p:nvSpPr>
          <p:cNvPr id="15" name="Text 13"/>
          <p:cNvSpPr/>
          <p:nvPr/>
        </p:nvSpPr>
        <p:spPr>
          <a:xfrm>
            <a:off x="5375077" y="5148739"/>
            <a:ext cx="388036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They process information to make decisions.</a:t>
            </a:r>
            <a:endParaRPr lang="en-US" sz="1750" dirty="0"/>
          </a:p>
        </p:txBody>
      </p:sp>
      <p:sp>
        <p:nvSpPr>
          <p:cNvPr id="16" name="Text 14"/>
          <p:cNvSpPr/>
          <p:nvPr/>
        </p:nvSpPr>
        <p:spPr>
          <a:xfrm>
            <a:off x="9716691" y="5148739"/>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Planning and problem-solving.</a:t>
            </a:r>
            <a:endParaRPr lang="en-US" sz="1750" dirty="0"/>
          </a:p>
        </p:txBody>
      </p:sp>
      <p:sp>
        <p:nvSpPr>
          <p:cNvPr id="17" name="Shape 15"/>
          <p:cNvSpPr/>
          <p:nvPr/>
        </p:nvSpPr>
        <p:spPr>
          <a:xfrm>
            <a:off x="801410" y="6018252"/>
            <a:ext cx="13026271" cy="1013222"/>
          </a:xfrm>
          <a:prstGeom prst="rect">
            <a:avLst/>
          </a:prstGeom>
          <a:solidFill>
            <a:srgbClr val="000000">
              <a:alpha val="4000"/>
            </a:srgbClr>
          </a:solidFill>
          <a:ln/>
        </p:spPr>
      </p:sp>
      <p:sp>
        <p:nvSpPr>
          <p:cNvPr id="18" name="Text 16"/>
          <p:cNvSpPr/>
          <p:nvPr/>
        </p:nvSpPr>
        <p:spPr>
          <a:xfrm>
            <a:off x="1029653" y="6161961"/>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Action</a:t>
            </a:r>
            <a:endParaRPr lang="en-US" sz="1750" dirty="0"/>
          </a:p>
        </p:txBody>
      </p:sp>
      <p:sp>
        <p:nvSpPr>
          <p:cNvPr id="19" name="Text 17"/>
          <p:cNvSpPr/>
          <p:nvPr/>
        </p:nvSpPr>
        <p:spPr>
          <a:xfrm>
            <a:off x="5375077" y="6161961"/>
            <a:ext cx="388036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Agents then execute chosen responses.</a:t>
            </a:r>
            <a:endParaRPr lang="en-US" sz="1750" dirty="0"/>
          </a:p>
        </p:txBody>
      </p:sp>
      <p:sp>
        <p:nvSpPr>
          <p:cNvPr id="20" name="Text 18"/>
          <p:cNvSpPr/>
          <p:nvPr/>
        </p:nvSpPr>
        <p:spPr>
          <a:xfrm>
            <a:off x="9716691" y="6161961"/>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Generating outputs or commands.</a:t>
            </a:r>
            <a:endParaRPr lang="en-US" sz="1750" dirty="0"/>
          </a:p>
        </p:txBody>
      </p:sp>
      <p:sp>
        <p:nvSpPr>
          <p:cNvPr id="21" name="Rectangle 20">
            <a:extLst>
              <a:ext uri="{FF2B5EF4-FFF2-40B4-BE49-F238E27FC236}">
                <a16:creationId xmlns:a16="http://schemas.microsoft.com/office/drawing/2014/main" id="{03DB0114-3E1E-49FD-AB32-519A0C87B104}"/>
              </a:ext>
            </a:extLst>
          </p:cNvPr>
          <p:cNvSpPr/>
          <p:nvPr/>
        </p:nvSpPr>
        <p:spPr>
          <a:xfrm>
            <a:off x="12659360" y="7630160"/>
            <a:ext cx="1971040" cy="599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4725" y="774263"/>
            <a:ext cx="9186029" cy="584597"/>
          </a:xfrm>
          <a:prstGeom prst="rect">
            <a:avLst/>
          </a:prstGeom>
          <a:noFill/>
          <a:ln/>
        </p:spPr>
        <p:txBody>
          <a:bodyPr wrap="none" lIns="0" tIns="0" rIns="0" bIns="0" rtlCol="0" anchor="t"/>
          <a:lstStyle/>
          <a:p>
            <a:pPr marL="0" indent="0" algn="l">
              <a:lnSpc>
                <a:spcPts val="4600"/>
              </a:lnSpc>
              <a:buNone/>
            </a:pPr>
            <a:r>
              <a:rPr lang="en-US" sz="3650" b="1" dirty="0">
                <a:solidFill>
                  <a:srgbClr val="000000"/>
                </a:solidFill>
                <a:ea typeface="Inter Bold" pitchFamily="34" charset="-122"/>
                <a:cs typeface="Inter Bold" pitchFamily="34" charset="-120"/>
              </a:rPr>
              <a:t>Defining AI Agents: Perception to Action</a:t>
            </a:r>
            <a:endParaRPr lang="en-US" sz="3650" dirty="0"/>
          </a:p>
        </p:txBody>
      </p:sp>
      <p:sp>
        <p:nvSpPr>
          <p:cNvPr id="3" name="Text 1"/>
          <p:cNvSpPr/>
          <p:nvPr/>
        </p:nvSpPr>
        <p:spPr>
          <a:xfrm>
            <a:off x="654725" y="1732955"/>
            <a:ext cx="13320951" cy="897612"/>
          </a:xfrm>
          <a:prstGeom prst="rect">
            <a:avLst/>
          </a:prstGeom>
          <a:noFill/>
          <a:ln/>
        </p:spPr>
        <p:txBody>
          <a:bodyPr wrap="square" lIns="0" tIns="0" rIns="0" bIns="0" rtlCol="0" anchor="t"/>
          <a:lstStyle/>
          <a:p>
            <a:pPr marL="0" indent="0">
              <a:lnSpc>
                <a:spcPts val="2350"/>
              </a:lnSpc>
              <a:buNone/>
            </a:pPr>
            <a:r>
              <a:rPr lang="en-US" sz="1450" dirty="0">
                <a:solidFill>
                  <a:srgbClr val="272525"/>
                </a:solidFill>
                <a:ea typeface="Inter" pitchFamily="34" charset="-122"/>
                <a:cs typeface="Inter" pitchFamily="34" charset="-120"/>
              </a:rPr>
              <a:t>At its core, an AI agent is an entity designed to perceive its environment, make decisions, take actions to achieve specific goals, and learn from feedback. This cyclical process of perception, action, and learning is fundamental to intelligent behavior. In the era of LLMs, agents are transforming from static knowledge bases into dynamic, interactive systems capable of complex task execution.</a:t>
            </a:r>
            <a:endParaRPr lang="en-US" sz="1450" dirty="0"/>
          </a:p>
        </p:txBody>
      </p:sp>
      <p:sp>
        <p:nvSpPr>
          <p:cNvPr id="4" name="Text 2"/>
          <p:cNvSpPr/>
          <p:nvPr/>
        </p:nvSpPr>
        <p:spPr>
          <a:xfrm>
            <a:off x="654725" y="3027998"/>
            <a:ext cx="2338507" cy="292298"/>
          </a:xfrm>
          <a:prstGeom prst="rect">
            <a:avLst/>
          </a:prstGeom>
          <a:noFill/>
          <a:ln/>
        </p:spPr>
        <p:txBody>
          <a:bodyPr wrap="none" lIns="0" tIns="0" rIns="0" bIns="0" rtlCol="0" anchor="t"/>
          <a:lstStyle/>
          <a:p>
            <a:pPr marL="0" indent="0" algn="l">
              <a:lnSpc>
                <a:spcPts val="2300"/>
              </a:lnSpc>
              <a:buNone/>
            </a:pPr>
            <a:r>
              <a:rPr lang="en-US" sz="1800" b="1" dirty="0">
                <a:solidFill>
                  <a:srgbClr val="000000"/>
                </a:solidFill>
                <a:ea typeface="Inter Bold" pitchFamily="34" charset="-122"/>
                <a:cs typeface="Inter Bold" pitchFamily="34" charset="-120"/>
              </a:rPr>
              <a:t>Traditional Agents</a:t>
            </a:r>
            <a:endParaRPr lang="en-US" sz="1800" dirty="0"/>
          </a:p>
        </p:txBody>
      </p:sp>
      <p:sp>
        <p:nvSpPr>
          <p:cNvPr id="5" name="Text 3"/>
          <p:cNvSpPr/>
          <p:nvPr/>
        </p:nvSpPr>
        <p:spPr>
          <a:xfrm>
            <a:off x="654725" y="3507343"/>
            <a:ext cx="2987873" cy="2094428"/>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ea typeface="Inter" pitchFamily="34" charset="-122"/>
                <a:cs typeface="Inter" pitchFamily="34" charset="-120"/>
              </a:rPr>
              <a:t>Historically, AI agents often functioned within predefined rules and limited scopes, primarily responding to direct queries. They were largely reactive, operating without complex reasoning or adaptation.</a:t>
            </a:r>
            <a:endParaRPr lang="en-US" sz="1450" dirty="0"/>
          </a:p>
        </p:txBody>
      </p:sp>
      <p:sp>
        <p:nvSpPr>
          <p:cNvPr id="6" name="Text 4"/>
          <p:cNvSpPr/>
          <p:nvPr/>
        </p:nvSpPr>
        <p:spPr>
          <a:xfrm>
            <a:off x="654725" y="5484852"/>
            <a:ext cx="2987873" cy="2992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72525"/>
                </a:solidFill>
                <a:ea typeface="Inter" pitchFamily="34" charset="-122"/>
                <a:cs typeface="Inter" pitchFamily="34" charset="-120"/>
              </a:rPr>
              <a:t>Static Q&amp;A bots</a:t>
            </a:r>
            <a:endParaRPr lang="en-US" sz="1450" dirty="0"/>
          </a:p>
        </p:txBody>
      </p:sp>
      <p:sp>
        <p:nvSpPr>
          <p:cNvPr id="7" name="Text 5"/>
          <p:cNvSpPr/>
          <p:nvPr/>
        </p:nvSpPr>
        <p:spPr>
          <a:xfrm>
            <a:off x="654725" y="5750942"/>
            <a:ext cx="2987873" cy="2992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72525"/>
                </a:solidFill>
                <a:ea typeface="Inter" pitchFamily="34" charset="-122"/>
                <a:cs typeface="Inter" pitchFamily="34" charset="-120"/>
              </a:rPr>
              <a:t>Rule-based systems</a:t>
            </a:r>
            <a:endParaRPr lang="en-US" sz="1450" dirty="0"/>
          </a:p>
        </p:txBody>
      </p:sp>
      <p:sp>
        <p:nvSpPr>
          <p:cNvPr id="8" name="Text 6"/>
          <p:cNvSpPr/>
          <p:nvPr/>
        </p:nvSpPr>
        <p:spPr>
          <a:xfrm>
            <a:off x="654725" y="6050146"/>
            <a:ext cx="2987873" cy="2992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72525"/>
                </a:solidFill>
                <a:ea typeface="Inter" pitchFamily="34" charset="-122"/>
                <a:cs typeface="Inter" pitchFamily="34" charset="-120"/>
              </a:rPr>
              <a:t>Limited autonomy</a:t>
            </a:r>
            <a:endParaRPr lang="en-US" sz="1450" dirty="0"/>
          </a:p>
        </p:txBody>
      </p:sp>
      <p:pic>
        <p:nvPicPr>
          <p:cNvPr id="9" name="Image 0" descr="preencoded.png"/>
          <p:cNvPicPr>
            <a:picLocks noChangeAspect="1"/>
          </p:cNvPicPr>
          <p:nvPr/>
        </p:nvPicPr>
        <p:blipFill>
          <a:blip r:embed="rId3"/>
          <a:stretch>
            <a:fillRect/>
          </a:stretch>
        </p:blipFill>
        <p:spPr>
          <a:xfrm>
            <a:off x="4106704" y="3051334"/>
            <a:ext cx="2987873" cy="3002142"/>
          </a:xfrm>
          <a:prstGeom prst="rect">
            <a:avLst/>
          </a:prstGeom>
        </p:spPr>
      </p:pic>
      <p:pic>
        <p:nvPicPr>
          <p:cNvPr id="10" name="Image 1" descr="preencoded.png"/>
          <p:cNvPicPr>
            <a:picLocks noChangeAspect="1"/>
          </p:cNvPicPr>
          <p:nvPr/>
        </p:nvPicPr>
        <p:blipFill>
          <a:blip r:embed="rId4"/>
          <a:stretch>
            <a:fillRect/>
          </a:stretch>
        </p:blipFill>
        <p:spPr>
          <a:xfrm>
            <a:off x="7558683" y="3051334"/>
            <a:ext cx="2987873" cy="2992340"/>
          </a:xfrm>
          <a:prstGeom prst="rect">
            <a:avLst/>
          </a:prstGeom>
        </p:spPr>
      </p:pic>
      <p:sp>
        <p:nvSpPr>
          <p:cNvPr id="11" name="Text 7"/>
          <p:cNvSpPr/>
          <p:nvPr/>
        </p:nvSpPr>
        <p:spPr>
          <a:xfrm>
            <a:off x="11010662" y="3027998"/>
            <a:ext cx="2987873" cy="584597"/>
          </a:xfrm>
          <a:prstGeom prst="rect">
            <a:avLst/>
          </a:prstGeom>
          <a:noFill/>
          <a:ln/>
        </p:spPr>
        <p:txBody>
          <a:bodyPr wrap="square" lIns="0" tIns="0" rIns="0" bIns="0" rtlCol="0" anchor="t"/>
          <a:lstStyle/>
          <a:p>
            <a:pPr marL="0" indent="0" algn="l">
              <a:lnSpc>
                <a:spcPts val="2300"/>
              </a:lnSpc>
              <a:buNone/>
            </a:pPr>
            <a:endParaRPr lang="en-US" sz="1800" dirty="0"/>
          </a:p>
        </p:txBody>
      </p:sp>
      <p:sp>
        <p:nvSpPr>
          <p:cNvPr id="12" name="Text 8"/>
          <p:cNvSpPr/>
          <p:nvPr/>
        </p:nvSpPr>
        <p:spPr>
          <a:xfrm>
            <a:off x="11010662" y="3507344"/>
            <a:ext cx="2987873" cy="2685932"/>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ea typeface="Inter" pitchFamily="34" charset="-122"/>
                <a:cs typeface="Inter" pitchFamily="34" charset="-120"/>
              </a:rPr>
              <a:t>Today, LLM-powered agents can reason, plan, and autonomously learn. They use language models as their central decision-making component, allowing them to interact with APIs, tools, and even other agents to accomplish intricate tasks.</a:t>
            </a:r>
            <a:endParaRPr lang="en-US" sz="1450" dirty="0"/>
          </a:p>
        </p:txBody>
      </p:sp>
      <p:sp>
        <p:nvSpPr>
          <p:cNvPr id="13" name="Text 9"/>
          <p:cNvSpPr/>
          <p:nvPr/>
        </p:nvSpPr>
        <p:spPr>
          <a:xfrm>
            <a:off x="11010662" y="5754272"/>
            <a:ext cx="2987873" cy="2992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72525"/>
                </a:solidFill>
                <a:ea typeface="Inter" pitchFamily="34" charset="-122"/>
                <a:cs typeface="Inter" pitchFamily="34" charset="-120"/>
              </a:rPr>
              <a:t>Goal-oriented systems</a:t>
            </a:r>
            <a:endParaRPr lang="en-US" sz="1450" dirty="0"/>
          </a:p>
        </p:txBody>
      </p:sp>
      <p:sp>
        <p:nvSpPr>
          <p:cNvPr id="14" name="Text 10"/>
          <p:cNvSpPr/>
          <p:nvPr/>
        </p:nvSpPr>
        <p:spPr>
          <a:xfrm>
            <a:off x="11010662" y="6043674"/>
            <a:ext cx="2987873" cy="2992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72525"/>
                </a:solidFill>
                <a:ea typeface="Inter" pitchFamily="34" charset="-122"/>
                <a:cs typeface="Inter" pitchFamily="34" charset="-120"/>
              </a:rPr>
              <a:t>Tool integration (APIs, web)</a:t>
            </a:r>
            <a:endParaRPr lang="en-US" sz="1450" dirty="0"/>
          </a:p>
        </p:txBody>
      </p:sp>
      <p:sp>
        <p:nvSpPr>
          <p:cNvPr id="15" name="Text 11"/>
          <p:cNvSpPr/>
          <p:nvPr/>
        </p:nvSpPr>
        <p:spPr>
          <a:xfrm>
            <a:off x="11010662" y="6319138"/>
            <a:ext cx="2987873" cy="2992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72525"/>
                </a:solidFill>
                <a:ea typeface="Inter" pitchFamily="34" charset="-122"/>
                <a:cs typeface="Inter" pitchFamily="34" charset="-120"/>
              </a:rPr>
              <a:t>Adaptive learning</a:t>
            </a:r>
            <a:endParaRPr lang="en-US" sz="1450" dirty="0"/>
          </a:p>
        </p:txBody>
      </p:sp>
      <p:sp>
        <p:nvSpPr>
          <p:cNvPr id="16" name="Rectangle 15">
            <a:extLst>
              <a:ext uri="{FF2B5EF4-FFF2-40B4-BE49-F238E27FC236}">
                <a16:creationId xmlns:a16="http://schemas.microsoft.com/office/drawing/2014/main" id="{A26B8FD0-2410-4986-9BDC-0DBEBE1E94D4}"/>
              </a:ext>
            </a:extLst>
          </p:cNvPr>
          <p:cNvSpPr/>
          <p:nvPr/>
        </p:nvSpPr>
        <p:spPr>
          <a:xfrm>
            <a:off x="12598400" y="7538720"/>
            <a:ext cx="2032000" cy="690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0231305E-1E69-484D-B4BF-02E12A2D10BA}"/>
              </a:ext>
            </a:extLst>
          </p:cNvPr>
          <p:cNvSpPr txBox="1"/>
          <p:nvPr/>
        </p:nvSpPr>
        <p:spPr>
          <a:xfrm>
            <a:off x="11010661" y="3011694"/>
            <a:ext cx="2306093" cy="369332"/>
          </a:xfrm>
          <a:prstGeom prst="rect">
            <a:avLst/>
          </a:prstGeom>
          <a:noFill/>
        </p:spPr>
        <p:txBody>
          <a:bodyPr wrap="square" rtlCol="0">
            <a:spAutoFit/>
          </a:bodyPr>
          <a:lstStyle/>
          <a:p>
            <a:r>
              <a:rPr lang="en-IN" b="1" dirty="0"/>
              <a:t>Modern LLM Agents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96409"/>
            <a:ext cx="1126402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The Virtual Intern: A Real-World Analogy</a:t>
            </a:r>
            <a:endParaRPr lang="en-US" sz="4450" dirty="0"/>
          </a:p>
        </p:txBody>
      </p:sp>
      <p:sp>
        <p:nvSpPr>
          <p:cNvPr id="3" name="Text 1"/>
          <p:cNvSpPr/>
          <p:nvPr/>
        </p:nvSpPr>
        <p:spPr>
          <a:xfrm>
            <a:off x="793790" y="1958816"/>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To better understand the capabilities of modern AI agents, imagine a virtual intern. This intern is not just a chatbot but an intelligent entity capable of understanding natural language instructions, leveraging various tools, making autonomous decisions, and coordinating with other agents or humans. This analogy highlights the multifaceted nature and increasing sophistication of AI agents.</a:t>
            </a:r>
            <a:endParaRPr lang="en-US" sz="1750" dirty="0"/>
          </a:p>
        </p:txBody>
      </p:sp>
      <p:sp>
        <p:nvSpPr>
          <p:cNvPr id="4" name="Shape 2"/>
          <p:cNvSpPr/>
          <p:nvPr/>
        </p:nvSpPr>
        <p:spPr>
          <a:xfrm>
            <a:off x="793790" y="3665577"/>
            <a:ext cx="510302" cy="510302"/>
          </a:xfrm>
          <a:prstGeom prst="roundRect">
            <a:avLst>
              <a:gd name="adj" fmla="val 18669"/>
            </a:avLst>
          </a:prstGeom>
          <a:solidFill>
            <a:srgbClr val="DADBF1"/>
          </a:solidFill>
          <a:ln w="7620">
            <a:solidFill>
              <a:srgbClr val="C0C1D7"/>
            </a:solidFill>
            <a:prstDash val="solid"/>
          </a:ln>
        </p:spPr>
      </p:sp>
      <p:pic>
        <p:nvPicPr>
          <p:cNvPr id="5" name="Image 0" descr="preencoded.png"/>
          <p:cNvPicPr>
            <a:picLocks noChangeAspect="1"/>
          </p:cNvPicPr>
          <p:nvPr/>
        </p:nvPicPr>
        <p:blipFill>
          <a:blip r:embed="rId3"/>
          <a:stretch>
            <a:fillRect/>
          </a:stretch>
        </p:blipFill>
        <p:spPr>
          <a:xfrm>
            <a:off x="878860" y="3708083"/>
            <a:ext cx="340162" cy="425291"/>
          </a:xfrm>
          <a:prstGeom prst="rect">
            <a:avLst/>
          </a:prstGeom>
        </p:spPr>
      </p:pic>
      <p:sp>
        <p:nvSpPr>
          <p:cNvPr id="6" name="Text 3"/>
          <p:cNvSpPr/>
          <p:nvPr/>
        </p:nvSpPr>
        <p:spPr>
          <a:xfrm>
            <a:off x="1530906" y="3743444"/>
            <a:ext cx="3224927"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Understands Language</a:t>
            </a:r>
            <a:endParaRPr lang="en-US" sz="2200" dirty="0"/>
          </a:p>
        </p:txBody>
      </p:sp>
      <p:sp>
        <p:nvSpPr>
          <p:cNvPr id="7" name="Text 4"/>
          <p:cNvSpPr/>
          <p:nvPr/>
        </p:nvSpPr>
        <p:spPr>
          <a:xfrm>
            <a:off x="1530906" y="4233863"/>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Interprets natural language instructions and complex queries effectively.</a:t>
            </a:r>
            <a:endParaRPr lang="en-US" sz="1750" dirty="0"/>
          </a:p>
        </p:txBody>
      </p:sp>
      <p:sp>
        <p:nvSpPr>
          <p:cNvPr id="8" name="Shape 5"/>
          <p:cNvSpPr/>
          <p:nvPr/>
        </p:nvSpPr>
        <p:spPr>
          <a:xfrm>
            <a:off x="7457003" y="3665577"/>
            <a:ext cx="510302" cy="510302"/>
          </a:xfrm>
          <a:prstGeom prst="roundRect">
            <a:avLst>
              <a:gd name="adj" fmla="val 18669"/>
            </a:avLst>
          </a:prstGeom>
          <a:solidFill>
            <a:srgbClr val="DADBF1"/>
          </a:solidFill>
          <a:ln w="7620">
            <a:solidFill>
              <a:srgbClr val="C0C1D7"/>
            </a:solidFill>
            <a:prstDash val="solid"/>
          </a:ln>
        </p:spPr>
      </p:sp>
      <p:pic>
        <p:nvPicPr>
          <p:cNvPr id="9" name="Image 1" descr="preencoded.png"/>
          <p:cNvPicPr>
            <a:picLocks noChangeAspect="1"/>
          </p:cNvPicPr>
          <p:nvPr/>
        </p:nvPicPr>
        <p:blipFill>
          <a:blip r:embed="rId4"/>
          <a:stretch>
            <a:fillRect/>
          </a:stretch>
        </p:blipFill>
        <p:spPr>
          <a:xfrm>
            <a:off x="7542074" y="3708083"/>
            <a:ext cx="340162" cy="425291"/>
          </a:xfrm>
          <a:prstGeom prst="rect">
            <a:avLst/>
          </a:prstGeom>
        </p:spPr>
      </p:pic>
      <p:sp>
        <p:nvSpPr>
          <p:cNvPr id="10" name="Text 6"/>
          <p:cNvSpPr/>
          <p:nvPr/>
        </p:nvSpPr>
        <p:spPr>
          <a:xfrm>
            <a:off x="8194119" y="374344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Uses Tools</a:t>
            </a:r>
            <a:endParaRPr lang="en-US" sz="2200" dirty="0"/>
          </a:p>
        </p:txBody>
      </p:sp>
      <p:sp>
        <p:nvSpPr>
          <p:cNvPr id="11" name="Text 7"/>
          <p:cNvSpPr/>
          <p:nvPr/>
        </p:nvSpPr>
        <p:spPr>
          <a:xfrm>
            <a:off x="8194119" y="423386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Integrates with external tools like Google Search, Python, Excel, or internal databases to gather information or perform actions.</a:t>
            </a:r>
            <a:endParaRPr lang="en-US" sz="1750" dirty="0"/>
          </a:p>
        </p:txBody>
      </p:sp>
      <p:sp>
        <p:nvSpPr>
          <p:cNvPr id="12" name="Shape 8"/>
          <p:cNvSpPr/>
          <p:nvPr/>
        </p:nvSpPr>
        <p:spPr>
          <a:xfrm>
            <a:off x="793790" y="5776198"/>
            <a:ext cx="510302" cy="510302"/>
          </a:xfrm>
          <a:prstGeom prst="roundRect">
            <a:avLst>
              <a:gd name="adj" fmla="val 18669"/>
            </a:avLst>
          </a:prstGeom>
          <a:solidFill>
            <a:srgbClr val="DADBF1"/>
          </a:solidFill>
          <a:ln w="7620">
            <a:solidFill>
              <a:srgbClr val="C0C1D7"/>
            </a:solidFill>
            <a:prstDash val="solid"/>
          </a:ln>
        </p:spPr>
      </p:sp>
      <p:pic>
        <p:nvPicPr>
          <p:cNvPr id="13" name="Image 2" descr="preencoded.png"/>
          <p:cNvPicPr>
            <a:picLocks noChangeAspect="1"/>
          </p:cNvPicPr>
          <p:nvPr/>
        </p:nvPicPr>
        <p:blipFill>
          <a:blip r:embed="rId5"/>
          <a:stretch>
            <a:fillRect/>
          </a:stretch>
        </p:blipFill>
        <p:spPr>
          <a:xfrm>
            <a:off x="878860" y="5818703"/>
            <a:ext cx="340162" cy="425291"/>
          </a:xfrm>
          <a:prstGeom prst="rect">
            <a:avLst/>
          </a:prstGeom>
        </p:spPr>
      </p:pic>
      <p:sp>
        <p:nvSpPr>
          <p:cNvPr id="14" name="Text 9"/>
          <p:cNvSpPr/>
          <p:nvPr/>
        </p:nvSpPr>
        <p:spPr>
          <a:xfrm>
            <a:off x="1530906" y="585406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Makes Decisions</a:t>
            </a:r>
            <a:endParaRPr lang="en-US" sz="2200" dirty="0"/>
          </a:p>
        </p:txBody>
      </p:sp>
      <p:sp>
        <p:nvSpPr>
          <p:cNvPr id="15" name="Text 10"/>
          <p:cNvSpPr/>
          <p:nvPr/>
        </p:nvSpPr>
        <p:spPr>
          <a:xfrm>
            <a:off x="1530906" y="6344483"/>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Reasons and plans based on prior knowledge, context, and immediate feedback.</a:t>
            </a:r>
            <a:endParaRPr lang="en-US" sz="1750" dirty="0"/>
          </a:p>
        </p:txBody>
      </p:sp>
      <p:sp>
        <p:nvSpPr>
          <p:cNvPr id="16" name="Shape 11"/>
          <p:cNvSpPr/>
          <p:nvPr/>
        </p:nvSpPr>
        <p:spPr>
          <a:xfrm>
            <a:off x="7457003" y="5776198"/>
            <a:ext cx="510302" cy="510302"/>
          </a:xfrm>
          <a:prstGeom prst="roundRect">
            <a:avLst>
              <a:gd name="adj" fmla="val 18669"/>
            </a:avLst>
          </a:prstGeom>
          <a:solidFill>
            <a:srgbClr val="DADBF1"/>
          </a:solidFill>
          <a:ln w="7620">
            <a:solidFill>
              <a:srgbClr val="C0C1D7"/>
            </a:solidFill>
            <a:prstDash val="solid"/>
          </a:ln>
        </p:spPr>
      </p:sp>
      <p:pic>
        <p:nvPicPr>
          <p:cNvPr id="17" name="Image 3" descr="preencoded.png"/>
          <p:cNvPicPr>
            <a:picLocks noChangeAspect="1"/>
          </p:cNvPicPr>
          <p:nvPr/>
        </p:nvPicPr>
        <p:blipFill>
          <a:blip r:embed="rId6"/>
          <a:stretch>
            <a:fillRect/>
          </a:stretch>
        </p:blipFill>
        <p:spPr>
          <a:xfrm>
            <a:off x="7542074" y="5818703"/>
            <a:ext cx="340162" cy="425291"/>
          </a:xfrm>
          <a:prstGeom prst="rect">
            <a:avLst/>
          </a:prstGeom>
        </p:spPr>
      </p:pic>
      <p:sp>
        <p:nvSpPr>
          <p:cNvPr id="18" name="Text 12"/>
          <p:cNvSpPr/>
          <p:nvPr/>
        </p:nvSpPr>
        <p:spPr>
          <a:xfrm>
            <a:off x="8194119" y="5854065"/>
            <a:ext cx="2964061"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Coordinates &amp; Learns</a:t>
            </a:r>
            <a:endParaRPr lang="en-US" sz="2200" dirty="0"/>
          </a:p>
        </p:txBody>
      </p:sp>
      <p:sp>
        <p:nvSpPr>
          <p:cNvPr id="19" name="Text 13"/>
          <p:cNvSpPr/>
          <p:nvPr/>
        </p:nvSpPr>
        <p:spPr>
          <a:xfrm>
            <a:off x="8194119" y="634448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Collaborates with other agents or human stakeholders and improves performance through continuous learning and error correction.</a:t>
            </a:r>
            <a:endParaRPr lang="en-US" sz="1750" dirty="0"/>
          </a:p>
        </p:txBody>
      </p:sp>
      <p:sp>
        <p:nvSpPr>
          <p:cNvPr id="20" name="Rectangle 19">
            <a:extLst>
              <a:ext uri="{FF2B5EF4-FFF2-40B4-BE49-F238E27FC236}">
                <a16:creationId xmlns:a16="http://schemas.microsoft.com/office/drawing/2014/main" id="{CE96EA30-7175-4036-924F-64FFD49310E5}"/>
              </a:ext>
            </a:extLst>
          </p:cNvPr>
          <p:cNvSpPr/>
          <p:nvPr/>
        </p:nvSpPr>
        <p:spPr>
          <a:xfrm>
            <a:off x="12811760" y="7620000"/>
            <a:ext cx="181864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00207"/>
            <a:ext cx="11768971"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Why Agent Frameworks Are Indispensable</a:t>
            </a:r>
            <a:endParaRPr lang="en-US" sz="4450" dirty="0"/>
          </a:p>
        </p:txBody>
      </p:sp>
      <p:sp>
        <p:nvSpPr>
          <p:cNvPr id="3" name="Text 1"/>
          <p:cNvSpPr/>
          <p:nvPr/>
        </p:nvSpPr>
        <p:spPr>
          <a:xfrm>
            <a:off x="793790" y="1862614"/>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Building complex AI agents from scratch presents significant challenges, including managing memory, planning intricate sequences of actions, and integrating diverse tools. Agent frameworks provide the essential scaffolding and reusable components necessary to streamline development, accelerate deployment, and ensure robust, scalable agent systems.</a:t>
            </a:r>
            <a:endParaRPr lang="en-US" sz="1750" dirty="0"/>
          </a:p>
        </p:txBody>
      </p:sp>
      <p:sp>
        <p:nvSpPr>
          <p:cNvPr id="4" name="Shape 2"/>
          <p:cNvSpPr/>
          <p:nvPr/>
        </p:nvSpPr>
        <p:spPr>
          <a:xfrm>
            <a:off x="793790" y="3206472"/>
            <a:ext cx="6408063" cy="2047994"/>
          </a:xfrm>
          <a:prstGeom prst="roundRect">
            <a:avLst>
              <a:gd name="adj" fmla="val 4652"/>
            </a:avLst>
          </a:prstGeom>
          <a:solidFill>
            <a:srgbClr val="DADBF1"/>
          </a:solidFill>
          <a:ln w="7620">
            <a:solidFill>
              <a:srgbClr val="C0C1D7"/>
            </a:solidFill>
            <a:prstDash val="solid"/>
          </a:ln>
        </p:spPr>
      </p:sp>
      <p:sp>
        <p:nvSpPr>
          <p:cNvPr id="5" name="Text 3"/>
          <p:cNvSpPr/>
          <p:nvPr/>
        </p:nvSpPr>
        <p:spPr>
          <a:xfrm>
            <a:off x="1028224" y="3440906"/>
            <a:ext cx="358330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Accelerated Development</a:t>
            </a:r>
            <a:endParaRPr lang="en-US" sz="2200" dirty="0"/>
          </a:p>
        </p:txBody>
      </p:sp>
      <p:sp>
        <p:nvSpPr>
          <p:cNvPr id="6" name="Text 4"/>
          <p:cNvSpPr/>
          <p:nvPr/>
        </p:nvSpPr>
        <p:spPr>
          <a:xfrm>
            <a:off x="1028224" y="3931325"/>
            <a:ext cx="593919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Frameworks offer pre-built modules for common agent functionalities, enabling faster prototyping and deployment.</a:t>
            </a:r>
            <a:endParaRPr lang="en-US" sz="1750" dirty="0"/>
          </a:p>
        </p:txBody>
      </p:sp>
      <p:sp>
        <p:nvSpPr>
          <p:cNvPr id="7" name="Shape 5"/>
          <p:cNvSpPr/>
          <p:nvPr/>
        </p:nvSpPr>
        <p:spPr>
          <a:xfrm>
            <a:off x="7428667" y="3206472"/>
            <a:ext cx="6408063" cy="2047994"/>
          </a:xfrm>
          <a:prstGeom prst="roundRect">
            <a:avLst>
              <a:gd name="adj" fmla="val 4652"/>
            </a:avLst>
          </a:prstGeom>
          <a:solidFill>
            <a:srgbClr val="DADBF1"/>
          </a:solidFill>
          <a:ln w="7620">
            <a:solidFill>
              <a:srgbClr val="C0C1D7"/>
            </a:solidFill>
            <a:prstDash val="solid"/>
          </a:ln>
        </p:spPr>
      </p:sp>
      <p:sp>
        <p:nvSpPr>
          <p:cNvPr id="8" name="Text 6"/>
          <p:cNvSpPr/>
          <p:nvPr/>
        </p:nvSpPr>
        <p:spPr>
          <a:xfrm>
            <a:off x="7663101" y="3440906"/>
            <a:ext cx="390906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Complex State Management</a:t>
            </a:r>
            <a:endParaRPr lang="en-US" sz="2200" dirty="0"/>
          </a:p>
        </p:txBody>
      </p:sp>
      <p:sp>
        <p:nvSpPr>
          <p:cNvPr id="9" name="Text 7"/>
          <p:cNvSpPr/>
          <p:nvPr/>
        </p:nvSpPr>
        <p:spPr>
          <a:xfrm>
            <a:off x="7663101" y="3931325"/>
            <a:ext cx="593919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They provide robust mechanisms for managing agent memory, context, and long-term planning across multiple interactions.</a:t>
            </a:r>
            <a:endParaRPr lang="en-US" sz="1750" dirty="0"/>
          </a:p>
        </p:txBody>
      </p:sp>
      <p:sp>
        <p:nvSpPr>
          <p:cNvPr id="10" name="Shape 8"/>
          <p:cNvSpPr/>
          <p:nvPr/>
        </p:nvSpPr>
        <p:spPr>
          <a:xfrm>
            <a:off x="793790" y="5481280"/>
            <a:ext cx="6408063" cy="2047994"/>
          </a:xfrm>
          <a:prstGeom prst="roundRect">
            <a:avLst>
              <a:gd name="adj" fmla="val 4652"/>
            </a:avLst>
          </a:prstGeom>
          <a:solidFill>
            <a:srgbClr val="DADBF1"/>
          </a:solidFill>
          <a:ln w="7620">
            <a:solidFill>
              <a:srgbClr val="C0C1D7"/>
            </a:solidFill>
            <a:prstDash val="solid"/>
          </a:ln>
        </p:spPr>
      </p:sp>
      <p:sp>
        <p:nvSpPr>
          <p:cNvPr id="11" name="Text 9"/>
          <p:cNvSpPr/>
          <p:nvPr/>
        </p:nvSpPr>
        <p:spPr>
          <a:xfrm>
            <a:off x="1028224" y="5715714"/>
            <a:ext cx="351794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Multi-Agent Coordination</a:t>
            </a:r>
            <a:endParaRPr lang="en-US" sz="2200" dirty="0"/>
          </a:p>
        </p:txBody>
      </p:sp>
      <p:sp>
        <p:nvSpPr>
          <p:cNvPr id="12" name="Text 10"/>
          <p:cNvSpPr/>
          <p:nvPr/>
        </p:nvSpPr>
        <p:spPr>
          <a:xfrm>
            <a:off x="1028224" y="6206133"/>
            <a:ext cx="593919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Frameworks facilitate the coordination of multiple specialized agents, enabling complex task decomposition and collaborative problem-solving.</a:t>
            </a:r>
            <a:endParaRPr lang="en-US" sz="1750" dirty="0"/>
          </a:p>
        </p:txBody>
      </p:sp>
      <p:sp>
        <p:nvSpPr>
          <p:cNvPr id="13" name="Shape 11"/>
          <p:cNvSpPr/>
          <p:nvPr/>
        </p:nvSpPr>
        <p:spPr>
          <a:xfrm>
            <a:off x="7428667" y="5481280"/>
            <a:ext cx="6408063" cy="2047994"/>
          </a:xfrm>
          <a:prstGeom prst="roundRect">
            <a:avLst>
              <a:gd name="adj" fmla="val 4652"/>
            </a:avLst>
          </a:prstGeom>
          <a:solidFill>
            <a:srgbClr val="DADBF1"/>
          </a:solidFill>
          <a:ln w="7620">
            <a:solidFill>
              <a:srgbClr val="C0C1D7"/>
            </a:solidFill>
            <a:prstDash val="solid"/>
          </a:ln>
        </p:spPr>
      </p:sp>
      <p:sp>
        <p:nvSpPr>
          <p:cNvPr id="14" name="Text 12"/>
          <p:cNvSpPr/>
          <p:nvPr/>
        </p:nvSpPr>
        <p:spPr>
          <a:xfrm>
            <a:off x="7663101" y="5715714"/>
            <a:ext cx="308502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LLM &amp; Tool Interfacing</a:t>
            </a:r>
            <a:endParaRPr lang="en-US" sz="2200" dirty="0"/>
          </a:p>
        </p:txBody>
      </p:sp>
      <p:sp>
        <p:nvSpPr>
          <p:cNvPr id="15" name="Text 13"/>
          <p:cNvSpPr/>
          <p:nvPr/>
        </p:nvSpPr>
        <p:spPr>
          <a:xfrm>
            <a:off x="7663101" y="6206133"/>
            <a:ext cx="593919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They simplify the integration of Large Language Models with external APIs, databases, and various operational tools.</a:t>
            </a:r>
            <a:endParaRPr lang="en-US" sz="1750" dirty="0"/>
          </a:p>
        </p:txBody>
      </p:sp>
      <p:sp>
        <p:nvSpPr>
          <p:cNvPr id="16" name="Rectangle 15">
            <a:extLst>
              <a:ext uri="{FF2B5EF4-FFF2-40B4-BE49-F238E27FC236}">
                <a16:creationId xmlns:a16="http://schemas.microsoft.com/office/drawing/2014/main" id="{66019AAE-F8FE-4151-809C-0A0EFF7266B5}"/>
              </a:ext>
            </a:extLst>
          </p:cNvPr>
          <p:cNvSpPr/>
          <p:nvPr/>
        </p:nvSpPr>
        <p:spPr>
          <a:xfrm>
            <a:off x="12659360" y="7660640"/>
            <a:ext cx="1971040" cy="568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80284" y="466844"/>
            <a:ext cx="7956233" cy="1060371"/>
          </a:xfrm>
          <a:prstGeom prst="rect">
            <a:avLst/>
          </a:prstGeom>
          <a:noFill/>
          <a:ln/>
        </p:spPr>
        <p:txBody>
          <a:bodyPr wrap="square" lIns="0" tIns="0" rIns="0" bIns="0" rtlCol="0" anchor="t"/>
          <a:lstStyle/>
          <a:p>
            <a:pPr marL="0" indent="0" algn="l">
              <a:lnSpc>
                <a:spcPts val="4150"/>
              </a:lnSpc>
              <a:buNone/>
            </a:pPr>
            <a:r>
              <a:rPr lang="en-US" sz="3300" b="1" dirty="0">
                <a:solidFill>
                  <a:srgbClr val="000000"/>
                </a:solidFill>
                <a:ea typeface="Inter Bold" pitchFamily="34" charset="-122"/>
                <a:cs typeface="Inter Bold" pitchFamily="34" charset="-120"/>
              </a:rPr>
              <a:t>Core Capabilities of Advanced AI Agents</a:t>
            </a:r>
            <a:endParaRPr lang="en-US" sz="3300" dirty="0"/>
          </a:p>
        </p:txBody>
      </p:sp>
      <p:sp>
        <p:nvSpPr>
          <p:cNvPr id="4" name="Text 1"/>
          <p:cNvSpPr/>
          <p:nvPr/>
        </p:nvSpPr>
        <p:spPr>
          <a:xfrm>
            <a:off x="6080284" y="1781770"/>
            <a:ext cx="7956233" cy="1085850"/>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ea typeface="Inter" pitchFamily="34" charset="-122"/>
                <a:cs typeface="Inter" pitchFamily="34" charset="-120"/>
              </a:rPr>
              <a:t>AI agents possess a suite of core capabilities that enable their autonomous and intelligent behavior. These capabilities range from interpreting their environment to learning from past experiences, forming the foundation for sophisticated decision-making and action execution in dynamic environments.</a:t>
            </a:r>
            <a:endParaRPr lang="en-US" sz="1300" dirty="0"/>
          </a:p>
        </p:txBody>
      </p:sp>
      <p:pic>
        <p:nvPicPr>
          <p:cNvPr id="5" name="Image 1" descr="preencoded.png"/>
          <p:cNvPicPr>
            <a:picLocks noChangeAspect="1"/>
          </p:cNvPicPr>
          <p:nvPr/>
        </p:nvPicPr>
        <p:blipFill>
          <a:blip r:embed="rId4"/>
          <a:stretch>
            <a:fillRect/>
          </a:stretch>
        </p:blipFill>
        <p:spPr>
          <a:xfrm>
            <a:off x="6080284" y="3058478"/>
            <a:ext cx="424220" cy="424220"/>
          </a:xfrm>
          <a:prstGeom prst="rect">
            <a:avLst/>
          </a:prstGeom>
        </p:spPr>
      </p:pic>
      <p:sp>
        <p:nvSpPr>
          <p:cNvPr id="6" name="Text 2"/>
          <p:cNvSpPr/>
          <p:nvPr/>
        </p:nvSpPr>
        <p:spPr>
          <a:xfrm>
            <a:off x="6080284" y="3652361"/>
            <a:ext cx="2121218" cy="265152"/>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ea typeface="Inter Bold" pitchFamily="34" charset="-122"/>
                <a:cs typeface="Inter Bold" pitchFamily="34" charset="-120"/>
              </a:rPr>
              <a:t>Perception</a:t>
            </a:r>
            <a:endParaRPr lang="en-US" sz="1650" dirty="0"/>
          </a:p>
        </p:txBody>
      </p:sp>
      <p:sp>
        <p:nvSpPr>
          <p:cNvPr id="7" name="Text 3"/>
          <p:cNvSpPr/>
          <p:nvPr/>
        </p:nvSpPr>
        <p:spPr>
          <a:xfrm>
            <a:off x="6080284" y="4019312"/>
            <a:ext cx="2510671" cy="814388"/>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ea typeface="Inter" pitchFamily="34" charset="-122"/>
                <a:cs typeface="Inter" pitchFamily="34" charset="-120"/>
              </a:rPr>
              <a:t>Understanding user input, sensory data, or external information.</a:t>
            </a:r>
            <a:endParaRPr lang="en-US" sz="1300" dirty="0"/>
          </a:p>
        </p:txBody>
      </p:sp>
      <p:pic>
        <p:nvPicPr>
          <p:cNvPr id="8" name="Image 2" descr="preencoded.png"/>
          <p:cNvPicPr>
            <a:picLocks noChangeAspect="1"/>
          </p:cNvPicPr>
          <p:nvPr/>
        </p:nvPicPr>
        <p:blipFill>
          <a:blip r:embed="rId5"/>
          <a:stretch>
            <a:fillRect/>
          </a:stretch>
        </p:blipFill>
        <p:spPr>
          <a:xfrm>
            <a:off x="8803005" y="3058478"/>
            <a:ext cx="424220" cy="424220"/>
          </a:xfrm>
          <a:prstGeom prst="rect">
            <a:avLst/>
          </a:prstGeom>
        </p:spPr>
      </p:pic>
      <p:sp>
        <p:nvSpPr>
          <p:cNvPr id="9" name="Text 4"/>
          <p:cNvSpPr/>
          <p:nvPr/>
        </p:nvSpPr>
        <p:spPr>
          <a:xfrm>
            <a:off x="8803005" y="3652361"/>
            <a:ext cx="2121218" cy="265152"/>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ea typeface="Inter Bold" pitchFamily="34" charset="-122"/>
                <a:cs typeface="Inter Bold" pitchFamily="34" charset="-120"/>
              </a:rPr>
              <a:t>Planning</a:t>
            </a:r>
            <a:endParaRPr lang="en-US" sz="1650" dirty="0"/>
          </a:p>
        </p:txBody>
      </p:sp>
      <p:sp>
        <p:nvSpPr>
          <p:cNvPr id="10" name="Text 5"/>
          <p:cNvSpPr/>
          <p:nvPr/>
        </p:nvSpPr>
        <p:spPr>
          <a:xfrm>
            <a:off x="8803005" y="4019312"/>
            <a:ext cx="2510671" cy="1085850"/>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ea typeface="Inter" pitchFamily="34" charset="-122"/>
                <a:cs typeface="Inter" pitchFamily="34" charset="-120"/>
              </a:rPr>
              <a:t>Breaking down complex goals into manageable sub-tasks and outlining a sequence of actions.</a:t>
            </a:r>
            <a:endParaRPr lang="en-US" sz="1300" dirty="0"/>
          </a:p>
        </p:txBody>
      </p:sp>
      <p:pic>
        <p:nvPicPr>
          <p:cNvPr id="11" name="Image 3" descr="preencoded.png"/>
          <p:cNvPicPr>
            <a:picLocks noChangeAspect="1"/>
          </p:cNvPicPr>
          <p:nvPr/>
        </p:nvPicPr>
        <p:blipFill>
          <a:blip r:embed="rId6"/>
          <a:stretch>
            <a:fillRect/>
          </a:stretch>
        </p:blipFill>
        <p:spPr>
          <a:xfrm>
            <a:off x="11525726" y="3058478"/>
            <a:ext cx="424220" cy="424220"/>
          </a:xfrm>
          <a:prstGeom prst="rect">
            <a:avLst/>
          </a:prstGeom>
        </p:spPr>
      </p:pic>
      <p:sp>
        <p:nvSpPr>
          <p:cNvPr id="12" name="Text 6"/>
          <p:cNvSpPr/>
          <p:nvPr/>
        </p:nvSpPr>
        <p:spPr>
          <a:xfrm>
            <a:off x="11525726" y="3652361"/>
            <a:ext cx="2121218" cy="265152"/>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ea typeface="Inter Bold" pitchFamily="34" charset="-122"/>
                <a:cs typeface="Inter Bold" pitchFamily="34" charset="-120"/>
              </a:rPr>
              <a:t>Action/Execution</a:t>
            </a:r>
            <a:endParaRPr lang="en-US" sz="1650" dirty="0"/>
          </a:p>
        </p:txBody>
      </p:sp>
      <p:sp>
        <p:nvSpPr>
          <p:cNvPr id="13" name="Text 7"/>
          <p:cNvSpPr/>
          <p:nvPr/>
        </p:nvSpPr>
        <p:spPr>
          <a:xfrm>
            <a:off x="11525726" y="4019312"/>
            <a:ext cx="2510790" cy="1357313"/>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ea typeface="Inter" pitchFamily="34" charset="-122"/>
                <a:cs typeface="Inter" pitchFamily="34" charset="-120"/>
              </a:rPr>
              <a:t>Performing concrete operations such as calling APIs, conducting searches, or interacting with external systems.</a:t>
            </a:r>
            <a:endParaRPr lang="en-US" sz="1300" dirty="0"/>
          </a:p>
        </p:txBody>
      </p:sp>
      <p:pic>
        <p:nvPicPr>
          <p:cNvPr id="14" name="Image 4" descr="preencoded.png"/>
          <p:cNvPicPr>
            <a:picLocks noChangeAspect="1"/>
          </p:cNvPicPr>
          <p:nvPr/>
        </p:nvPicPr>
        <p:blipFill>
          <a:blip r:embed="rId7"/>
          <a:stretch>
            <a:fillRect/>
          </a:stretch>
        </p:blipFill>
        <p:spPr>
          <a:xfrm>
            <a:off x="6080284" y="5715953"/>
            <a:ext cx="424220" cy="424220"/>
          </a:xfrm>
          <a:prstGeom prst="rect">
            <a:avLst/>
          </a:prstGeom>
        </p:spPr>
      </p:pic>
      <p:sp>
        <p:nvSpPr>
          <p:cNvPr id="15" name="Text 8"/>
          <p:cNvSpPr/>
          <p:nvPr/>
        </p:nvSpPr>
        <p:spPr>
          <a:xfrm>
            <a:off x="6080284" y="6309836"/>
            <a:ext cx="2121218" cy="265152"/>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ea typeface="Inter Bold" pitchFamily="34" charset="-122"/>
                <a:cs typeface="Inter Bold" pitchFamily="34" charset="-120"/>
              </a:rPr>
              <a:t>Self-Improvement</a:t>
            </a:r>
            <a:endParaRPr lang="en-US" sz="1650" dirty="0"/>
          </a:p>
        </p:txBody>
      </p:sp>
      <p:sp>
        <p:nvSpPr>
          <p:cNvPr id="16" name="Text 9"/>
          <p:cNvSpPr/>
          <p:nvPr/>
        </p:nvSpPr>
        <p:spPr>
          <a:xfrm>
            <a:off x="6080284" y="6676787"/>
            <a:ext cx="2510671" cy="1085850"/>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ea typeface="Inter" pitchFamily="34" charset="-122"/>
                <a:cs typeface="Inter" pitchFamily="34" charset="-120"/>
              </a:rPr>
              <a:t>Learning from feedback, mistakes, and new data to refine future responses and performance.</a:t>
            </a:r>
            <a:endParaRPr lang="en-US" sz="1300" dirty="0"/>
          </a:p>
        </p:txBody>
      </p:sp>
      <p:sp>
        <p:nvSpPr>
          <p:cNvPr id="17" name="Rectangle 16">
            <a:extLst>
              <a:ext uri="{FF2B5EF4-FFF2-40B4-BE49-F238E27FC236}">
                <a16:creationId xmlns:a16="http://schemas.microsoft.com/office/drawing/2014/main" id="{503E475A-C1A2-4DE9-B476-7871C242E6E2}"/>
              </a:ext>
            </a:extLst>
          </p:cNvPr>
          <p:cNvSpPr/>
          <p:nvPr/>
        </p:nvSpPr>
        <p:spPr>
          <a:xfrm>
            <a:off x="12679680" y="7599680"/>
            <a:ext cx="1950720" cy="629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4728" y="537924"/>
            <a:ext cx="6457236" cy="611386"/>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ea typeface="Inter Bold" pitchFamily="34" charset="-122"/>
                <a:cs typeface="Inter Bold" pitchFamily="34" charset="-120"/>
              </a:rPr>
              <a:t>Diverse Types of AI Agents</a:t>
            </a:r>
            <a:endParaRPr lang="en-US" sz="3850" dirty="0"/>
          </a:p>
        </p:txBody>
      </p:sp>
      <p:sp>
        <p:nvSpPr>
          <p:cNvPr id="3" name="Text 1"/>
          <p:cNvSpPr/>
          <p:nvPr/>
        </p:nvSpPr>
        <p:spPr>
          <a:xfrm>
            <a:off x="684728" y="1540550"/>
            <a:ext cx="13260943" cy="938689"/>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The landscape of AI agents is diverse, with various types designed for specific functionalities and levels of autonomy. From agents that react instantly to current inputs to complex multi-agent systems that coordinate roles, each type serves a unique purpose in the broader AI ecosystem, driving innovation in different application domains.</a:t>
            </a:r>
            <a:endParaRPr lang="en-US" sz="1500" dirty="0"/>
          </a:p>
        </p:txBody>
      </p:sp>
      <p:sp>
        <p:nvSpPr>
          <p:cNvPr id="4" name="Text 2"/>
          <p:cNvSpPr/>
          <p:nvPr/>
        </p:nvSpPr>
        <p:spPr>
          <a:xfrm>
            <a:off x="684728" y="2699266"/>
            <a:ext cx="13260943" cy="312896"/>
          </a:xfrm>
          <a:prstGeom prst="rect">
            <a:avLst/>
          </a:prstGeom>
          <a:noFill/>
          <a:ln/>
        </p:spPr>
        <p:txBody>
          <a:bodyPr wrap="non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Understanding these distinctions is crucial for designing effective agent-based solutions for specific problems.</a:t>
            </a:r>
            <a:endParaRPr lang="en-US" sz="1500" dirty="0"/>
          </a:p>
        </p:txBody>
      </p:sp>
      <p:sp>
        <p:nvSpPr>
          <p:cNvPr id="5" name="Text 3"/>
          <p:cNvSpPr/>
          <p:nvPr/>
        </p:nvSpPr>
        <p:spPr>
          <a:xfrm>
            <a:off x="2549128" y="3872984"/>
            <a:ext cx="2445425" cy="305633"/>
          </a:xfrm>
          <a:prstGeom prst="rect">
            <a:avLst/>
          </a:prstGeom>
          <a:noFill/>
          <a:ln/>
        </p:spPr>
        <p:txBody>
          <a:bodyPr wrap="none" lIns="0" tIns="0" rIns="0" bIns="0" rtlCol="0" anchor="t"/>
          <a:lstStyle/>
          <a:p>
            <a:pPr marL="0" indent="0" algn="r">
              <a:lnSpc>
                <a:spcPts val="2400"/>
              </a:lnSpc>
              <a:buNone/>
            </a:pPr>
            <a:r>
              <a:rPr lang="en-US" sz="1900" b="1" dirty="0">
                <a:solidFill>
                  <a:srgbClr val="272525"/>
                </a:solidFill>
                <a:ea typeface="Inter Bold" pitchFamily="34" charset="-122"/>
                <a:cs typeface="Inter Bold" pitchFamily="34" charset="-120"/>
              </a:rPr>
              <a:t>Reactive Agents</a:t>
            </a:r>
            <a:endParaRPr lang="en-US" sz="1900" dirty="0"/>
          </a:p>
        </p:txBody>
      </p:sp>
      <p:sp>
        <p:nvSpPr>
          <p:cNvPr id="6" name="Text 4"/>
          <p:cNvSpPr/>
          <p:nvPr/>
        </p:nvSpPr>
        <p:spPr>
          <a:xfrm>
            <a:off x="684728" y="4295894"/>
            <a:ext cx="4309824" cy="625793"/>
          </a:xfrm>
          <a:prstGeom prst="rect">
            <a:avLst/>
          </a:prstGeom>
          <a:noFill/>
          <a:ln/>
        </p:spPr>
        <p:txBody>
          <a:bodyPr wrap="square" lIns="0" tIns="0" rIns="0" bIns="0" rtlCol="0" anchor="t"/>
          <a:lstStyle/>
          <a:p>
            <a:pPr marL="0" indent="0" algn="r">
              <a:lnSpc>
                <a:spcPts val="2450"/>
              </a:lnSpc>
              <a:buNone/>
            </a:pPr>
            <a:r>
              <a:rPr lang="en-US" sz="1500" dirty="0">
                <a:solidFill>
                  <a:srgbClr val="272525"/>
                </a:solidFill>
                <a:ea typeface="Inter" pitchFamily="34" charset="-122"/>
                <a:cs typeface="Inter" pitchFamily="34" charset="-120"/>
              </a:rPr>
              <a:t>Respond instantly to current input without extensive planning. Example: Siri, ChatGPT.</a:t>
            </a:r>
            <a:endParaRPr lang="en-US" sz="1500" dirty="0"/>
          </a:p>
        </p:txBody>
      </p:sp>
      <p:pic>
        <p:nvPicPr>
          <p:cNvPr id="7" name="Image 0" descr="preencoded.png"/>
          <p:cNvPicPr>
            <a:picLocks noChangeAspect="1"/>
          </p:cNvPicPr>
          <p:nvPr/>
        </p:nvPicPr>
        <p:blipFill>
          <a:blip r:embed="rId3"/>
          <a:stretch>
            <a:fillRect/>
          </a:stretch>
        </p:blipFill>
        <p:spPr>
          <a:xfrm>
            <a:off x="4994553" y="3232190"/>
            <a:ext cx="4641294" cy="4641294"/>
          </a:xfrm>
          <a:prstGeom prst="rect">
            <a:avLst/>
          </a:prstGeom>
        </p:spPr>
      </p:pic>
      <p:sp>
        <p:nvSpPr>
          <p:cNvPr id="8" name="Text 5"/>
          <p:cNvSpPr/>
          <p:nvPr/>
        </p:nvSpPr>
        <p:spPr>
          <a:xfrm>
            <a:off x="6210717" y="4678263"/>
            <a:ext cx="275034" cy="343853"/>
          </a:xfrm>
          <a:prstGeom prst="rect">
            <a:avLst/>
          </a:prstGeom>
          <a:noFill/>
          <a:ln/>
        </p:spPr>
        <p:txBody>
          <a:bodyPr wrap="none" lIns="0" tIns="0" rIns="0" bIns="0" rtlCol="0" anchor="t"/>
          <a:lstStyle/>
          <a:p>
            <a:pPr marL="0" indent="0" algn="l">
              <a:lnSpc>
                <a:spcPts val="3450"/>
              </a:lnSpc>
              <a:buNone/>
            </a:pPr>
            <a:r>
              <a:rPr lang="en-US" sz="2150" b="1" dirty="0">
                <a:solidFill>
                  <a:srgbClr val="272525"/>
                </a:solidFill>
                <a:ea typeface="Inter Bold" pitchFamily="34" charset="-122"/>
                <a:cs typeface="Inter Bold" pitchFamily="34" charset="-120"/>
              </a:rPr>
              <a:t>1</a:t>
            </a:r>
            <a:endParaRPr lang="en-US" sz="2150" dirty="0"/>
          </a:p>
        </p:txBody>
      </p:sp>
      <p:sp>
        <p:nvSpPr>
          <p:cNvPr id="9" name="Text 6"/>
          <p:cNvSpPr/>
          <p:nvPr/>
        </p:nvSpPr>
        <p:spPr>
          <a:xfrm>
            <a:off x="9635847" y="3279219"/>
            <a:ext cx="2445425" cy="305633"/>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ea typeface="Inter Bold" pitchFamily="34" charset="-122"/>
                <a:cs typeface="Inter Bold" pitchFamily="34" charset="-120"/>
              </a:rPr>
              <a:t>Deliberative Agents</a:t>
            </a:r>
            <a:endParaRPr lang="en-US" sz="1900" dirty="0"/>
          </a:p>
        </p:txBody>
      </p:sp>
      <p:sp>
        <p:nvSpPr>
          <p:cNvPr id="10" name="Text 7"/>
          <p:cNvSpPr/>
          <p:nvPr/>
        </p:nvSpPr>
        <p:spPr>
          <a:xfrm>
            <a:off x="9635847" y="3702129"/>
            <a:ext cx="4309824" cy="938689"/>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Plan actions before acting, considering potential outcomes. Example: LangChain agents.</a:t>
            </a:r>
            <a:endParaRPr lang="en-US" sz="1500" dirty="0"/>
          </a:p>
        </p:txBody>
      </p:sp>
      <p:pic>
        <p:nvPicPr>
          <p:cNvPr id="11" name="Image 1" descr="preencoded.png"/>
          <p:cNvPicPr>
            <a:picLocks noChangeAspect="1"/>
          </p:cNvPicPr>
          <p:nvPr/>
        </p:nvPicPr>
        <p:blipFill>
          <a:blip r:embed="rId4"/>
          <a:stretch>
            <a:fillRect/>
          </a:stretch>
        </p:blipFill>
        <p:spPr>
          <a:xfrm>
            <a:off x="4994553" y="3232190"/>
            <a:ext cx="4641294" cy="4641294"/>
          </a:xfrm>
          <a:prstGeom prst="rect">
            <a:avLst/>
          </a:prstGeom>
        </p:spPr>
      </p:pic>
      <p:sp>
        <p:nvSpPr>
          <p:cNvPr id="12" name="Text 8"/>
          <p:cNvSpPr/>
          <p:nvPr/>
        </p:nvSpPr>
        <p:spPr>
          <a:xfrm>
            <a:off x="7546836" y="4244161"/>
            <a:ext cx="275034" cy="343853"/>
          </a:xfrm>
          <a:prstGeom prst="rect">
            <a:avLst/>
          </a:prstGeom>
          <a:noFill/>
          <a:ln/>
        </p:spPr>
        <p:txBody>
          <a:bodyPr wrap="none" lIns="0" tIns="0" rIns="0" bIns="0" rtlCol="0" anchor="t"/>
          <a:lstStyle/>
          <a:p>
            <a:pPr marL="0" indent="0" algn="l">
              <a:lnSpc>
                <a:spcPts val="3450"/>
              </a:lnSpc>
              <a:buNone/>
            </a:pPr>
            <a:r>
              <a:rPr lang="en-US" sz="2150" b="1" dirty="0">
                <a:solidFill>
                  <a:srgbClr val="272525"/>
                </a:solidFill>
                <a:ea typeface="Inter Bold" pitchFamily="34" charset="-122"/>
                <a:cs typeface="Inter Bold" pitchFamily="34" charset="-120"/>
              </a:rPr>
              <a:t>2</a:t>
            </a:r>
            <a:endParaRPr lang="en-US" sz="2150" dirty="0"/>
          </a:p>
        </p:txBody>
      </p:sp>
      <p:sp>
        <p:nvSpPr>
          <p:cNvPr id="13" name="Text 9"/>
          <p:cNvSpPr/>
          <p:nvPr/>
        </p:nvSpPr>
        <p:spPr>
          <a:xfrm>
            <a:off x="10027087" y="5028367"/>
            <a:ext cx="2445425" cy="305633"/>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ea typeface="Inter Bold" pitchFamily="34" charset="-122"/>
                <a:cs typeface="Inter Bold" pitchFamily="34" charset="-120"/>
              </a:rPr>
              <a:t>Goal-Based Agents</a:t>
            </a:r>
            <a:endParaRPr lang="en-US" sz="1900" dirty="0"/>
          </a:p>
        </p:txBody>
      </p:sp>
      <p:sp>
        <p:nvSpPr>
          <p:cNvPr id="14" name="Text 10"/>
          <p:cNvSpPr/>
          <p:nvPr/>
        </p:nvSpPr>
        <p:spPr>
          <a:xfrm>
            <a:off x="10027087" y="5451277"/>
            <a:ext cx="3918585" cy="938689"/>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Focused on fulfilling long-term objectives through sequential actions. Example: AutoGen agents.</a:t>
            </a:r>
            <a:endParaRPr lang="en-US" sz="1500" dirty="0"/>
          </a:p>
        </p:txBody>
      </p:sp>
      <p:pic>
        <p:nvPicPr>
          <p:cNvPr id="15" name="Image 2" descr="preencoded.png"/>
          <p:cNvPicPr>
            <a:picLocks noChangeAspect="1"/>
          </p:cNvPicPr>
          <p:nvPr/>
        </p:nvPicPr>
        <p:blipFill>
          <a:blip r:embed="rId5"/>
          <a:stretch>
            <a:fillRect/>
          </a:stretch>
        </p:blipFill>
        <p:spPr>
          <a:xfrm>
            <a:off x="4994553" y="3232190"/>
            <a:ext cx="4641294" cy="4641294"/>
          </a:xfrm>
          <a:prstGeom prst="rect">
            <a:avLst/>
          </a:prstGeom>
        </p:spPr>
      </p:pic>
      <p:sp>
        <p:nvSpPr>
          <p:cNvPr id="16" name="Text 11"/>
          <p:cNvSpPr/>
          <p:nvPr/>
        </p:nvSpPr>
        <p:spPr>
          <a:xfrm>
            <a:off x="8372654" y="5380851"/>
            <a:ext cx="275034" cy="343853"/>
          </a:xfrm>
          <a:prstGeom prst="rect">
            <a:avLst/>
          </a:prstGeom>
          <a:noFill/>
          <a:ln/>
        </p:spPr>
        <p:txBody>
          <a:bodyPr wrap="none" lIns="0" tIns="0" rIns="0" bIns="0" rtlCol="0" anchor="t"/>
          <a:lstStyle/>
          <a:p>
            <a:pPr marL="0" indent="0" algn="l">
              <a:lnSpc>
                <a:spcPts val="3450"/>
              </a:lnSpc>
              <a:buNone/>
            </a:pPr>
            <a:r>
              <a:rPr lang="en-US" sz="2150" b="1" dirty="0">
                <a:solidFill>
                  <a:srgbClr val="272525"/>
                </a:solidFill>
                <a:ea typeface="Inter Bold" pitchFamily="34" charset="-122"/>
                <a:cs typeface="Inter Bold" pitchFamily="34" charset="-120"/>
              </a:rPr>
              <a:t>3</a:t>
            </a:r>
            <a:endParaRPr lang="en-US" sz="2150" dirty="0"/>
          </a:p>
        </p:txBody>
      </p:sp>
      <p:sp>
        <p:nvSpPr>
          <p:cNvPr id="17" name="Text 12"/>
          <p:cNvSpPr/>
          <p:nvPr/>
        </p:nvSpPr>
        <p:spPr>
          <a:xfrm>
            <a:off x="9635847" y="6777633"/>
            <a:ext cx="2524958" cy="305633"/>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ea typeface="Inter Bold" pitchFamily="34" charset="-122"/>
                <a:cs typeface="Inter Bold" pitchFamily="34" charset="-120"/>
              </a:rPr>
              <a:t>Multi-Agent Systems</a:t>
            </a:r>
            <a:endParaRPr lang="en-US" sz="1900" dirty="0"/>
          </a:p>
        </p:txBody>
      </p:sp>
      <p:sp>
        <p:nvSpPr>
          <p:cNvPr id="18" name="Text 13"/>
          <p:cNvSpPr/>
          <p:nvPr/>
        </p:nvSpPr>
        <p:spPr>
          <a:xfrm>
            <a:off x="9635847" y="7200543"/>
            <a:ext cx="4309824" cy="625793"/>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Teams of specialized agents collaborating to achieve complex tasks. Example: CrewAI.</a:t>
            </a:r>
            <a:endParaRPr lang="en-US" sz="1500" dirty="0"/>
          </a:p>
        </p:txBody>
      </p:sp>
      <p:pic>
        <p:nvPicPr>
          <p:cNvPr id="19" name="Image 3" descr="preencoded.png"/>
          <p:cNvPicPr>
            <a:picLocks noChangeAspect="1"/>
          </p:cNvPicPr>
          <p:nvPr/>
        </p:nvPicPr>
        <p:blipFill>
          <a:blip r:embed="rId6"/>
          <a:stretch>
            <a:fillRect/>
          </a:stretch>
        </p:blipFill>
        <p:spPr>
          <a:xfrm>
            <a:off x="4994553" y="3232190"/>
            <a:ext cx="4641294" cy="4641294"/>
          </a:xfrm>
          <a:prstGeom prst="rect">
            <a:avLst/>
          </a:prstGeom>
        </p:spPr>
      </p:pic>
      <p:sp>
        <p:nvSpPr>
          <p:cNvPr id="20" name="Text 14"/>
          <p:cNvSpPr/>
          <p:nvPr/>
        </p:nvSpPr>
        <p:spPr>
          <a:xfrm>
            <a:off x="7546836" y="6517422"/>
            <a:ext cx="275034" cy="343853"/>
          </a:xfrm>
          <a:prstGeom prst="rect">
            <a:avLst/>
          </a:prstGeom>
          <a:noFill/>
          <a:ln/>
        </p:spPr>
        <p:txBody>
          <a:bodyPr wrap="none" lIns="0" tIns="0" rIns="0" bIns="0" rtlCol="0" anchor="t"/>
          <a:lstStyle/>
          <a:p>
            <a:pPr marL="0" indent="0" algn="l">
              <a:lnSpc>
                <a:spcPts val="3450"/>
              </a:lnSpc>
              <a:buNone/>
            </a:pPr>
            <a:r>
              <a:rPr lang="en-US" sz="2150" b="1" dirty="0">
                <a:solidFill>
                  <a:srgbClr val="272525"/>
                </a:solidFill>
                <a:ea typeface="Inter Bold" pitchFamily="34" charset="-122"/>
                <a:cs typeface="Inter Bold" pitchFamily="34" charset="-120"/>
              </a:rPr>
              <a:t>4</a:t>
            </a:r>
            <a:endParaRPr lang="en-US" sz="2150" dirty="0"/>
          </a:p>
        </p:txBody>
      </p:sp>
      <p:sp>
        <p:nvSpPr>
          <p:cNvPr id="21" name="Text 15"/>
          <p:cNvSpPr/>
          <p:nvPr/>
        </p:nvSpPr>
        <p:spPr>
          <a:xfrm>
            <a:off x="2300049" y="6340316"/>
            <a:ext cx="2694503" cy="305633"/>
          </a:xfrm>
          <a:prstGeom prst="rect">
            <a:avLst/>
          </a:prstGeom>
          <a:noFill/>
          <a:ln/>
        </p:spPr>
        <p:txBody>
          <a:bodyPr wrap="none" lIns="0" tIns="0" rIns="0" bIns="0" rtlCol="0" anchor="t"/>
          <a:lstStyle/>
          <a:p>
            <a:pPr marL="0" indent="0" algn="r">
              <a:lnSpc>
                <a:spcPts val="2400"/>
              </a:lnSpc>
              <a:buNone/>
            </a:pPr>
            <a:r>
              <a:rPr lang="en-US" sz="1900" b="1" dirty="0">
                <a:solidFill>
                  <a:srgbClr val="272525"/>
                </a:solidFill>
                <a:ea typeface="Inter Bold" pitchFamily="34" charset="-122"/>
                <a:cs typeface="Inter Bold" pitchFamily="34" charset="-120"/>
              </a:rPr>
              <a:t>Self-Improving Agents</a:t>
            </a:r>
            <a:endParaRPr lang="en-US" sz="1900" dirty="0"/>
          </a:p>
        </p:txBody>
      </p:sp>
      <p:sp>
        <p:nvSpPr>
          <p:cNvPr id="22" name="Text 16"/>
          <p:cNvSpPr/>
          <p:nvPr/>
        </p:nvSpPr>
        <p:spPr>
          <a:xfrm>
            <a:off x="684728" y="6763226"/>
            <a:ext cx="4309824" cy="625793"/>
          </a:xfrm>
          <a:prstGeom prst="rect">
            <a:avLst/>
          </a:prstGeom>
          <a:noFill/>
          <a:ln/>
        </p:spPr>
        <p:txBody>
          <a:bodyPr wrap="square" lIns="0" tIns="0" rIns="0" bIns="0" rtlCol="0" anchor="t"/>
          <a:lstStyle/>
          <a:p>
            <a:pPr marL="0" indent="0" algn="r">
              <a:lnSpc>
                <a:spcPts val="2450"/>
              </a:lnSpc>
              <a:buNone/>
            </a:pPr>
            <a:r>
              <a:rPr lang="en-US" sz="1500" dirty="0">
                <a:solidFill>
                  <a:srgbClr val="272525"/>
                </a:solidFill>
                <a:ea typeface="Inter" pitchFamily="34" charset="-122"/>
                <a:cs typeface="Inter" pitchFamily="34" charset="-120"/>
              </a:rPr>
              <a:t>Utilize feedback to continuously refine their responses and strategies. Example: DSPy.</a:t>
            </a:r>
            <a:endParaRPr lang="en-US" sz="1500" dirty="0"/>
          </a:p>
        </p:txBody>
      </p:sp>
      <p:pic>
        <p:nvPicPr>
          <p:cNvPr id="23" name="Image 4" descr="preencoded.png"/>
          <p:cNvPicPr>
            <a:picLocks noChangeAspect="1"/>
          </p:cNvPicPr>
          <p:nvPr/>
        </p:nvPicPr>
        <p:blipFill>
          <a:blip r:embed="rId7"/>
          <a:stretch>
            <a:fillRect/>
          </a:stretch>
        </p:blipFill>
        <p:spPr>
          <a:xfrm>
            <a:off x="4994553" y="3232190"/>
            <a:ext cx="4641294" cy="4641294"/>
          </a:xfrm>
          <a:prstGeom prst="rect">
            <a:avLst/>
          </a:prstGeom>
        </p:spPr>
      </p:pic>
      <p:sp>
        <p:nvSpPr>
          <p:cNvPr id="24" name="Text 17"/>
          <p:cNvSpPr/>
          <p:nvPr/>
        </p:nvSpPr>
        <p:spPr>
          <a:xfrm>
            <a:off x="6210717" y="6083320"/>
            <a:ext cx="275034" cy="343853"/>
          </a:xfrm>
          <a:prstGeom prst="rect">
            <a:avLst/>
          </a:prstGeom>
          <a:noFill/>
          <a:ln/>
        </p:spPr>
        <p:txBody>
          <a:bodyPr wrap="none" lIns="0" tIns="0" rIns="0" bIns="0" rtlCol="0" anchor="t"/>
          <a:lstStyle/>
          <a:p>
            <a:pPr marL="0" indent="0" algn="l">
              <a:lnSpc>
                <a:spcPts val="3450"/>
              </a:lnSpc>
              <a:buNone/>
            </a:pPr>
            <a:r>
              <a:rPr lang="en-US" sz="2150" b="1" dirty="0">
                <a:solidFill>
                  <a:srgbClr val="272525"/>
                </a:solidFill>
                <a:ea typeface="Inter Bold" pitchFamily="34" charset="-122"/>
                <a:cs typeface="Inter Bold" pitchFamily="34" charset="-120"/>
              </a:rPr>
              <a:t>5</a:t>
            </a:r>
            <a:endParaRPr lang="en-US" sz="2150" dirty="0"/>
          </a:p>
        </p:txBody>
      </p:sp>
      <p:sp>
        <p:nvSpPr>
          <p:cNvPr id="25" name="Rectangle 24">
            <a:extLst>
              <a:ext uri="{FF2B5EF4-FFF2-40B4-BE49-F238E27FC236}">
                <a16:creationId xmlns:a16="http://schemas.microsoft.com/office/drawing/2014/main" id="{5024EEC8-45D9-4BB3-BFB7-CE50CED62E98}"/>
              </a:ext>
            </a:extLst>
          </p:cNvPr>
          <p:cNvSpPr/>
          <p:nvPr/>
        </p:nvSpPr>
        <p:spPr>
          <a:xfrm>
            <a:off x="12791440" y="7711440"/>
            <a:ext cx="1838960" cy="518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58403" y="438745"/>
            <a:ext cx="8108871" cy="498634"/>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ea typeface="Inter Bold" pitchFamily="34" charset="-122"/>
                <a:cs typeface="Inter Bold" pitchFamily="34" charset="-120"/>
              </a:rPr>
              <a:t>The Agent Pipeline: From Query to Output</a:t>
            </a:r>
            <a:endParaRPr lang="en-US" sz="3100" dirty="0"/>
          </a:p>
        </p:txBody>
      </p:sp>
      <p:sp>
        <p:nvSpPr>
          <p:cNvPr id="3" name="Text 1"/>
          <p:cNvSpPr/>
          <p:nvPr/>
        </p:nvSpPr>
        <p:spPr>
          <a:xfrm>
            <a:off x="558403" y="1256467"/>
            <a:ext cx="13513594" cy="765810"/>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ea typeface="Inter" pitchFamily="34" charset="-122"/>
                <a:cs typeface="Inter" pitchFamily="34" charset="-120"/>
              </a:rPr>
              <a:t>A typical AI agent operates through a sophisticated pipeline that transforms a user query into a final, coherent output. This process involves multiple stages, from understanding intent and planning actions to executing steps, reflecting on progress, and iterating as needed. This iterative loop ensures that agents can handle complex tasks and adapt to dynamic information.</a:t>
            </a:r>
            <a:endParaRPr lang="en-US" sz="1250" dirty="0"/>
          </a:p>
        </p:txBody>
      </p:sp>
      <p:sp>
        <p:nvSpPr>
          <p:cNvPr id="4" name="Shape 2"/>
          <p:cNvSpPr/>
          <p:nvPr/>
        </p:nvSpPr>
        <p:spPr>
          <a:xfrm>
            <a:off x="7303770" y="2201704"/>
            <a:ext cx="22860" cy="5589389"/>
          </a:xfrm>
          <a:prstGeom prst="roundRect">
            <a:avLst>
              <a:gd name="adj" fmla="val 293174"/>
            </a:avLst>
          </a:prstGeom>
          <a:solidFill>
            <a:srgbClr val="C0C1D7"/>
          </a:solidFill>
          <a:ln/>
        </p:spPr>
      </p:sp>
      <p:sp>
        <p:nvSpPr>
          <p:cNvPr id="5" name="Shape 3"/>
          <p:cNvSpPr/>
          <p:nvPr/>
        </p:nvSpPr>
        <p:spPr>
          <a:xfrm>
            <a:off x="6679942" y="2369701"/>
            <a:ext cx="478631" cy="22860"/>
          </a:xfrm>
          <a:prstGeom prst="roundRect">
            <a:avLst>
              <a:gd name="adj" fmla="val 293174"/>
            </a:avLst>
          </a:prstGeom>
          <a:solidFill>
            <a:srgbClr val="C0C1D7"/>
          </a:solidFill>
          <a:ln/>
        </p:spPr>
      </p:sp>
      <p:sp>
        <p:nvSpPr>
          <p:cNvPr id="6" name="Shape 4"/>
          <p:cNvSpPr/>
          <p:nvPr/>
        </p:nvSpPr>
        <p:spPr>
          <a:xfrm>
            <a:off x="7135713" y="2201704"/>
            <a:ext cx="358973" cy="358973"/>
          </a:xfrm>
          <a:prstGeom prst="roundRect">
            <a:avLst>
              <a:gd name="adj" fmla="val 18670"/>
            </a:avLst>
          </a:prstGeom>
          <a:solidFill>
            <a:srgbClr val="DADBF1"/>
          </a:solidFill>
          <a:ln w="7620">
            <a:solidFill>
              <a:srgbClr val="C0C1D7"/>
            </a:solidFill>
            <a:prstDash val="solid"/>
          </a:ln>
        </p:spPr>
      </p:sp>
      <p:pic>
        <p:nvPicPr>
          <p:cNvPr id="7" name="Image 0" descr="preencoded.png"/>
          <p:cNvPicPr>
            <a:picLocks noChangeAspect="1"/>
          </p:cNvPicPr>
          <p:nvPr/>
        </p:nvPicPr>
        <p:blipFill>
          <a:blip r:embed="rId3"/>
          <a:stretch>
            <a:fillRect/>
          </a:stretch>
        </p:blipFill>
        <p:spPr>
          <a:xfrm>
            <a:off x="7195483" y="2231588"/>
            <a:ext cx="239316" cy="299085"/>
          </a:xfrm>
          <a:prstGeom prst="rect">
            <a:avLst/>
          </a:prstGeom>
        </p:spPr>
      </p:pic>
      <p:sp>
        <p:nvSpPr>
          <p:cNvPr id="8" name="Text 5"/>
          <p:cNvSpPr/>
          <p:nvPr/>
        </p:nvSpPr>
        <p:spPr>
          <a:xfrm>
            <a:off x="4398169" y="2256473"/>
            <a:ext cx="2119193" cy="249198"/>
          </a:xfrm>
          <a:prstGeom prst="rect">
            <a:avLst/>
          </a:prstGeom>
          <a:noFill/>
          <a:ln/>
        </p:spPr>
        <p:txBody>
          <a:bodyPr wrap="none" lIns="0" tIns="0" rIns="0" bIns="0" rtlCol="0" anchor="t"/>
          <a:lstStyle/>
          <a:p>
            <a:pPr marL="0" indent="0" algn="r">
              <a:lnSpc>
                <a:spcPts val="1950"/>
              </a:lnSpc>
              <a:buNone/>
            </a:pPr>
            <a:r>
              <a:rPr lang="en-US" sz="1550" b="1" dirty="0">
                <a:solidFill>
                  <a:srgbClr val="272525"/>
                </a:solidFill>
                <a:ea typeface="Inter Bold" pitchFamily="34" charset="-122"/>
                <a:cs typeface="Inter Bold" pitchFamily="34" charset="-120"/>
              </a:rPr>
              <a:t>1. Receive User Query</a:t>
            </a:r>
            <a:endParaRPr lang="en-US" sz="1550" dirty="0"/>
          </a:p>
        </p:txBody>
      </p:sp>
      <p:sp>
        <p:nvSpPr>
          <p:cNvPr id="9" name="Text 6"/>
          <p:cNvSpPr/>
          <p:nvPr/>
        </p:nvSpPr>
        <p:spPr>
          <a:xfrm>
            <a:off x="558403" y="2601397"/>
            <a:ext cx="5958959" cy="510540"/>
          </a:xfrm>
          <a:prstGeom prst="rect">
            <a:avLst/>
          </a:prstGeom>
          <a:noFill/>
          <a:ln/>
        </p:spPr>
        <p:txBody>
          <a:bodyPr wrap="square" lIns="0" tIns="0" rIns="0" bIns="0" rtlCol="0" anchor="t"/>
          <a:lstStyle/>
          <a:p>
            <a:pPr marL="0" indent="0" algn="r">
              <a:lnSpc>
                <a:spcPts val="2000"/>
              </a:lnSpc>
              <a:buNone/>
            </a:pPr>
            <a:r>
              <a:rPr lang="en-US" sz="1250" dirty="0">
                <a:solidFill>
                  <a:srgbClr val="272525"/>
                </a:solidFill>
                <a:ea typeface="Inter" pitchFamily="34" charset="-122"/>
                <a:cs typeface="Inter" pitchFamily="34" charset="-120"/>
              </a:rPr>
              <a:t>The agent receives an input, which can be a natural language command or data.</a:t>
            </a:r>
            <a:endParaRPr lang="en-US" sz="1250" dirty="0"/>
          </a:p>
        </p:txBody>
      </p:sp>
      <p:sp>
        <p:nvSpPr>
          <p:cNvPr id="10" name="Shape 7"/>
          <p:cNvSpPr/>
          <p:nvPr/>
        </p:nvSpPr>
        <p:spPr>
          <a:xfrm>
            <a:off x="7471827" y="3326963"/>
            <a:ext cx="478631" cy="22860"/>
          </a:xfrm>
          <a:prstGeom prst="roundRect">
            <a:avLst>
              <a:gd name="adj" fmla="val 293174"/>
            </a:avLst>
          </a:prstGeom>
          <a:solidFill>
            <a:srgbClr val="C0C1D7"/>
          </a:solidFill>
          <a:ln/>
        </p:spPr>
      </p:sp>
      <p:sp>
        <p:nvSpPr>
          <p:cNvPr id="11" name="Shape 8"/>
          <p:cNvSpPr/>
          <p:nvPr/>
        </p:nvSpPr>
        <p:spPr>
          <a:xfrm>
            <a:off x="7135713" y="3158966"/>
            <a:ext cx="358973" cy="358973"/>
          </a:xfrm>
          <a:prstGeom prst="roundRect">
            <a:avLst>
              <a:gd name="adj" fmla="val 18670"/>
            </a:avLst>
          </a:prstGeom>
          <a:solidFill>
            <a:srgbClr val="DADBF1"/>
          </a:solidFill>
          <a:ln w="7620">
            <a:solidFill>
              <a:srgbClr val="C0C1D7"/>
            </a:solidFill>
            <a:prstDash val="solid"/>
          </a:ln>
        </p:spPr>
      </p:sp>
      <p:pic>
        <p:nvPicPr>
          <p:cNvPr id="12" name="Image 1" descr="preencoded.png"/>
          <p:cNvPicPr>
            <a:picLocks noChangeAspect="1"/>
          </p:cNvPicPr>
          <p:nvPr/>
        </p:nvPicPr>
        <p:blipFill>
          <a:blip r:embed="rId4"/>
          <a:stretch>
            <a:fillRect/>
          </a:stretch>
        </p:blipFill>
        <p:spPr>
          <a:xfrm>
            <a:off x="7195483" y="3188851"/>
            <a:ext cx="239316" cy="299085"/>
          </a:xfrm>
          <a:prstGeom prst="rect">
            <a:avLst/>
          </a:prstGeom>
        </p:spPr>
      </p:pic>
      <p:sp>
        <p:nvSpPr>
          <p:cNvPr id="13" name="Text 9"/>
          <p:cNvSpPr/>
          <p:nvPr/>
        </p:nvSpPr>
        <p:spPr>
          <a:xfrm>
            <a:off x="8113038" y="3213735"/>
            <a:ext cx="1994535" cy="249198"/>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ea typeface="Inter Bold" pitchFamily="34" charset="-122"/>
                <a:cs typeface="Inter Bold" pitchFamily="34" charset="-120"/>
              </a:rPr>
              <a:t>2. Understand Intent</a:t>
            </a:r>
            <a:endParaRPr lang="en-US" sz="1550" dirty="0"/>
          </a:p>
        </p:txBody>
      </p:sp>
      <p:sp>
        <p:nvSpPr>
          <p:cNvPr id="14" name="Text 10"/>
          <p:cNvSpPr/>
          <p:nvPr/>
        </p:nvSpPr>
        <p:spPr>
          <a:xfrm>
            <a:off x="8113038" y="3558659"/>
            <a:ext cx="5958959" cy="510540"/>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ea typeface="Inter" pitchFamily="34" charset="-122"/>
                <a:cs typeface="Inter" pitchFamily="34" charset="-120"/>
              </a:rPr>
              <a:t>The LLM analyzes the query to determine the user's underlying goal and context.</a:t>
            </a:r>
            <a:endParaRPr lang="en-US" sz="1250" dirty="0"/>
          </a:p>
        </p:txBody>
      </p:sp>
      <p:sp>
        <p:nvSpPr>
          <p:cNvPr id="15" name="Shape 11"/>
          <p:cNvSpPr/>
          <p:nvPr/>
        </p:nvSpPr>
        <p:spPr>
          <a:xfrm>
            <a:off x="6679942" y="4152067"/>
            <a:ext cx="478631" cy="22860"/>
          </a:xfrm>
          <a:prstGeom prst="roundRect">
            <a:avLst>
              <a:gd name="adj" fmla="val 293174"/>
            </a:avLst>
          </a:prstGeom>
          <a:solidFill>
            <a:srgbClr val="C0C1D7"/>
          </a:solidFill>
          <a:ln/>
        </p:spPr>
      </p:sp>
      <p:sp>
        <p:nvSpPr>
          <p:cNvPr id="16" name="Shape 12"/>
          <p:cNvSpPr/>
          <p:nvPr/>
        </p:nvSpPr>
        <p:spPr>
          <a:xfrm>
            <a:off x="7135713" y="3984069"/>
            <a:ext cx="358973" cy="358973"/>
          </a:xfrm>
          <a:prstGeom prst="roundRect">
            <a:avLst>
              <a:gd name="adj" fmla="val 18670"/>
            </a:avLst>
          </a:prstGeom>
          <a:solidFill>
            <a:srgbClr val="DADBF1"/>
          </a:solidFill>
          <a:ln w="7620">
            <a:solidFill>
              <a:srgbClr val="C0C1D7"/>
            </a:solidFill>
            <a:prstDash val="solid"/>
          </a:ln>
        </p:spPr>
      </p:sp>
      <p:pic>
        <p:nvPicPr>
          <p:cNvPr id="17" name="Image 2" descr="preencoded.png"/>
          <p:cNvPicPr>
            <a:picLocks noChangeAspect="1"/>
          </p:cNvPicPr>
          <p:nvPr/>
        </p:nvPicPr>
        <p:blipFill>
          <a:blip r:embed="rId5"/>
          <a:stretch>
            <a:fillRect/>
          </a:stretch>
        </p:blipFill>
        <p:spPr>
          <a:xfrm>
            <a:off x="7195483" y="4013954"/>
            <a:ext cx="239316" cy="299085"/>
          </a:xfrm>
          <a:prstGeom prst="rect">
            <a:avLst/>
          </a:prstGeom>
        </p:spPr>
      </p:pic>
      <p:sp>
        <p:nvSpPr>
          <p:cNvPr id="18" name="Text 13"/>
          <p:cNvSpPr/>
          <p:nvPr/>
        </p:nvSpPr>
        <p:spPr>
          <a:xfrm>
            <a:off x="4522827" y="4038838"/>
            <a:ext cx="1994535" cy="249198"/>
          </a:xfrm>
          <a:prstGeom prst="rect">
            <a:avLst/>
          </a:prstGeom>
          <a:noFill/>
          <a:ln/>
        </p:spPr>
        <p:txBody>
          <a:bodyPr wrap="none" lIns="0" tIns="0" rIns="0" bIns="0" rtlCol="0" anchor="t"/>
          <a:lstStyle/>
          <a:p>
            <a:pPr marL="0" indent="0" algn="r">
              <a:lnSpc>
                <a:spcPts val="1950"/>
              </a:lnSpc>
              <a:buNone/>
            </a:pPr>
            <a:r>
              <a:rPr lang="en-US" sz="1550" b="1" dirty="0">
                <a:solidFill>
                  <a:srgbClr val="272525"/>
                </a:solidFill>
                <a:ea typeface="Inter Bold" pitchFamily="34" charset="-122"/>
                <a:cs typeface="Inter Bold" pitchFamily="34" charset="-120"/>
              </a:rPr>
              <a:t>3. Plan Actions</a:t>
            </a:r>
            <a:endParaRPr lang="en-US" sz="1550" dirty="0"/>
          </a:p>
        </p:txBody>
      </p:sp>
      <p:sp>
        <p:nvSpPr>
          <p:cNvPr id="19" name="Text 14"/>
          <p:cNvSpPr/>
          <p:nvPr/>
        </p:nvSpPr>
        <p:spPr>
          <a:xfrm>
            <a:off x="558403" y="4383762"/>
            <a:ext cx="5958959" cy="510540"/>
          </a:xfrm>
          <a:prstGeom prst="rect">
            <a:avLst/>
          </a:prstGeom>
          <a:noFill/>
          <a:ln/>
        </p:spPr>
        <p:txBody>
          <a:bodyPr wrap="square" lIns="0" tIns="0" rIns="0" bIns="0" rtlCol="0" anchor="t"/>
          <a:lstStyle/>
          <a:p>
            <a:pPr marL="0" indent="0" algn="r">
              <a:lnSpc>
                <a:spcPts val="2000"/>
              </a:lnSpc>
              <a:buNone/>
            </a:pPr>
            <a:r>
              <a:rPr lang="en-US" sz="1250" dirty="0">
                <a:solidFill>
                  <a:srgbClr val="272525"/>
                </a:solidFill>
                <a:ea typeface="Inter" pitchFamily="34" charset="-122"/>
                <a:cs typeface="Inter" pitchFamily="34" charset="-120"/>
              </a:rPr>
              <a:t>The agent devises a step-by-step plan, which may involve searching, calculating, or calling APIs.</a:t>
            </a:r>
            <a:endParaRPr lang="en-US" sz="1250" dirty="0"/>
          </a:p>
        </p:txBody>
      </p:sp>
      <p:sp>
        <p:nvSpPr>
          <p:cNvPr id="20" name="Shape 15"/>
          <p:cNvSpPr/>
          <p:nvPr/>
        </p:nvSpPr>
        <p:spPr>
          <a:xfrm>
            <a:off x="7471827" y="4977289"/>
            <a:ext cx="478631" cy="22860"/>
          </a:xfrm>
          <a:prstGeom prst="roundRect">
            <a:avLst>
              <a:gd name="adj" fmla="val 293174"/>
            </a:avLst>
          </a:prstGeom>
          <a:solidFill>
            <a:srgbClr val="C0C1D7"/>
          </a:solidFill>
          <a:ln/>
        </p:spPr>
      </p:sp>
      <p:sp>
        <p:nvSpPr>
          <p:cNvPr id="21" name="Shape 16"/>
          <p:cNvSpPr/>
          <p:nvPr/>
        </p:nvSpPr>
        <p:spPr>
          <a:xfrm>
            <a:off x="7135713" y="4809292"/>
            <a:ext cx="358973" cy="358973"/>
          </a:xfrm>
          <a:prstGeom prst="roundRect">
            <a:avLst>
              <a:gd name="adj" fmla="val 18670"/>
            </a:avLst>
          </a:prstGeom>
          <a:solidFill>
            <a:srgbClr val="DADBF1"/>
          </a:solidFill>
          <a:ln w="7620">
            <a:solidFill>
              <a:srgbClr val="C0C1D7"/>
            </a:solidFill>
            <a:prstDash val="solid"/>
          </a:ln>
        </p:spPr>
      </p:sp>
      <p:pic>
        <p:nvPicPr>
          <p:cNvPr id="22" name="Image 3" descr="preencoded.png"/>
          <p:cNvPicPr>
            <a:picLocks noChangeAspect="1"/>
          </p:cNvPicPr>
          <p:nvPr/>
        </p:nvPicPr>
        <p:blipFill>
          <a:blip r:embed="rId6"/>
          <a:stretch>
            <a:fillRect/>
          </a:stretch>
        </p:blipFill>
        <p:spPr>
          <a:xfrm>
            <a:off x="7195483" y="4839176"/>
            <a:ext cx="239316" cy="299085"/>
          </a:xfrm>
          <a:prstGeom prst="rect">
            <a:avLst/>
          </a:prstGeom>
        </p:spPr>
      </p:pic>
      <p:sp>
        <p:nvSpPr>
          <p:cNvPr id="23" name="Text 17"/>
          <p:cNvSpPr/>
          <p:nvPr/>
        </p:nvSpPr>
        <p:spPr>
          <a:xfrm>
            <a:off x="8113038" y="4864060"/>
            <a:ext cx="2359104" cy="249198"/>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ea typeface="Inter Bold" pitchFamily="34" charset="-122"/>
                <a:cs typeface="Inter Bold" pitchFamily="34" charset="-120"/>
              </a:rPr>
              <a:t>4. Execute Step-by-step</a:t>
            </a:r>
            <a:endParaRPr lang="en-US" sz="1550" dirty="0"/>
          </a:p>
        </p:txBody>
      </p:sp>
      <p:sp>
        <p:nvSpPr>
          <p:cNvPr id="24" name="Text 18"/>
          <p:cNvSpPr/>
          <p:nvPr/>
        </p:nvSpPr>
        <p:spPr>
          <a:xfrm>
            <a:off x="8113038" y="5208984"/>
            <a:ext cx="5958959" cy="510540"/>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ea typeface="Inter" pitchFamily="34" charset="-122"/>
                <a:cs typeface="Inter" pitchFamily="34" charset="-120"/>
              </a:rPr>
              <a:t>The planned actions are executed, often interacting with external tools or data sources.</a:t>
            </a:r>
            <a:endParaRPr lang="en-US" sz="1250" dirty="0"/>
          </a:p>
        </p:txBody>
      </p:sp>
      <p:sp>
        <p:nvSpPr>
          <p:cNvPr id="25" name="Shape 19"/>
          <p:cNvSpPr/>
          <p:nvPr/>
        </p:nvSpPr>
        <p:spPr>
          <a:xfrm>
            <a:off x="6679942" y="5802511"/>
            <a:ext cx="478631" cy="22860"/>
          </a:xfrm>
          <a:prstGeom prst="roundRect">
            <a:avLst>
              <a:gd name="adj" fmla="val 293174"/>
            </a:avLst>
          </a:prstGeom>
          <a:solidFill>
            <a:srgbClr val="C0C1D7"/>
          </a:solidFill>
          <a:ln/>
        </p:spPr>
      </p:sp>
      <p:sp>
        <p:nvSpPr>
          <p:cNvPr id="26" name="Shape 20"/>
          <p:cNvSpPr/>
          <p:nvPr/>
        </p:nvSpPr>
        <p:spPr>
          <a:xfrm>
            <a:off x="7135713" y="5634514"/>
            <a:ext cx="358973" cy="358973"/>
          </a:xfrm>
          <a:prstGeom prst="roundRect">
            <a:avLst>
              <a:gd name="adj" fmla="val 18670"/>
            </a:avLst>
          </a:prstGeom>
          <a:solidFill>
            <a:srgbClr val="DADBF1"/>
          </a:solidFill>
          <a:ln w="7620">
            <a:solidFill>
              <a:srgbClr val="C0C1D7"/>
            </a:solidFill>
            <a:prstDash val="solid"/>
          </a:ln>
        </p:spPr>
      </p:sp>
      <p:pic>
        <p:nvPicPr>
          <p:cNvPr id="27" name="Image 4" descr="preencoded.png"/>
          <p:cNvPicPr>
            <a:picLocks noChangeAspect="1"/>
          </p:cNvPicPr>
          <p:nvPr/>
        </p:nvPicPr>
        <p:blipFill>
          <a:blip r:embed="rId7"/>
          <a:stretch>
            <a:fillRect/>
          </a:stretch>
        </p:blipFill>
        <p:spPr>
          <a:xfrm>
            <a:off x="7195483" y="5664398"/>
            <a:ext cx="239316" cy="299085"/>
          </a:xfrm>
          <a:prstGeom prst="rect">
            <a:avLst/>
          </a:prstGeom>
        </p:spPr>
      </p:pic>
      <p:sp>
        <p:nvSpPr>
          <p:cNvPr id="28" name="Text 21"/>
          <p:cNvSpPr/>
          <p:nvPr/>
        </p:nvSpPr>
        <p:spPr>
          <a:xfrm>
            <a:off x="3695700" y="5689282"/>
            <a:ext cx="2821662" cy="249198"/>
          </a:xfrm>
          <a:prstGeom prst="rect">
            <a:avLst/>
          </a:prstGeom>
          <a:noFill/>
          <a:ln/>
        </p:spPr>
        <p:txBody>
          <a:bodyPr wrap="none" lIns="0" tIns="0" rIns="0" bIns="0" rtlCol="0" anchor="t"/>
          <a:lstStyle/>
          <a:p>
            <a:pPr marL="0" indent="0" algn="r">
              <a:lnSpc>
                <a:spcPts val="1950"/>
              </a:lnSpc>
              <a:buNone/>
            </a:pPr>
            <a:r>
              <a:rPr lang="en-US" sz="1550" b="1" dirty="0">
                <a:solidFill>
                  <a:srgbClr val="272525"/>
                </a:solidFill>
                <a:ea typeface="Inter Bold" pitchFamily="34" charset="-122"/>
                <a:cs typeface="Inter Bold" pitchFamily="34" charset="-120"/>
              </a:rPr>
              <a:t>5. Reflect &amp; Decide Next Step</a:t>
            </a:r>
            <a:endParaRPr lang="en-US" sz="1550" dirty="0"/>
          </a:p>
        </p:txBody>
      </p:sp>
      <p:sp>
        <p:nvSpPr>
          <p:cNvPr id="29" name="Text 22"/>
          <p:cNvSpPr/>
          <p:nvPr/>
        </p:nvSpPr>
        <p:spPr>
          <a:xfrm>
            <a:off x="558403" y="6034207"/>
            <a:ext cx="5958959" cy="510540"/>
          </a:xfrm>
          <a:prstGeom prst="rect">
            <a:avLst/>
          </a:prstGeom>
          <a:noFill/>
          <a:ln/>
        </p:spPr>
        <p:txBody>
          <a:bodyPr wrap="square" lIns="0" tIns="0" rIns="0" bIns="0" rtlCol="0" anchor="t"/>
          <a:lstStyle/>
          <a:p>
            <a:pPr marL="0" indent="0" algn="r">
              <a:lnSpc>
                <a:spcPts val="2000"/>
              </a:lnSpc>
              <a:buNone/>
            </a:pPr>
            <a:r>
              <a:rPr lang="en-US" sz="1250" dirty="0">
                <a:solidFill>
                  <a:srgbClr val="272525"/>
                </a:solidFill>
                <a:ea typeface="Inter" pitchFamily="34" charset="-122"/>
                <a:cs typeface="Inter" pitchFamily="34" charset="-120"/>
              </a:rPr>
              <a:t>The agent evaluates the outcome of its actions and decides if further steps are needed.</a:t>
            </a:r>
            <a:endParaRPr lang="en-US" sz="1250" dirty="0"/>
          </a:p>
        </p:txBody>
      </p:sp>
      <p:sp>
        <p:nvSpPr>
          <p:cNvPr id="30" name="Shape 23"/>
          <p:cNvSpPr/>
          <p:nvPr/>
        </p:nvSpPr>
        <p:spPr>
          <a:xfrm>
            <a:off x="7471827" y="6627733"/>
            <a:ext cx="478631" cy="22860"/>
          </a:xfrm>
          <a:prstGeom prst="roundRect">
            <a:avLst>
              <a:gd name="adj" fmla="val 293174"/>
            </a:avLst>
          </a:prstGeom>
          <a:solidFill>
            <a:srgbClr val="C0C1D7"/>
          </a:solidFill>
          <a:ln/>
        </p:spPr>
      </p:sp>
      <p:sp>
        <p:nvSpPr>
          <p:cNvPr id="31" name="Shape 24"/>
          <p:cNvSpPr/>
          <p:nvPr/>
        </p:nvSpPr>
        <p:spPr>
          <a:xfrm>
            <a:off x="7135713" y="6459736"/>
            <a:ext cx="358973" cy="358973"/>
          </a:xfrm>
          <a:prstGeom prst="roundRect">
            <a:avLst>
              <a:gd name="adj" fmla="val 18670"/>
            </a:avLst>
          </a:prstGeom>
          <a:solidFill>
            <a:srgbClr val="DADBF1"/>
          </a:solidFill>
          <a:ln w="7620">
            <a:solidFill>
              <a:srgbClr val="C0C1D7"/>
            </a:solidFill>
            <a:prstDash val="solid"/>
          </a:ln>
        </p:spPr>
      </p:sp>
      <p:pic>
        <p:nvPicPr>
          <p:cNvPr id="32" name="Image 5" descr="preencoded.png"/>
          <p:cNvPicPr>
            <a:picLocks noChangeAspect="1"/>
          </p:cNvPicPr>
          <p:nvPr/>
        </p:nvPicPr>
        <p:blipFill>
          <a:blip r:embed="rId8"/>
          <a:stretch>
            <a:fillRect/>
          </a:stretch>
        </p:blipFill>
        <p:spPr>
          <a:xfrm>
            <a:off x="7195483" y="6489621"/>
            <a:ext cx="239316" cy="299085"/>
          </a:xfrm>
          <a:prstGeom prst="rect">
            <a:avLst/>
          </a:prstGeom>
        </p:spPr>
      </p:pic>
      <p:sp>
        <p:nvSpPr>
          <p:cNvPr id="33" name="Text 25"/>
          <p:cNvSpPr/>
          <p:nvPr/>
        </p:nvSpPr>
        <p:spPr>
          <a:xfrm>
            <a:off x="8113038" y="6514505"/>
            <a:ext cx="2358747" cy="249198"/>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ea typeface="Inter Bold" pitchFamily="34" charset="-122"/>
                <a:cs typeface="Inter Bold" pitchFamily="34" charset="-120"/>
              </a:rPr>
              <a:t>6. Generate Final Output</a:t>
            </a:r>
            <a:endParaRPr lang="en-US" sz="1550" dirty="0"/>
          </a:p>
        </p:txBody>
      </p:sp>
      <p:sp>
        <p:nvSpPr>
          <p:cNvPr id="34" name="Text 26"/>
          <p:cNvSpPr/>
          <p:nvPr/>
        </p:nvSpPr>
        <p:spPr>
          <a:xfrm>
            <a:off x="8113038" y="6859429"/>
            <a:ext cx="5958959" cy="255270"/>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ea typeface="Inter" pitchFamily="34" charset="-122"/>
                <a:cs typeface="Inter" pitchFamily="34" charset="-120"/>
              </a:rPr>
              <a:t>A comprehensive and relevant response or action is produced for the user.</a:t>
            </a:r>
            <a:endParaRPr lang="en-US" sz="1250" dirty="0"/>
          </a:p>
        </p:txBody>
      </p:sp>
      <p:sp>
        <p:nvSpPr>
          <p:cNvPr id="35" name="Rectangle 34">
            <a:extLst>
              <a:ext uri="{FF2B5EF4-FFF2-40B4-BE49-F238E27FC236}">
                <a16:creationId xmlns:a16="http://schemas.microsoft.com/office/drawing/2014/main" id="{E596F0C5-DA2B-49F5-AFD5-6A13E5E98026}"/>
              </a:ext>
            </a:extLst>
          </p:cNvPr>
          <p:cNvSpPr/>
          <p:nvPr/>
        </p:nvSpPr>
        <p:spPr>
          <a:xfrm>
            <a:off x="12618720" y="7579360"/>
            <a:ext cx="2011680" cy="650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7824" y="542211"/>
            <a:ext cx="8403669" cy="614124"/>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ea typeface="Inter Bold" pitchFamily="34" charset="-122"/>
                <a:cs typeface="Inter Bold" pitchFamily="34" charset="-120"/>
              </a:rPr>
              <a:t>Key Takeaways &amp; Future Directions</a:t>
            </a:r>
            <a:endParaRPr lang="en-US" sz="3850" dirty="0"/>
          </a:p>
        </p:txBody>
      </p:sp>
      <p:sp>
        <p:nvSpPr>
          <p:cNvPr id="3" name="Text 1"/>
          <p:cNvSpPr/>
          <p:nvPr/>
        </p:nvSpPr>
        <p:spPr>
          <a:xfrm>
            <a:off x="687824" y="1549360"/>
            <a:ext cx="13254752" cy="943332"/>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AI agents represent a paradigm shift in how we interact with and develop intelligent systems. Frameworks are crucial enablers, providing the tools and structures needed to build these sophisticated agents effectively. The journey from static bots to autonomous, learning entities is well underway, promising a future of more intuitive, powerful, and adaptable AI solutions.</a:t>
            </a:r>
            <a:endParaRPr lang="en-US" sz="1500" dirty="0"/>
          </a:p>
        </p:txBody>
      </p:sp>
      <p:sp>
        <p:nvSpPr>
          <p:cNvPr id="4" name="Text 2"/>
          <p:cNvSpPr/>
          <p:nvPr/>
        </p:nvSpPr>
        <p:spPr>
          <a:xfrm>
            <a:off x="687824" y="2713792"/>
            <a:ext cx="13254752" cy="314444"/>
          </a:xfrm>
          <a:prstGeom prst="rect">
            <a:avLst/>
          </a:prstGeom>
          <a:noFill/>
          <a:ln/>
        </p:spPr>
        <p:txBody>
          <a:bodyPr wrap="non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The integration of multi-agent systems and continued self-improvement mechanisms will further unlock new possibilities.</a:t>
            </a:r>
            <a:endParaRPr lang="en-US" sz="1500" dirty="0"/>
          </a:p>
        </p:txBody>
      </p:sp>
      <p:pic>
        <p:nvPicPr>
          <p:cNvPr id="5" name="Image 0" descr="preencoded.png"/>
          <p:cNvPicPr>
            <a:picLocks noChangeAspect="1"/>
          </p:cNvPicPr>
          <p:nvPr/>
        </p:nvPicPr>
        <p:blipFill>
          <a:blip r:embed="rId3"/>
          <a:stretch>
            <a:fillRect/>
          </a:stretch>
        </p:blipFill>
        <p:spPr>
          <a:xfrm>
            <a:off x="2907983" y="3249335"/>
            <a:ext cx="2186940" cy="1446609"/>
          </a:xfrm>
          <a:prstGeom prst="rect">
            <a:avLst/>
          </a:prstGeom>
        </p:spPr>
      </p:pic>
      <p:pic>
        <p:nvPicPr>
          <p:cNvPr id="6" name="Image 1" descr="preencoded.png"/>
          <p:cNvPicPr>
            <a:picLocks noChangeAspect="1"/>
          </p:cNvPicPr>
          <p:nvPr/>
        </p:nvPicPr>
        <p:blipFill>
          <a:blip r:embed="rId4"/>
          <a:stretch>
            <a:fillRect/>
          </a:stretch>
        </p:blipFill>
        <p:spPr>
          <a:xfrm>
            <a:off x="3863221" y="3987403"/>
            <a:ext cx="276344" cy="345400"/>
          </a:xfrm>
          <a:prstGeom prst="rect">
            <a:avLst/>
          </a:prstGeom>
        </p:spPr>
      </p:pic>
      <p:sp>
        <p:nvSpPr>
          <p:cNvPr id="7" name="Text 3"/>
          <p:cNvSpPr/>
          <p:nvPr/>
        </p:nvSpPr>
        <p:spPr>
          <a:xfrm>
            <a:off x="5291376" y="3602950"/>
            <a:ext cx="2456736" cy="306943"/>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ea typeface="Inter Bold" pitchFamily="34" charset="-122"/>
                <a:cs typeface="Inter Bold" pitchFamily="34" charset="-120"/>
              </a:rPr>
              <a:t>Autonomous AI</a:t>
            </a:r>
            <a:endParaRPr lang="en-US" sz="1900" dirty="0"/>
          </a:p>
        </p:txBody>
      </p:sp>
      <p:sp>
        <p:nvSpPr>
          <p:cNvPr id="8" name="Text 4"/>
          <p:cNvSpPr/>
          <p:nvPr/>
        </p:nvSpPr>
        <p:spPr>
          <a:xfrm>
            <a:off x="5291376" y="4027765"/>
            <a:ext cx="6758226" cy="314444"/>
          </a:xfrm>
          <a:prstGeom prst="rect">
            <a:avLst/>
          </a:prstGeom>
          <a:noFill/>
          <a:ln/>
        </p:spPr>
        <p:txBody>
          <a:bodyPr wrap="non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Agents drive a shift towards truly autonomous, goal-oriented AI systems.</a:t>
            </a:r>
            <a:endParaRPr lang="en-US" sz="1500" dirty="0"/>
          </a:p>
        </p:txBody>
      </p:sp>
      <p:sp>
        <p:nvSpPr>
          <p:cNvPr id="9" name="Shape 5"/>
          <p:cNvSpPr/>
          <p:nvPr/>
        </p:nvSpPr>
        <p:spPr>
          <a:xfrm>
            <a:off x="5143976" y="4710946"/>
            <a:ext cx="8749546" cy="11430"/>
          </a:xfrm>
          <a:prstGeom prst="roundRect">
            <a:avLst>
              <a:gd name="adj" fmla="val 722202"/>
            </a:avLst>
          </a:prstGeom>
          <a:solidFill>
            <a:srgbClr val="C0C1D7"/>
          </a:solidFill>
          <a:ln/>
        </p:spPr>
      </p:sp>
      <p:pic>
        <p:nvPicPr>
          <p:cNvPr id="10" name="Image 2" descr="preencoded.png"/>
          <p:cNvPicPr>
            <a:picLocks noChangeAspect="1"/>
          </p:cNvPicPr>
          <p:nvPr/>
        </p:nvPicPr>
        <p:blipFill>
          <a:blip r:embed="rId5"/>
          <a:stretch>
            <a:fillRect/>
          </a:stretch>
        </p:blipFill>
        <p:spPr>
          <a:xfrm>
            <a:off x="1814393" y="4744998"/>
            <a:ext cx="4373999" cy="1446609"/>
          </a:xfrm>
          <a:prstGeom prst="rect">
            <a:avLst/>
          </a:prstGeom>
        </p:spPr>
      </p:pic>
      <p:pic>
        <p:nvPicPr>
          <p:cNvPr id="11" name="Image 3" descr="preencoded.png"/>
          <p:cNvPicPr>
            <a:picLocks noChangeAspect="1"/>
          </p:cNvPicPr>
          <p:nvPr/>
        </p:nvPicPr>
        <p:blipFill>
          <a:blip r:embed="rId6"/>
          <a:stretch>
            <a:fillRect/>
          </a:stretch>
        </p:blipFill>
        <p:spPr>
          <a:xfrm>
            <a:off x="3863221" y="5295543"/>
            <a:ext cx="276344" cy="345400"/>
          </a:xfrm>
          <a:prstGeom prst="rect">
            <a:avLst/>
          </a:prstGeom>
        </p:spPr>
      </p:pic>
      <p:sp>
        <p:nvSpPr>
          <p:cNvPr id="12" name="Text 6"/>
          <p:cNvSpPr/>
          <p:nvPr/>
        </p:nvSpPr>
        <p:spPr>
          <a:xfrm>
            <a:off x="6384846" y="4941451"/>
            <a:ext cx="2456736" cy="306943"/>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ea typeface="Inter Bold" pitchFamily="34" charset="-122"/>
                <a:cs typeface="Inter Bold" pitchFamily="34" charset="-120"/>
              </a:rPr>
              <a:t>Frameworks are Key</a:t>
            </a:r>
            <a:endParaRPr lang="en-US" sz="1900" dirty="0"/>
          </a:p>
        </p:txBody>
      </p:sp>
      <p:sp>
        <p:nvSpPr>
          <p:cNvPr id="13" name="Text 7"/>
          <p:cNvSpPr/>
          <p:nvPr/>
        </p:nvSpPr>
        <p:spPr>
          <a:xfrm>
            <a:off x="6384846" y="5366266"/>
            <a:ext cx="7361277" cy="628888"/>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Essential for rapid development, complex management, and seamless integration.</a:t>
            </a:r>
            <a:endParaRPr lang="en-US" sz="1500" dirty="0"/>
          </a:p>
        </p:txBody>
      </p:sp>
      <p:sp>
        <p:nvSpPr>
          <p:cNvPr id="14" name="Shape 8"/>
          <p:cNvSpPr/>
          <p:nvPr/>
        </p:nvSpPr>
        <p:spPr>
          <a:xfrm>
            <a:off x="6237446" y="6206609"/>
            <a:ext cx="7656076" cy="11430"/>
          </a:xfrm>
          <a:prstGeom prst="roundRect">
            <a:avLst>
              <a:gd name="adj" fmla="val 722202"/>
            </a:avLst>
          </a:prstGeom>
          <a:solidFill>
            <a:srgbClr val="C0C1D7"/>
          </a:solidFill>
          <a:ln/>
        </p:spPr>
      </p:sp>
      <p:pic>
        <p:nvPicPr>
          <p:cNvPr id="15" name="Image 4" descr="preencoded.png"/>
          <p:cNvPicPr>
            <a:picLocks noChangeAspect="1"/>
          </p:cNvPicPr>
          <p:nvPr/>
        </p:nvPicPr>
        <p:blipFill>
          <a:blip r:embed="rId7"/>
          <a:stretch>
            <a:fillRect/>
          </a:stretch>
        </p:blipFill>
        <p:spPr>
          <a:xfrm>
            <a:off x="720923" y="6240661"/>
            <a:ext cx="6561058" cy="1446609"/>
          </a:xfrm>
          <a:prstGeom prst="rect">
            <a:avLst/>
          </a:prstGeom>
        </p:spPr>
      </p:pic>
      <p:pic>
        <p:nvPicPr>
          <p:cNvPr id="16" name="Image 5" descr="preencoded.png"/>
          <p:cNvPicPr>
            <a:picLocks noChangeAspect="1"/>
          </p:cNvPicPr>
          <p:nvPr/>
        </p:nvPicPr>
        <p:blipFill>
          <a:blip r:embed="rId8"/>
          <a:stretch>
            <a:fillRect/>
          </a:stretch>
        </p:blipFill>
        <p:spPr>
          <a:xfrm>
            <a:off x="3863221" y="6791206"/>
            <a:ext cx="276344" cy="345400"/>
          </a:xfrm>
          <a:prstGeom prst="rect">
            <a:avLst/>
          </a:prstGeom>
        </p:spPr>
      </p:pic>
      <p:sp>
        <p:nvSpPr>
          <p:cNvPr id="17" name="Text 9"/>
          <p:cNvSpPr/>
          <p:nvPr/>
        </p:nvSpPr>
        <p:spPr>
          <a:xfrm>
            <a:off x="7478435" y="6437114"/>
            <a:ext cx="2953941" cy="306943"/>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ea typeface="Inter Bold" pitchFamily="34" charset="-122"/>
                <a:cs typeface="Inter Bold" pitchFamily="34" charset="-120"/>
              </a:rPr>
              <a:t>Collaboration &amp; Learning</a:t>
            </a:r>
            <a:endParaRPr lang="en-US" sz="1900" dirty="0"/>
          </a:p>
        </p:txBody>
      </p:sp>
      <p:sp>
        <p:nvSpPr>
          <p:cNvPr id="18" name="Text 10"/>
          <p:cNvSpPr/>
          <p:nvPr/>
        </p:nvSpPr>
        <p:spPr>
          <a:xfrm>
            <a:off x="7478435" y="6861929"/>
            <a:ext cx="6267688" cy="628888"/>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ea typeface="Inter" pitchFamily="34" charset="-122"/>
                <a:cs typeface="Inter" pitchFamily="34" charset="-120"/>
              </a:rPr>
              <a:t>Multi-agent systems and self-improvement define the next generation of AI.</a:t>
            </a:r>
            <a:endParaRPr lang="en-US" sz="1500" dirty="0"/>
          </a:p>
        </p:txBody>
      </p:sp>
      <p:sp>
        <p:nvSpPr>
          <p:cNvPr id="19" name="Rectangle 18">
            <a:extLst>
              <a:ext uri="{FF2B5EF4-FFF2-40B4-BE49-F238E27FC236}">
                <a16:creationId xmlns:a16="http://schemas.microsoft.com/office/drawing/2014/main" id="{0EABD9A9-3AE3-4A6D-B043-B2D63DBDB044}"/>
              </a:ext>
            </a:extLst>
          </p:cNvPr>
          <p:cNvSpPr/>
          <p:nvPr/>
        </p:nvSpPr>
        <p:spPr>
          <a:xfrm>
            <a:off x="12598400" y="7589520"/>
            <a:ext cx="2032000" cy="628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32862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5C4E3D"/>
                </a:solidFill>
                <a:ea typeface="Libre Baskerville" pitchFamily="34" charset="-122"/>
                <a:cs typeface="Libre Baskerville" pitchFamily="34" charset="-120"/>
              </a:rPr>
              <a:t>Navigating the LLM Framework Landscape</a:t>
            </a:r>
            <a:endParaRPr lang="en-US" sz="4450" dirty="0"/>
          </a:p>
        </p:txBody>
      </p:sp>
      <p:sp>
        <p:nvSpPr>
          <p:cNvPr id="4" name="Text 1"/>
          <p:cNvSpPr/>
          <p:nvPr/>
        </p:nvSpPr>
        <p:spPr>
          <a:xfrm>
            <a:off x="6280190" y="4086344"/>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ea typeface="DM Sans" pitchFamily="34" charset="-122"/>
                <a:cs typeface="DM Sans" pitchFamily="34" charset="-120"/>
              </a:rPr>
              <a:t>This section highlights key LLM agent frameworks—</a:t>
            </a:r>
            <a:r>
              <a:rPr lang="en-US" sz="1750" b="1" dirty="0">
                <a:solidFill>
                  <a:srgbClr val="454240"/>
                </a:solidFill>
                <a:ea typeface="DM Sans" pitchFamily="34" charset="-122"/>
                <a:cs typeface="DM Sans" pitchFamily="34" charset="-120"/>
              </a:rPr>
              <a:t>LangChain</a:t>
            </a:r>
            <a:r>
              <a:rPr lang="en-US" sz="1750" dirty="0">
                <a:solidFill>
                  <a:srgbClr val="454240"/>
                </a:solidFill>
                <a:ea typeface="DM Sans" pitchFamily="34" charset="-122"/>
                <a:cs typeface="DM Sans" pitchFamily="34" charset="-120"/>
              </a:rPr>
              <a:t>, </a:t>
            </a:r>
            <a:r>
              <a:rPr lang="en-US" sz="1750" b="1" dirty="0">
                <a:solidFill>
                  <a:srgbClr val="454240"/>
                </a:solidFill>
                <a:ea typeface="DM Sans" pitchFamily="34" charset="-122"/>
                <a:cs typeface="DM Sans" pitchFamily="34" charset="-120"/>
              </a:rPr>
              <a:t>DSPy</a:t>
            </a:r>
            <a:r>
              <a:rPr lang="en-US" sz="1750" dirty="0">
                <a:solidFill>
                  <a:srgbClr val="454240"/>
                </a:solidFill>
                <a:ea typeface="DM Sans" pitchFamily="34" charset="-122"/>
                <a:cs typeface="DM Sans" pitchFamily="34" charset="-120"/>
              </a:rPr>
              <a:t>, </a:t>
            </a:r>
            <a:r>
              <a:rPr lang="en-US" sz="1750" b="1" dirty="0">
                <a:solidFill>
                  <a:srgbClr val="454240"/>
                </a:solidFill>
                <a:ea typeface="DM Sans" pitchFamily="34" charset="-122"/>
                <a:cs typeface="DM Sans" pitchFamily="34" charset="-120"/>
              </a:rPr>
              <a:t>AutogenStudio</a:t>
            </a:r>
            <a:r>
              <a:rPr lang="en-US" sz="1750" dirty="0">
                <a:solidFill>
                  <a:srgbClr val="454240"/>
                </a:solidFill>
                <a:ea typeface="DM Sans" pitchFamily="34" charset="-122"/>
                <a:cs typeface="DM Sans" pitchFamily="34" charset="-120"/>
              </a:rPr>
              <a:t>, </a:t>
            </a:r>
            <a:r>
              <a:rPr lang="en-US" sz="1750" b="1" dirty="0">
                <a:solidFill>
                  <a:srgbClr val="454240"/>
                </a:solidFill>
                <a:ea typeface="DM Sans" pitchFamily="34" charset="-122"/>
                <a:cs typeface="DM Sans" pitchFamily="34" charset="-120"/>
              </a:rPr>
              <a:t>AutoAgent</a:t>
            </a:r>
            <a:r>
              <a:rPr lang="en-US" sz="1750" dirty="0">
                <a:solidFill>
                  <a:srgbClr val="454240"/>
                </a:solidFill>
                <a:ea typeface="DM Sans" pitchFamily="34" charset="-122"/>
                <a:cs typeface="DM Sans" pitchFamily="34" charset="-120"/>
              </a:rPr>
              <a:t>, </a:t>
            </a:r>
            <a:r>
              <a:rPr lang="en-US" sz="1750" b="1" dirty="0">
                <a:solidFill>
                  <a:srgbClr val="454240"/>
                </a:solidFill>
                <a:ea typeface="DM Sans" pitchFamily="34" charset="-122"/>
                <a:cs typeface="DM Sans" pitchFamily="34" charset="-120"/>
              </a:rPr>
              <a:t>CrewAI</a:t>
            </a:r>
            <a:r>
              <a:rPr lang="en-US" sz="1750" dirty="0">
                <a:solidFill>
                  <a:srgbClr val="454240"/>
                </a:solidFill>
                <a:ea typeface="DM Sans" pitchFamily="34" charset="-122"/>
                <a:cs typeface="DM Sans" pitchFamily="34" charset="-120"/>
              </a:rPr>
              <a:t>, and </a:t>
            </a:r>
            <a:r>
              <a:rPr lang="en-US" sz="1750" b="1" dirty="0">
                <a:solidFill>
                  <a:srgbClr val="454240"/>
                </a:solidFill>
                <a:ea typeface="DM Sans" pitchFamily="34" charset="-122"/>
                <a:cs typeface="DM Sans" pitchFamily="34" charset="-120"/>
              </a:rPr>
              <a:t>Agent S</a:t>
            </a:r>
            <a:r>
              <a:rPr lang="en-US" sz="1750" dirty="0">
                <a:solidFill>
                  <a:srgbClr val="454240"/>
                </a:solidFill>
                <a:ea typeface="DM Sans" pitchFamily="34" charset="-122"/>
                <a:cs typeface="DM Sans" pitchFamily="34" charset="-120"/>
              </a:rPr>
              <a:t>. Each offers unique strengths for building intelligent, goal-driven applications. We will explore how these frameworks empower developers and researchers to create more capable and autonomous AI systems.</a:t>
            </a:r>
            <a:endParaRPr lang="en-US" sz="1750" dirty="0"/>
          </a:p>
        </p:txBody>
      </p:sp>
      <p:sp>
        <p:nvSpPr>
          <p:cNvPr id="5" name="Rectangle 4">
            <a:extLst>
              <a:ext uri="{FF2B5EF4-FFF2-40B4-BE49-F238E27FC236}">
                <a16:creationId xmlns:a16="http://schemas.microsoft.com/office/drawing/2014/main" id="{44646898-3683-4419-83AC-D15A6E4E8E95}"/>
              </a:ext>
            </a:extLst>
          </p:cNvPr>
          <p:cNvSpPr/>
          <p:nvPr/>
        </p:nvSpPr>
        <p:spPr>
          <a:xfrm>
            <a:off x="12517120" y="7366000"/>
            <a:ext cx="2113280" cy="86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90788"/>
          </a:xfrm>
          <a:prstGeom prst="rect">
            <a:avLst/>
          </a:prstGeom>
        </p:spPr>
      </p:pic>
      <p:sp>
        <p:nvSpPr>
          <p:cNvPr id="3" name="Text 0"/>
          <p:cNvSpPr/>
          <p:nvPr/>
        </p:nvSpPr>
        <p:spPr>
          <a:xfrm>
            <a:off x="697349" y="3038951"/>
            <a:ext cx="11268670" cy="622697"/>
          </a:xfrm>
          <a:prstGeom prst="rect">
            <a:avLst/>
          </a:prstGeom>
          <a:noFill/>
          <a:ln/>
        </p:spPr>
        <p:txBody>
          <a:bodyPr wrap="none" lIns="0" tIns="0" rIns="0" bIns="0" rtlCol="0" anchor="t"/>
          <a:lstStyle/>
          <a:p>
            <a:pPr marL="0" indent="0" algn="l">
              <a:lnSpc>
                <a:spcPts val="4900"/>
              </a:lnSpc>
              <a:buNone/>
            </a:pPr>
            <a:r>
              <a:rPr lang="en-US" sz="3900" dirty="0">
                <a:solidFill>
                  <a:srgbClr val="5C4E3D"/>
                </a:solidFill>
                <a:ea typeface="Libre Baskerville" pitchFamily="34" charset="-122"/>
                <a:cs typeface="Libre Baskerville" pitchFamily="34" charset="-120"/>
              </a:rPr>
              <a:t>LangChain: The Modular LLM Orchestrator</a:t>
            </a:r>
            <a:endParaRPr lang="en-US" sz="3900" dirty="0"/>
          </a:p>
        </p:txBody>
      </p:sp>
      <p:sp>
        <p:nvSpPr>
          <p:cNvPr id="4" name="Text 1"/>
          <p:cNvSpPr/>
          <p:nvPr/>
        </p:nvSpPr>
        <p:spPr>
          <a:xfrm>
            <a:off x="697349" y="4159687"/>
            <a:ext cx="2490787" cy="311348"/>
          </a:xfrm>
          <a:prstGeom prst="rect">
            <a:avLst/>
          </a:prstGeom>
          <a:noFill/>
          <a:ln/>
        </p:spPr>
        <p:txBody>
          <a:bodyPr wrap="none" lIns="0" tIns="0" rIns="0" bIns="0" rtlCol="0" anchor="t"/>
          <a:lstStyle/>
          <a:p>
            <a:pPr marL="0" indent="0" algn="l">
              <a:lnSpc>
                <a:spcPts val="2450"/>
              </a:lnSpc>
              <a:buNone/>
            </a:pPr>
            <a:r>
              <a:rPr lang="en-US" sz="1950" dirty="0">
                <a:solidFill>
                  <a:srgbClr val="5C4E3D"/>
                </a:solidFill>
                <a:ea typeface="Libre Baskerville" pitchFamily="34" charset="-122"/>
                <a:cs typeface="Libre Baskerville" pitchFamily="34" charset="-120"/>
              </a:rPr>
              <a:t>Key Features:</a:t>
            </a:r>
            <a:endParaRPr lang="en-US" sz="1950" dirty="0"/>
          </a:p>
        </p:txBody>
      </p:sp>
      <p:sp>
        <p:nvSpPr>
          <p:cNvPr id="5" name="Text 2"/>
          <p:cNvSpPr/>
          <p:nvPr/>
        </p:nvSpPr>
        <p:spPr>
          <a:xfrm>
            <a:off x="697349" y="4670227"/>
            <a:ext cx="6374844" cy="318849"/>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454240"/>
                </a:solidFill>
                <a:ea typeface="DM Sans" pitchFamily="34" charset="-122"/>
                <a:cs typeface="DM Sans" pitchFamily="34" charset="-120"/>
              </a:rPr>
              <a:t>Chains:</a:t>
            </a:r>
            <a:r>
              <a:rPr lang="en-US" sz="1550" dirty="0">
                <a:solidFill>
                  <a:srgbClr val="454240"/>
                </a:solidFill>
                <a:ea typeface="DM Sans" pitchFamily="34" charset="-122"/>
                <a:cs typeface="DM Sans" pitchFamily="34" charset="-120"/>
              </a:rPr>
              <a:t> Sequences of LLM calls and logic.</a:t>
            </a:r>
            <a:endParaRPr lang="en-US" sz="1550" dirty="0"/>
          </a:p>
        </p:txBody>
      </p:sp>
      <p:sp>
        <p:nvSpPr>
          <p:cNvPr id="6" name="Text 3"/>
          <p:cNvSpPr/>
          <p:nvPr/>
        </p:nvSpPr>
        <p:spPr>
          <a:xfrm>
            <a:off x="697349" y="5058728"/>
            <a:ext cx="6374844" cy="318849"/>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454240"/>
                </a:solidFill>
                <a:ea typeface="DM Sans" pitchFamily="34" charset="-122"/>
                <a:cs typeface="DM Sans" pitchFamily="34" charset="-120"/>
              </a:rPr>
              <a:t>Agents:</a:t>
            </a:r>
            <a:r>
              <a:rPr lang="en-US" sz="1550" dirty="0">
                <a:solidFill>
                  <a:srgbClr val="454240"/>
                </a:solidFill>
                <a:ea typeface="DM Sans" pitchFamily="34" charset="-122"/>
                <a:cs typeface="DM Sans" pitchFamily="34" charset="-120"/>
              </a:rPr>
              <a:t> Dynamically choose tools based on intent.</a:t>
            </a:r>
            <a:endParaRPr lang="en-US" sz="1550" dirty="0"/>
          </a:p>
        </p:txBody>
      </p:sp>
      <p:sp>
        <p:nvSpPr>
          <p:cNvPr id="7" name="Text 4"/>
          <p:cNvSpPr/>
          <p:nvPr/>
        </p:nvSpPr>
        <p:spPr>
          <a:xfrm>
            <a:off x="697349" y="5447228"/>
            <a:ext cx="6374844" cy="318849"/>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454240"/>
                </a:solidFill>
                <a:ea typeface="DM Sans" pitchFamily="34" charset="-122"/>
                <a:cs typeface="DM Sans" pitchFamily="34" charset="-120"/>
              </a:rPr>
              <a:t>Tools:</a:t>
            </a:r>
            <a:r>
              <a:rPr lang="en-US" sz="1550" dirty="0">
                <a:solidFill>
                  <a:srgbClr val="454240"/>
                </a:solidFill>
                <a:ea typeface="DM Sans" pitchFamily="34" charset="-122"/>
                <a:cs typeface="DM Sans" pitchFamily="34" charset="-120"/>
              </a:rPr>
              <a:t> External functions for agents.</a:t>
            </a:r>
            <a:endParaRPr lang="en-US" sz="1550" dirty="0"/>
          </a:p>
        </p:txBody>
      </p:sp>
      <p:sp>
        <p:nvSpPr>
          <p:cNvPr id="8" name="Text 5"/>
          <p:cNvSpPr/>
          <p:nvPr/>
        </p:nvSpPr>
        <p:spPr>
          <a:xfrm>
            <a:off x="697349" y="5835729"/>
            <a:ext cx="6374844" cy="318849"/>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454240"/>
                </a:solidFill>
                <a:ea typeface="DM Sans" pitchFamily="34" charset="-122"/>
                <a:cs typeface="DM Sans" pitchFamily="34" charset="-120"/>
              </a:rPr>
              <a:t>Memory:</a:t>
            </a:r>
            <a:r>
              <a:rPr lang="en-US" sz="1550" dirty="0">
                <a:solidFill>
                  <a:srgbClr val="454240"/>
                </a:solidFill>
                <a:ea typeface="DM Sans" pitchFamily="34" charset="-122"/>
                <a:cs typeface="DM Sans" pitchFamily="34" charset="-120"/>
              </a:rPr>
              <a:t> Retains context across conversations.</a:t>
            </a:r>
            <a:endParaRPr lang="en-US" sz="1550" dirty="0"/>
          </a:p>
        </p:txBody>
      </p:sp>
      <p:sp>
        <p:nvSpPr>
          <p:cNvPr id="9" name="Text 6"/>
          <p:cNvSpPr/>
          <p:nvPr/>
        </p:nvSpPr>
        <p:spPr>
          <a:xfrm>
            <a:off x="697349" y="6224230"/>
            <a:ext cx="6374844" cy="318849"/>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454240"/>
                </a:solidFill>
                <a:ea typeface="DM Sans" pitchFamily="34" charset="-122"/>
                <a:cs typeface="DM Sans" pitchFamily="34" charset="-120"/>
              </a:rPr>
              <a:t>Retrievers/RAG:</a:t>
            </a:r>
            <a:r>
              <a:rPr lang="en-US" sz="1550" dirty="0">
                <a:solidFill>
                  <a:srgbClr val="454240"/>
                </a:solidFill>
                <a:ea typeface="DM Sans" pitchFamily="34" charset="-122"/>
                <a:cs typeface="DM Sans" pitchFamily="34" charset="-120"/>
              </a:rPr>
              <a:t> Integrate external knowledge bases.</a:t>
            </a:r>
            <a:endParaRPr lang="en-US" sz="1550" dirty="0"/>
          </a:p>
        </p:txBody>
      </p:sp>
      <p:sp>
        <p:nvSpPr>
          <p:cNvPr id="10" name="Text 7"/>
          <p:cNvSpPr/>
          <p:nvPr/>
        </p:nvSpPr>
        <p:spPr>
          <a:xfrm>
            <a:off x="7565827" y="4159687"/>
            <a:ext cx="2490787" cy="311348"/>
          </a:xfrm>
          <a:prstGeom prst="rect">
            <a:avLst/>
          </a:prstGeom>
          <a:noFill/>
          <a:ln/>
        </p:spPr>
        <p:txBody>
          <a:bodyPr wrap="none" lIns="0" tIns="0" rIns="0" bIns="0" rtlCol="0" anchor="t"/>
          <a:lstStyle/>
          <a:p>
            <a:pPr marL="0" indent="0" algn="l">
              <a:lnSpc>
                <a:spcPts val="2450"/>
              </a:lnSpc>
              <a:buNone/>
            </a:pPr>
            <a:r>
              <a:rPr lang="en-US" sz="1950" dirty="0">
                <a:solidFill>
                  <a:srgbClr val="5C4E3D"/>
                </a:solidFill>
                <a:ea typeface="Libre Baskerville" pitchFamily="34" charset="-122"/>
                <a:cs typeface="Libre Baskerville" pitchFamily="34" charset="-120"/>
              </a:rPr>
              <a:t>Ideal For:</a:t>
            </a:r>
            <a:endParaRPr lang="en-US" sz="1950" dirty="0"/>
          </a:p>
        </p:txBody>
      </p:sp>
      <p:sp>
        <p:nvSpPr>
          <p:cNvPr id="11" name="Text 8"/>
          <p:cNvSpPr/>
          <p:nvPr/>
        </p:nvSpPr>
        <p:spPr>
          <a:xfrm>
            <a:off x="7565827" y="4670227"/>
            <a:ext cx="6374844" cy="318849"/>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54240"/>
                </a:solidFill>
                <a:ea typeface="DM Sans" pitchFamily="34" charset="-122"/>
                <a:cs typeface="DM Sans" pitchFamily="34" charset="-120"/>
              </a:rPr>
              <a:t>Conversational agents.</a:t>
            </a:r>
            <a:endParaRPr lang="en-US" sz="1550" dirty="0"/>
          </a:p>
        </p:txBody>
      </p:sp>
      <p:sp>
        <p:nvSpPr>
          <p:cNvPr id="12" name="Text 9"/>
          <p:cNvSpPr/>
          <p:nvPr/>
        </p:nvSpPr>
        <p:spPr>
          <a:xfrm>
            <a:off x="7565827" y="5058728"/>
            <a:ext cx="6374844" cy="318849"/>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54240"/>
                </a:solidFill>
                <a:ea typeface="DM Sans" pitchFamily="34" charset="-122"/>
                <a:cs typeface="DM Sans" pitchFamily="34" charset="-120"/>
              </a:rPr>
              <a:t>Data pipelines (RAG systems).</a:t>
            </a:r>
            <a:endParaRPr lang="en-US" sz="1550" dirty="0"/>
          </a:p>
        </p:txBody>
      </p:sp>
      <p:sp>
        <p:nvSpPr>
          <p:cNvPr id="13" name="Text 10"/>
          <p:cNvSpPr/>
          <p:nvPr/>
        </p:nvSpPr>
        <p:spPr>
          <a:xfrm>
            <a:off x="7565827" y="5447228"/>
            <a:ext cx="6374844" cy="318849"/>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54240"/>
                </a:solidFill>
                <a:ea typeface="DM Sans" pitchFamily="34" charset="-122"/>
                <a:cs typeface="DM Sans" pitchFamily="34" charset="-120"/>
              </a:rPr>
              <a:t>API-enhanced chatbots.</a:t>
            </a:r>
            <a:endParaRPr lang="en-US" sz="1550" dirty="0"/>
          </a:p>
        </p:txBody>
      </p:sp>
      <p:sp>
        <p:nvSpPr>
          <p:cNvPr id="14" name="Text 11"/>
          <p:cNvSpPr/>
          <p:nvPr/>
        </p:nvSpPr>
        <p:spPr>
          <a:xfrm>
            <a:off x="7565827" y="5835729"/>
            <a:ext cx="6374844" cy="318849"/>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54240"/>
                </a:solidFill>
                <a:ea typeface="DM Sans" pitchFamily="34" charset="-122"/>
                <a:cs typeface="DM Sans" pitchFamily="34" charset="-120"/>
              </a:rPr>
              <a:t>Enterprise automation.</a:t>
            </a:r>
            <a:endParaRPr lang="en-US" sz="1550" dirty="0"/>
          </a:p>
        </p:txBody>
      </p:sp>
      <p:sp>
        <p:nvSpPr>
          <p:cNvPr id="15" name="Text 12"/>
          <p:cNvSpPr/>
          <p:nvPr/>
        </p:nvSpPr>
        <p:spPr>
          <a:xfrm>
            <a:off x="7565827" y="6353770"/>
            <a:ext cx="2490787" cy="311348"/>
          </a:xfrm>
          <a:prstGeom prst="rect">
            <a:avLst/>
          </a:prstGeom>
          <a:noFill/>
          <a:ln/>
        </p:spPr>
        <p:txBody>
          <a:bodyPr wrap="none" lIns="0" tIns="0" rIns="0" bIns="0" rtlCol="0" anchor="t"/>
          <a:lstStyle/>
          <a:p>
            <a:pPr marL="0" indent="0" algn="l">
              <a:lnSpc>
                <a:spcPts val="2450"/>
              </a:lnSpc>
              <a:buNone/>
            </a:pPr>
            <a:r>
              <a:rPr lang="en-US" sz="1950" dirty="0">
                <a:solidFill>
                  <a:srgbClr val="5C4E3D"/>
                </a:solidFill>
                <a:ea typeface="Libre Baskerville" pitchFamily="34" charset="-122"/>
                <a:cs typeface="Libre Baskerville" pitchFamily="34" charset="-120"/>
              </a:rPr>
              <a:t>Example Use Case:</a:t>
            </a:r>
            <a:endParaRPr lang="en-US" sz="1950" dirty="0"/>
          </a:p>
        </p:txBody>
      </p:sp>
      <p:sp>
        <p:nvSpPr>
          <p:cNvPr id="16" name="Text 13"/>
          <p:cNvSpPr/>
          <p:nvPr/>
        </p:nvSpPr>
        <p:spPr>
          <a:xfrm>
            <a:off x="7565827" y="6864310"/>
            <a:ext cx="6374844" cy="63769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ea typeface="DM Sans" pitchFamily="34" charset="-122"/>
                <a:cs typeface="DM Sans" pitchFamily="34" charset="-120"/>
              </a:rPr>
              <a:t>A "Research Assistant" agent that reads PDFs, summarizes them, and answers questions with citations.</a:t>
            </a:r>
            <a:endParaRPr lang="en-US" sz="1550" dirty="0"/>
          </a:p>
        </p:txBody>
      </p:sp>
      <p:sp>
        <p:nvSpPr>
          <p:cNvPr id="17" name="Rectangle 16">
            <a:extLst>
              <a:ext uri="{FF2B5EF4-FFF2-40B4-BE49-F238E27FC236}">
                <a16:creationId xmlns:a16="http://schemas.microsoft.com/office/drawing/2014/main" id="{06EA136D-E9CB-4A65-967E-A473F84BA02E}"/>
              </a:ext>
            </a:extLst>
          </p:cNvPr>
          <p:cNvSpPr/>
          <p:nvPr/>
        </p:nvSpPr>
        <p:spPr>
          <a:xfrm>
            <a:off x="12730480" y="7589520"/>
            <a:ext cx="1899920" cy="622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48057"/>
          </a:xfrm>
          <a:prstGeom prst="rect">
            <a:avLst/>
          </a:prstGeom>
        </p:spPr>
      </p:pic>
      <p:sp>
        <p:nvSpPr>
          <p:cNvPr id="3" name="Text 0"/>
          <p:cNvSpPr/>
          <p:nvPr/>
        </p:nvSpPr>
        <p:spPr>
          <a:xfrm>
            <a:off x="713423" y="3272909"/>
            <a:ext cx="10895052" cy="636984"/>
          </a:xfrm>
          <a:prstGeom prst="rect">
            <a:avLst/>
          </a:prstGeom>
          <a:noFill/>
          <a:ln/>
        </p:spPr>
        <p:txBody>
          <a:bodyPr wrap="none" lIns="0" tIns="0" rIns="0" bIns="0" rtlCol="0" anchor="t"/>
          <a:lstStyle/>
          <a:p>
            <a:pPr marL="0" indent="0" algn="l">
              <a:lnSpc>
                <a:spcPts val="5000"/>
              </a:lnSpc>
              <a:buNone/>
            </a:pPr>
            <a:r>
              <a:rPr lang="en-US" sz="4000" dirty="0">
                <a:solidFill>
                  <a:srgbClr val="5C4E3D"/>
                </a:solidFill>
                <a:ea typeface="Libre Baskerville" pitchFamily="34" charset="-122"/>
                <a:cs typeface="Libre Baskerville" pitchFamily="34" charset="-120"/>
              </a:rPr>
              <a:t>DSPy: Declarative Self-Improving Python</a:t>
            </a:r>
            <a:endParaRPr lang="en-US" sz="4000" dirty="0"/>
          </a:p>
        </p:txBody>
      </p:sp>
      <p:sp>
        <p:nvSpPr>
          <p:cNvPr id="4" name="Shape 1"/>
          <p:cNvSpPr/>
          <p:nvPr/>
        </p:nvSpPr>
        <p:spPr>
          <a:xfrm>
            <a:off x="713423" y="4215646"/>
            <a:ext cx="458629" cy="458629"/>
          </a:xfrm>
          <a:prstGeom prst="roundRect">
            <a:avLst>
              <a:gd name="adj" fmla="val 18668"/>
            </a:avLst>
          </a:prstGeom>
          <a:solidFill>
            <a:srgbClr val="F7EDD4"/>
          </a:solidFill>
          <a:ln w="7620">
            <a:solidFill>
              <a:srgbClr val="DDD3BA"/>
            </a:solidFill>
            <a:prstDash val="solid"/>
          </a:ln>
        </p:spPr>
      </p:sp>
      <p:pic>
        <p:nvPicPr>
          <p:cNvPr id="5" name="Image 1" descr="preencoded.png"/>
          <p:cNvPicPr>
            <a:picLocks noChangeAspect="1"/>
          </p:cNvPicPr>
          <p:nvPr/>
        </p:nvPicPr>
        <p:blipFill>
          <a:blip r:embed="rId4"/>
          <a:stretch>
            <a:fillRect/>
          </a:stretch>
        </p:blipFill>
        <p:spPr>
          <a:xfrm>
            <a:off x="789861" y="4253865"/>
            <a:ext cx="305753" cy="382191"/>
          </a:xfrm>
          <a:prstGeom prst="rect">
            <a:avLst/>
          </a:prstGeom>
        </p:spPr>
      </p:pic>
      <p:sp>
        <p:nvSpPr>
          <p:cNvPr id="6" name="Text 2"/>
          <p:cNvSpPr/>
          <p:nvPr/>
        </p:nvSpPr>
        <p:spPr>
          <a:xfrm>
            <a:off x="1375886" y="4285655"/>
            <a:ext cx="2548057" cy="318492"/>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ea typeface="Libre Baskerville" pitchFamily="34" charset="-122"/>
                <a:cs typeface="Libre Baskerville" pitchFamily="34" charset="-120"/>
              </a:rPr>
              <a:t>Declarative Design</a:t>
            </a:r>
            <a:endParaRPr lang="en-US" sz="2000" dirty="0"/>
          </a:p>
        </p:txBody>
      </p:sp>
      <p:sp>
        <p:nvSpPr>
          <p:cNvPr id="7" name="Text 3"/>
          <p:cNvSpPr/>
          <p:nvPr/>
        </p:nvSpPr>
        <p:spPr>
          <a:xfrm>
            <a:off x="1375886" y="4726424"/>
            <a:ext cx="5811917" cy="326112"/>
          </a:xfrm>
          <a:prstGeom prst="rect">
            <a:avLst/>
          </a:prstGeom>
          <a:noFill/>
          <a:ln/>
        </p:spPr>
        <p:txBody>
          <a:bodyPr wrap="none" lIns="0" tIns="0" rIns="0" bIns="0" rtlCol="0" anchor="t"/>
          <a:lstStyle/>
          <a:p>
            <a:pPr marL="0" indent="0" algn="l">
              <a:lnSpc>
                <a:spcPts val="2550"/>
              </a:lnSpc>
              <a:buNone/>
            </a:pPr>
            <a:r>
              <a:rPr lang="en-US" sz="1600" dirty="0">
                <a:solidFill>
                  <a:srgbClr val="454240"/>
                </a:solidFill>
                <a:ea typeface="DM Sans" pitchFamily="34" charset="-122"/>
                <a:cs typeface="DM Sans" pitchFamily="34" charset="-120"/>
              </a:rPr>
              <a:t>Define what you want, not how to achieve it.</a:t>
            </a:r>
            <a:endParaRPr lang="en-US" sz="1600" dirty="0"/>
          </a:p>
        </p:txBody>
      </p:sp>
      <p:sp>
        <p:nvSpPr>
          <p:cNvPr id="8" name="Shape 4"/>
          <p:cNvSpPr/>
          <p:nvPr/>
        </p:nvSpPr>
        <p:spPr>
          <a:xfrm>
            <a:off x="7442597" y="4215646"/>
            <a:ext cx="458629" cy="458629"/>
          </a:xfrm>
          <a:prstGeom prst="roundRect">
            <a:avLst>
              <a:gd name="adj" fmla="val 18668"/>
            </a:avLst>
          </a:prstGeom>
          <a:solidFill>
            <a:srgbClr val="F7EDD4"/>
          </a:solidFill>
          <a:ln w="7620">
            <a:solidFill>
              <a:srgbClr val="DDD3BA"/>
            </a:solidFill>
            <a:prstDash val="solid"/>
          </a:ln>
        </p:spPr>
      </p:sp>
      <p:pic>
        <p:nvPicPr>
          <p:cNvPr id="9" name="Image 2" descr="preencoded.png"/>
          <p:cNvPicPr>
            <a:picLocks noChangeAspect="1"/>
          </p:cNvPicPr>
          <p:nvPr/>
        </p:nvPicPr>
        <p:blipFill>
          <a:blip r:embed="rId5"/>
          <a:stretch>
            <a:fillRect/>
          </a:stretch>
        </p:blipFill>
        <p:spPr>
          <a:xfrm>
            <a:off x="7519035" y="4253865"/>
            <a:ext cx="305753" cy="382191"/>
          </a:xfrm>
          <a:prstGeom prst="rect">
            <a:avLst/>
          </a:prstGeom>
        </p:spPr>
      </p:pic>
      <p:sp>
        <p:nvSpPr>
          <p:cNvPr id="10" name="Text 5"/>
          <p:cNvSpPr/>
          <p:nvPr/>
        </p:nvSpPr>
        <p:spPr>
          <a:xfrm>
            <a:off x="8105061" y="4285655"/>
            <a:ext cx="3659862" cy="318492"/>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ea typeface="Libre Baskerville" pitchFamily="34" charset="-122"/>
                <a:cs typeface="Libre Baskerville" pitchFamily="34" charset="-120"/>
              </a:rPr>
              <a:t>Training-Free Optimization</a:t>
            </a:r>
            <a:endParaRPr lang="en-US" sz="2000" dirty="0"/>
          </a:p>
        </p:txBody>
      </p:sp>
      <p:sp>
        <p:nvSpPr>
          <p:cNvPr id="11" name="Text 6"/>
          <p:cNvSpPr/>
          <p:nvPr/>
        </p:nvSpPr>
        <p:spPr>
          <a:xfrm>
            <a:off x="8105061" y="4726424"/>
            <a:ext cx="5811917" cy="652224"/>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ea typeface="DM Sans" pitchFamily="34" charset="-122"/>
                <a:cs typeface="DM Sans" pitchFamily="34" charset="-120"/>
              </a:rPr>
              <a:t>Uses demonstration-based learning to improve output quality.</a:t>
            </a:r>
            <a:endParaRPr lang="en-US" sz="1600" dirty="0"/>
          </a:p>
        </p:txBody>
      </p:sp>
      <p:sp>
        <p:nvSpPr>
          <p:cNvPr id="12" name="Shape 7"/>
          <p:cNvSpPr/>
          <p:nvPr/>
        </p:nvSpPr>
        <p:spPr>
          <a:xfrm>
            <a:off x="713423" y="5786318"/>
            <a:ext cx="458629" cy="458629"/>
          </a:xfrm>
          <a:prstGeom prst="roundRect">
            <a:avLst>
              <a:gd name="adj" fmla="val 18668"/>
            </a:avLst>
          </a:prstGeom>
          <a:solidFill>
            <a:srgbClr val="F7EDD4"/>
          </a:solidFill>
          <a:ln w="7620">
            <a:solidFill>
              <a:srgbClr val="DDD3BA"/>
            </a:solidFill>
            <a:prstDash val="solid"/>
          </a:ln>
        </p:spPr>
      </p:sp>
      <p:pic>
        <p:nvPicPr>
          <p:cNvPr id="13" name="Image 3" descr="preencoded.png"/>
          <p:cNvPicPr>
            <a:picLocks noChangeAspect="1"/>
          </p:cNvPicPr>
          <p:nvPr/>
        </p:nvPicPr>
        <p:blipFill>
          <a:blip r:embed="rId6"/>
          <a:stretch>
            <a:fillRect/>
          </a:stretch>
        </p:blipFill>
        <p:spPr>
          <a:xfrm>
            <a:off x="789861" y="5824538"/>
            <a:ext cx="305753" cy="382191"/>
          </a:xfrm>
          <a:prstGeom prst="rect">
            <a:avLst/>
          </a:prstGeom>
        </p:spPr>
      </p:pic>
      <p:sp>
        <p:nvSpPr>
          <p:cNvPr id="14" name="Text 8"/>
          <p:cNvSpPr/>
          <p:nvPr/>
        </p:nvSpPr>
        <p:spPr>
          <a:xfrm>
            <a:off x="1375886" y="5856327"/>
            <a:ext cx="3368159" cy="318492"/>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ea typeface="Libre Baskerville" pitchFamily="34" charset="-122"/>
                <a:cs typeface="Libre Baskerville" pitchFamily="34" charset="-120"/>
              </a:rPr>
              <a:t>Compositional Reasoning</a:t>
            </a:r>
            <a:endParaRPr lang="en-US" sz="2000" dirty="0"/>
          </a:p>
        </p:txBody>
      </p:sp>
      <p:sp>
        <p:nvSpPr>
          <p:cNvPr id="15" name="Text 9"/>
          <p:cNvSpPr/>
          <p:nvPr/>
        </p:nvSpPr>
        <p:spPr>
          <a:xfrm>
            <a:off x="1375886" y="6297097"/>
            <a:ext cx="5811917" cy="326112"/>
          </a:xfrm>
          <a:prstGeom prst="rect">
            <a:avLst/>
          </a:prstGeom>
          <a:noFill/>
          <a:ln/>
        </p:spPr>
        <p:txBody>
          <a:bodyPr wrap="none" lIns="0" tIns="0" rIns="0" bIns="0" rtlCol="0" anchor="t"/>
          <a:lstStyle/>
          <a:p>
            <a:pPr marL="0" indent="0" algn="l">
              <a:lnSpc>
                <a:spcPts val="2550"/>
              </a:lnSpc>
              <a:buNone/>
            </a:pPr>
            <a:r>
              <a:rPr lang="en-US" sz="1600" dirty="0">
                <a:solidFill>
                  <a:srgbClr val="454240"/>
                </a:solidFill>
                <a:ea typeface="DM Sans" pitchFamily="34" charset="-122"/>
                <a:cs typeface="DM Sans" pitchFamily="34" charset="-120"/>
              </a:rPr>
              <a:t>Chains logic, explanations, and answers for complex tasks.</a:t>
            </a:r>
            <a:endParaRPr lang="en-US" sz="1600" dirty="0"/>
          </a:p>
        </p:txBody>
      </p:sp>
      <p:sp>
        <p:nvSpPr>
          <p:cNvPr id="16" name="Shape 10"/>
          <p:cNvSpPr/>
          <p:nvPr/>
        </p:nvSpPr>
        <p:spPr>
          <a:xfrm>
            <a:off x="7442597" y="5786318"/>
            <a:ext cx="458629" cy="458629"/>
          </a:xfrm>
          <a:prstGeom prst="roundRect">
            <a:avLst>
              <a:gd name="adj" fmla="val 18668"/>
            </a:avLst>
          </a:prstGeom>
          <a:solidFill>
            <a:srgbClr val="F7EDD4"/>
          </a:solidFill>
          <a:ln w="7620">
            <a:solidFill>
              <a:srgbClr val="DDD3BA"/>
            </a:solidFill>
            <a:prstDash val="solid"/>
          </a:ln>
        </p:spPr>
      </p:sp>
      <p:pic>
        <p:nvPicPr>
          <p:cNvPr id="17" name="Image 4" descr="preencoded.png"/>
          <p:cNvPicPr>
            <a:picLocks noChangeAspect="1"/>
          </p:cNvPicPr>
          <p:nvPr/>
        </p:nvPicPr>
        <p:blipFill>
          <a:blip r:embed="rId7"/>
          <a:stretch>
            <a:fillRect/>
          </a:stretch>
        </p:blipFill>
        <p:spPr>
          <a:xfrm>
            <a:off x="7519035" y="5824538"/>
            <a:ext cx="305753" cy="382191"/>
          </a:xfrm>
          <a:prstGeom prst="rect">
            <a:avLst/>
          </a:prstGeom>
        </p:spPr>
      </p:pic>
      <p:sp>
        <p:nvSpPr>
          <p:cNvPr id="18" name="Text 11"/>
          <p:cNvSpPr/>
          <p:nvPr/>
        </p:nvSpPr>
        <p:spPr>
          <a:xfrm>
            <a:off x="8105061" y="5856327"/>
            <a:ext cx="2548057" cy="318492"/>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ea typeface="Libre Baskerville" pitchFamily="34" charset="-122"/>
                <a:cs typeface="Libre Baskerville" pitchFamily="34" charset="-120"/>
              </a:rPr>
              <a:t>Instrumentation</a:t>
            </a:r>
            <a:endParaRPr lang="en-US" sz="2000" dirty="0"/>
          </a:p>
        </p:txBody>
      </p:sp>
      <p:sp>
        <p:nvSpPr>
          <p:cNvPr id="19" name="Text 12"/>
          <p:cNvSpPr/>
          <p:nvPr/>
        </p:nvSpPr>
        <p:spPr>
          <a:xfrm>
            <a:off x="8105061" y="6297097"/>
            <a:ext cx="5811917" cy="326112"/>
          </a:xfrm>
          <a:prstGeom prst="rect">
            <a:avLst/>
          </a:prstGeom>
          <a:noFill/>
          <a:ln/>
        </p:spPr>
        <p:txBody>
          <a:bodyPr wrap="none" lIns="0" tIns="0" rIns="0" bIns="0" rtlCol="0" anchor="t"/>
          <a:lstStyle/>
          <a:p>
            <a:pPr marL="0" indent="0" algn="l">
              <a:lnSpc>
                <a:spcPts val="2550"/>
              </a:lnSpc>
              <a:buNone/>
            </a:pPr>
            <a:r>
              <a:rPr lang="en-US" sz="1600" dirty="0">
                <a:solidFill>
                  <a:srgbClr val="454240"/>
                </a:solidFill>
                <a:ea typeface="DM Sans" pitchFamily="34" charset="-122"/>
                <a:cs typeface="DM Sans" pitchFamily="34" charset="-120"/>
              </a:rPr>
              <a:t>Evaluate, fine-tune, and compare module outputs efficiently.</a:t>
            </a:r>
            <a:endParaRPr lang="en-US" sz="1600" dirty="0"/>
          </a:p>
        </p:txBody>
      </p:sp>
      <p:sp>
        <p:nvSpPr>
          <p:cNvPr id="20" name="Text 13"/>
          <p:cNvSpPr/>
          <p:nvPr/>
        </p:nvSpPr>
        <p:spPr>
          <a:xfrm>
            <a:off x="713423" y="6852523"/>
            <a:ext cx="13203555" cy="652224"/>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ea typeface="DM Sans" pitchFamily="34" charset="-122"/>
                <a:cs typeface="DM Sans" pitchFamily="34" charset="-120"/>
              </a:rPr>
              <a:t>DSPy excels in research workflows, self-improving agents, and AI tutors. An example is an AI tutor that learns to give better feedback over time using self-evaluation techniques.</a:t>
            </a:r>
            <a:endParaRPr lang="en-US" sz="1600" dirty="0"/>
          </a:p>
        </p:txBody>
      </p:sp>
      <p:sp>
        <p:nvSpPr>
          <p:cNvPr id="21" name="Rectangle 20">
            <a:extLst>
              <a:ext uri="{FF2B5EF4-FFF2-40B4-BE49-F238E27FC236}">
                <a16:creationId xmlns:a16="http://schemas.microsoft.com/office/drawing/2014/main" id="{B868C1A6-491E-4C06-AF51-D44054906248}"/>
              </a:ext>
            </a:extLst>
          </p:cNvPr>
          <p:cNvSpPr/>
          <p:nvPr/>
        </p:nvSpPr>
        <p:spPr>
          <a:xfrm>
            <a:off x="12730480" y="7609840"/>
            <a:ext cx="1899920" cy="619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56178"/>
          </a:xfrm>
          <a:prstGeom prst="rect">
            <a:avLst/>
          </a:prstGeom>
        </p:spPr>
      </p:pic>
      <p:sp>
        <p:nvSpPr>
          <p:cNvPr id="3" name="Text 0"/>
          <p:cNvSpPr/>
          <p:nvPr/>
        </p:nvSpPr>
        <p:spPr>
          <a:xfrm>
            <a:off x="771644" y="3537585"/>
            <a:ext cx="11244382" cy="689015"/>
          </a:xfrm>
          <a:prstGeom prst="rect">
            <a:avLst/>
          </a:prstGeom>
          <a:noFill/>
          <a:ln/>
        </p:spPr>
        <p:txBody>
          <a:bodyPr wrap="none" lIns="0" tIns="0" rIns="0" bIns="0" rtlCol="0" anchor="t"/>
          <a:lstStyle/>
          <a:p>
            <a:pPr marL="0" indent="0" algn="l">
              <a:lnSpc>
                <a:spcPts val="5400"/>
              </a:lnSpc>
              <a:buNone/>
            </a:pPr>
            <a:r>
              <a:rPr lang="en-US" sz="4300" dirty="0">
                <a:solidFill>
                  <a:srgbClr val="5C4E3D"/>
                </a:solidFill>
                <a:ea typeface="Libre Baskerville" pitchFamily="34" charset="-122"/>
                <a:cs typeface="Libre Baskerville" pitchFamily="34" charset="-120"/>
              </a:rPr>
              <a:t>AutoAgent: Simplified Task Automation</a:t>
            </a:r>
            <a:endParaRPr lang="en-US" sz="4300" dirty="0"/>
          </a:p>
        </p:txBody>
      </p:sp>
      <p:pic>
        <p:nvPicPr>
          <p:cNvPr id="4" name="Image 1" descr="preencoded.png"/>
          <p:cNvPicPr>
            <a:picLocks noChangeAspect="1"/>
          </p:cNvPicPr>
          <p:nvPr/>
        </p:nvPicPr>
        <p:blipFill>
          <a:blip r:embed="rId4"/>
          <a:stretch>
            <a:fillRect/>
          </a:stretch>
        </p:blipFill>
        <p:spPr>
          <a:xfrm>
            <a:off x="771644" y="4557236"/>
            <a:ext cx="551140" cy="551140"/>
          </a:xfrm>
          <a:prstGeom prst="rect">
            <a:avLst/>
          </a:prstGeom>
        </p:spPr>
      </p:pic>
      <p:sp>
        <p:nvSpPr>
          <p:cNvPr id="5" name="Text 1"/>
          <p:cNvSpPr/>
          <p:nvPr/>
        </p:nvSpPr>
        <p:spPr>
          <a:xfrm>
            <a:off x="771644" y="5328761"/>
            <a:ext cx="2756178" cy="344448"/>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ea typeface="Libre Baskerville" pitchFamily="34" charset="-122"/>
                <a:cs typeface="Libre Baskerville" pitchFamily="34" charset="-120"/>
              </a:rPr>
              <a:t>Key Features</a:t>
            </a:r>
            <a:endParaRPr lang="en-US" sz="2150" dirty="0"/>
          </a:p>
        </p:txBody>
      </p:sp>
      <p:sp>
        <p:nvSpPr>
          <p:cNvPr id="6" name="Text 2"/>
          <p:cNvSpPr/>
          <p:nvPr/>
        </p:nvSpPr>
        <p:spPr>
          <a:xfrm>
            <a:off x="771644" y="5805488"/>
            <a:ext cx="4178618" cy="352782"/>
          </a:xfrm>
          <a:prstGeom prst="rect">
            <a:avLst/>
          </a:prstGeom>
          <a:noFill/>
          <a:ln/>
        </p:spPr>
        <p:txBody>
          <a:bodyPr wrap="none" lIns="0" tIns="0" rIns="0" bIns="0" rtlCol="0" anchor="t"/>
          <a:lstStyle/>
          <a:p>
            <a:pPr marL="342900" indent="-342900" algn="l">
              <a:lnSpc>
                <a:spcPts val="2750"/>
              </a:lnSpc>
              <a:buSzPct val="100000"/>
              <a:buChar char="•"/>
            </a:pPr>
            <a:r>
              <a:rPr lang="en-US" sz="1700" dirty="0">
                <a:solidFill>
                  <a:srgbClr val="454240"/>
                </a:solidFill>
                <a:ea typeface="DM Sans" pitchFamily="34" charset="-122"/>
                <a:cs typeface="DM Sans" pitchFamily="34" charset="-120"/>
              </a:rPr>
              <a:t>Minimal configuration.</a:t>
            </a:r>
            <a:endParaRPr lang="en-US" sz="1700" dirty="0"/>
          </a:p>
        </p:txBody>
      </p:sp>
      <p:sp>
        <p:nvSpPr>
          <p:cNvPr id="7" name="Text 3"/>
          <p:cNvSpPr/>
          <p:nvPr/>
        </p:nvSpPr>
        <p:spPr>
          <a:xfrm>
            <a:off x="771644" y="6235422"/>
            <a:ext cx="4178618" cy="352782"/>
          </a:xfrm>
          <a:prstGeom prst="rect">
            <a:avLst/>
          </a:prstGeom>
          <a:noFill/>
          <a:ln/>
        </p:spPr>
        <p:txBody>
          <a:bodyPr wrap="none" lIns="0" tIns="0" rIns="0" bIns="0" rtlCol="0" anchor="t"/>
          <a:lstStyle/>
          <a:p>
            <a:pPr marL="342900" indent="-342900" algn="l">
              <a:lnSpc>
                <a:spcPts val="2750"/>
              </a:lnSpc>
              <a:buSzPct val="100000"/>
              <a:buChar char="•"/>
            </a:pPr>
            <a:r>
              <a:rPr lang="en-US" sz="1700" dirty="0">
                <a:solidFill>
                  <a:srgbClr val="454240"/>
                </a:solidFill>
                <a:ea typeface="DM Sans" pitchFamily="34" charset="-122"/>
                <a:cs typeface="DM Sans" pitchFamily="34" charset="-120"/>
              </a:rPr>
              <a:t>API and web browsing.</a:t>
            </a:r>
            <a:endParaRPr lang="en-US" sz="1700" dirty="0"/>
          </a:p>
        </p:txBody>
      </p:sp>
      <p:sp>
        <p:nvSpPr>
          <p:cNvPr id="8" name="Text 4"/>
          <p:cNvSpPr/>
          <p:nvPr/>
        </p:nvSpPr>
        <p:spPr>
          <a:xfrm>
            <a:off x="771644" y="6665357"/>
            <a:ext cx="4178618" cy="352782"/>
          </a:xfrm>
          <a:prstGeom prst="rect">
            <a:avLst/>
          </a:prstGeom>
          <a:noFill/>
          <a:ln/>
        </p:spPr>
        <p:txBody>
          <a:bodyPr wrap="none" lIns="0" tIns="0" rIns="0" bIns="0" rtlCol="0" anchor="t"/>
          <a:lstStyle/>
          <a:p>
            <a:pPr marL="342900" indent="-342900" algn="l">
              <a:lnSpc>
                <a:spcPts val="2750"/>
              </a:lnSpc>
              <a:buSzPct val="100000"/>
              <a:buChar char="•"/>
            </a:pPr>
            <a:r>
              <a:rPr lang="en-US" sz="1700" dirty="0">
                <a:solidFill>
                  <a:srgbClr val="454240"/>
                </a:solidFill>
                <a:ea typeface="DM Sans" pitchFamily="34" charset="-122"/>
                <a:cs typeface="DM Sans" pitchFamily="34" charset="-120"/>
              </a:rPr>
              <a:t>Task automation loops.</a:t>
            </a:r>
            <a:endParaRPr lang="en-US" sz="1700" dirty="0"/>
          </a:p>
        </p:txBody>
      </p:sp>
      <p:sp>
        <p:nvSpPr>
          <p:cNvPr id="9" name="Text 5"/>
          <p:cNvSpPr/>
          <p:nvPr/>
        </p:nvSpPr>
        <p:spPr>
          <a:xfrm>
            <a:off x="771644" y="7095292"/>
            <a:ext cx="4178618" cy="352782"/>
          </a:xfrm>
          <a:prstGeom prst="rect">
            <a:avLst/>
          </a:prstGeom>
          <a:noFill/>
          <a:ln/>
        </p:spPr>
        <p:txBody>
          <a:bodyPr wrap="none" lIns="0" tIns="0" rIns="0" bIns="0" rtlCol="0" anchor="t"/>
          <a:lstStyle/>
          <a:p>
            <a:pPr marL="342900" indent="-342900" algn="l">
              <a:lnSpc>
                <a:spcPts val="2750"/>
              </a:lnSpc>
              <a:buSzPct val="100000"/>
              <a:buChar char="•"/>
            </a:pPr>
            <a:r>
              <a:rPr lang="en-US" sz="1700" dirty="0">
                <a:solidFill>
                  <a:srgbClr val="454240"/>
                </a:solidFill>
                <a:ea typeface="DM Sans" pitchFamily="34" charset="-122"/>
                <a:cs typeface="DM Sans" pitchFamily="34" charset="-120"/>
              </a:rPr>
              <a:t>Built-in tools for files, scraping, email.</a:t>
            </a:r>
            <a:endParaRPr lang="en-US" sz="1700" dirty="0"/>
          </a:p>
        </p:txBody>
      </p:sp>
      <p:pic>
        <p:nvPicPr>
          <p:cNvPr id="10" name="Image 2" descr="preencoded.png"/>
          <p:cNvPicPr>
            <a:picLocks noChangeAspect="1"/>
          </p:cNvPicPr>
          <p:nvPr/>
        </p:nvPicPr>
        <p:blipFill>
          <a:blip r:embed="rId5"/>
          <a:stretch>
            <a:fillRect/>
          </a:stretch>
        </p:blipFill>
        <p:spPr>
          <a:xfrm>
            <a:off x="5225772" y="4557236"/>
            <a:ext cx="551140" cy="551140"/>
          </a:xfrm>
          <a:prstGeom prst="rect">
            <a:avLst/>
          </a:prstGeom>
        </p:spPr>
      </p:pic>
      <p:sp>
        <p:nvSpPr>
          <p:cNvPr id="11" name="Text 6"/>
          <p:cNvSpPr/>
          <p:nvPr/>
        </p:nvSpPr>
        <p:spPr>
          <a:xfrm>
            <a:off x="5225772" y="5328761"/>
            <a:ext cx="2756178" cy="344448"/>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ea typeface="Libre Baskerville" pitchFamily="34" charset="-122"/>
                <a:cs typeface="Libre Baskerville" pitchFamily="34" charset="-120"/>
              </a:rPr>
              <a:t>Ideal For</a:t>
            </a:r>
            <a:endParaRPr lang="en-US" sz="2150" dirty="0"/>
          </a:p>
        </p:txBody>
      </p:sp>
      <p:sp>
        <p:nvSpPr>
          <p:cNvPr id="12" name="Text 7"/>
          <p:cNvSpPr/>
          <p:nvPr/>
        </p:nvSpPr>
        <p:spPr>
          <a:xfrm>
            <a:off x="5225772" y="5805488"/>
            <a:ext cx="4178737" cy="352782"/>
          </a:xfrm>
          <a:prstGeom prst="rect">
            <a:avLst/>
          </a:prstGeom>
          <a:noFill/>
          <a:ln/>
        </p:spPr>
        <p:txBody>
          <a:bodyPr wrap="none" lIns="0" tIns="0" rIns="0" bIns="0" rtlCol="0" anchor="t"/>
          <a:lstStyle/>
          <a:p>
            <a:pPr marL="342900" indent="-342900" algn="l">
              <a:lnSpc>
                <a:spcPts val="2750"/>
              </a:lnSpc>
              <a:buSzPct val="100000"/>
              <a:buChar char="•"/>
            </a:pPr>
            <a:r>
              <a:rPr lang="en-US" sz="1700" dirty="0">
                <a:solidFill>
                  <a:srgbClr val="454240"/>
                </a:solidFill>
                <a:ea typeface="DM Sans" pitchFamily="34" charset="-122"/>
                <a:cs typeface="DM Sans" pitchFamily="34" charset="-120"/>
              </a:rPr>
              <a:t>Workflow automation.</a:t>
            </a:r>
            <a:endParaRPr lang="en-US" sz="1700" dirty="0"/>
          </a:p>
        </p:txBody>
      </p:sp>
      <p:sp>
        <p:nvSpPr>
          <p:cNvPr id="13" name="Text 8"/>
          <p:cNvSpPr/>
          <p:nvPr/>
        </p:nvSpPr>
        <p:spPr>
          <a:xfrm>
            <a:off x="5225772" y="6235422"/>
            <a:ext cx="4178737" cy="352782"/>
          </a:xfrm>
          <a:prstGeom prst="rect">
            <a:avLst/>
          </a:prstGeom>
          <a:noFill/>
          <a:ln/>
        </p:spPr>
        <p:txBody>
          <a:bodyPr wrap="none" lIns="0" tIns="0" rIns="0" bIns="0" rtlCol="0" anchor="t"/>
          <a:lstStyle/>
          <a:p>
            <a:pPr marL="342900" indent="-342900" algn="l">
              <a:lnSpc>
                <a:spcPts val="2750"/>
              </a:lnSpc>
              <a:buSzPct val="100000"/>
              <a:buChar char="•"/>
            </a:pPr>
            <a:r>
              <a:rPr lang="en-US" sz="1700" dirty="0">
                <a:solidFill>
                  <a:srgbClr val="454240"/>
                </a:solidFill>
                <a:ea typeface="DM Sans" pitchFamily="34" charset="-122"/>
                <a:cs typeface="DM Sans" pitchFamily="34" charset="-120"/>
              </a:rPr>
              <a:t>Task runners (scrape, parse, store).</a:t>
            </a:r>
            <a:endParaRPr lang="en-US" sz="1700" dirty="0"/>
          </a:p>
        </p:txBody>
      </p:sp>
      <p:sp>
        <p:nvSpPr>
          <p:cNvPr id="14" name="Text 9"/>
          <p:cNvSpPr/>
          <p:nvPr/>
        </p:nvSpPr>
        <p:spPr>
          <a:xfrm>
            <a:off x="5225772" y="6665357"/>
            <a:ext cx="4178737" cy="352782"/>
          </a:xfrm>
          <a:prstGeom prst="rect">
            <a:avLst/>
          </a:prstGeom>
          <a:noFill/>
          <a:ln/>
        </p:spPr>
        <p:txBody>
          <a:bodyPr wrap="none" lIns="0" tIns="0" rIns="0" bIns="0" rtlCol="0" anchor="t"/>
          <a:lstStyle/>
          <a:p>
            <a:pPr marL="342900" indent="-342900" algn="l">
              <a:lnSpc>
                <a:spcPts val="2750"/>
              </a:lnSpc>
              <a:buSzPct val="100000"/>
              <a:buChar char="•"/>
            </a:pPr>
            <a:r>
              <a:rPr lang="en-US" sz="1700" dirty="0">
                <a:solidFill>
                  <a:srgbClr val="454240"/>
                </a:solidFill>
                <a:ea typeface="DM Sans" pitchFamily="34" charset="-122"/>
                <a:cs typeface="DM Sans" pitchFamily="34" charset="-120"/>
              </a:rPr>
              <a:t>Non-technical users building agents.</a:t>
            </a:r>
            <a:endParaRPr lang="en-US" sz="1700" dirty="0"/>
          </a:p>
        </p:txBody>
      </p:sp>
      <p:pic>
        <p:nvPicPr>
          <p:cNvPr id="15" name="Image 3" descr="preencoded.png"/>
          <p:cNvPicPr>
            <a:picLocks noChangeAspect="1"/>
          </p:cNvPicPr>
          <p:nvPr/>
        </p:nvPicPr>
        <p:blipFill>
          <a:blip r:embed="rId6"/>
          <a:stretch>
            <a:fillRect/>
          </a:stretch>
        </p:blipFill>
        <p:spPr>
          <a:xfrm>
            <a:off x="9680019" y="4557236"/>
            <a:ext cx="551140" cy="551140"/>
          </a:xfrm>
          <a:prstGeom prst="rect">
            <a:avLst/>
          </a:prstGeom>
        </p:spPr>
      </p:pic>
      <p:sp>
        <p:nvSpPr>
          <p:cNvPr id="16" name="Text 10"/>
          <p:cNvSpPr/>
          <p:nvPr/>
        </p:nvSpPr>
        <p:spPr>
          <a:xfrm>
            <a:off x="9680019" y="5328761"/>
            <a:ext cx="2756178" cy="344448"/>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ea typeface="Libre Baskerville" pitchFamily="34" charset="-122"/>
                <a:cs typeface="Libre Baskerville" pitchFamily="34" charset="-120"/>
              </a:rPr>
              <a:t>Example Use Case</a:t>
            </a:r>
            <a:endParaRPr lang="en-US" sz="2150" dirty="0"/>
          </a:p>
        </p:txBody>
      </p:sp>
      <p:sp>
        <p:nvSpPr>
          <p:cNvPr id="17" name="Text 11"/>
          <p:cNvSpPr/>
          <p:nvPr/>
        </p:nvSpPr>
        <p:spPr>
          <a:xfrm>
            <a:off x="9680019" y="5805488"/>
            <a:ext cx="4178618" cy="1058347"/>
          </a:xfrm>
          <a:prstGeom prst="rect">
            <a:avLst/>
          </a:prstGeom>
          <a:noFill/>
          <a:ln/>
        </p:spPr>
        <p:txBody>
          <a:bodyPr wrap="square" lIns="0" tIns="0" rIns="0" bIns="0" rtlCol="0" anchor="t"/>
          <a:lstStyle/>
          <a:p>
            <a:pPr marL="0" indent="0" algn="l">
              <a:lnSpc>
                <a:spcPts val="2750"/>
              </a:lnSpc>
              <a:buNone/>
            </a:pPr>
            <a:r>
              <a:rPr lang="en-US" sz="1700" dirty="0">
                <a:solidFill>
                  <a:srgbClr val="454240"/>
                </a:solidFill>
                <a:ea typeface="DM Sans" pitchFamily="34" charset="-122"/>
                <a:cs typeface="DM Sans" pitchFamily="34" charset="-120"/>
              </a:rPr>
              <a:t>An AutoAgent logs into a job site. It scrapes and filters listings. Daily reports are sent via email.</a:t>
            </a:r>
            <a:endParaRPr lang="en-US" sz="1700" dirty="0"/>
          </a:p>
        </p:txBody>
      </p:sp>
      <p:sp>
        <p:nvSpPr>
          <p:cNvPr id="18" name="Rectangle 17">
            <a:extLst>
              <a:ext uri="{FF2B5EF4-FFF2-40B4-BE49-F238E27FC236}">
                <a16:creationId xmlns:a16="http://schemas.microsoft.com/office/drawing/2014/main" id="{15C81808-C52B-485A-BEC5-F2235EB4EA85}"/>
              </a:ext>
            </a:extLst>
          </p:cNvPr>
          <p:cNvSpPr/>
          <p:nvPr/>
        </p:nvSpPr>
        <p:spPr>
          <a:xfrm>
            <a:off x="12527280" y="7548880"/>
            <a:ext cx="2103120" cy="680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9306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5C4E3D"/>
                </a:solidFill>
                <a:ea typeface="Libre Baskerville" pitchFamily="34" charset="-122"/>
                <a:cs typeface="Libre Baskerville" pitchFamily="34" charset="-120"/>
              </a:rPr>
              <a:t>AgentScope (OpenAI Enterprise Tooling)</a:t>
            </a:r>
            <a:endParaRPr lang="en-US" sz="4450" dirty="0"/>
          </a:p>
        </p:txBody>
      </p:sp>
      <p:sp>
        <p:nvSpPr>
          <p:cNvPr id="4" name="Shape 1"/>
          <p:cNvSpPr/>
          <p:nvPr/>
        </p:nvSpPr>
        <p:spPr>
          <a:xfrm>
            <a:off x="793790" y="2450783"/>
            <a:ext cx="510302" cy="510302"/>
          </a:xfrm>
          <a:prstGeom prst="roundRect">
            <a:avLst>
              <a:gd name="adj" fmla="val 18669"/>
            </a:avLst>
          </a:prstGeom>
          <a:solidFill>
            <a:srgbClr val="F7EDD4"/>
          </a:solidFill>
          <a:ln w="7620">
            <a:solidFill>
              <a:srgbClr val="DDD3BA"/>
            </a:solidFill>
            <a:prstDash val="solid"/>
          </a:ln>
        </p:spPr>
      </p:sp>
      <p:pic>
        <p:nvPicPr>
          <p:cNvPr id="5" name="Image 1" descr="preencoded.png"/>
          <p:cNvPicPr>
            <a:picLocks noChangeAspect="1"/>
          </p:cNvPicPr>
          <p:nvPr/>
        </p:nvPicPr>
        <p:blipFill>
          <a:blip r:embed="rId4"/>
          <a:stretch>
            <a:fillRect/>
          </a:stretch>
        </p:blipFill>
        <p:spPr>
          <a:xfrm>
            <a:off x="878860" y="2493288"/>
            <a:ext cx="340162" cy="425291"/>
          </a:xfrm>
          <a:prstGeom prst="rect">
            <a:avLst/>
          </a:prstGeom>
        </p:spPr>
      </p:pic>
      <p:sp>
        <p:nvSpPr>
          <p:cNvPr id="6" name="Text 2"/>
          <p:cNvSpPr/>
          <p:nvPr/>
        </p:nvSpPr>
        <p:spPr>
          <a:xfrm>
            <a:off x="1530906" y="2528649"/>
            <a:ext cx="3560921"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ea typeface="Libre Baskerville" pitchFamily="34" charset="-122"/>
                <a:cs typeface="Libre Baskerville" pitchFamily="34" charset="-120"/>
              </a:rPr>
              <a:t>Observability &amp; Logging</a:t>
            </a:r>
            <a:endParaRPr lang="en-US" sz="2200" dirty="0"/>
          </a:p>
        </p:txBody>
      </p:sp>
      <p:sp>
        <p:nvSpPr>
          <p:cNvPr id="7" name="Text 3"/>
          <p:cNvSpPr/>
          <p:nvPr/>
        </p:nvSpPr>
        <p:spPr>
          <a:xfrm>
            <a:off x="1530906" y="3019068"/>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ea typeface="DM Sans" pitchFamily="34" charset="-122"/>
                <a:cs typeface="DM Sans" pitchFamily="34" charset="-120"/>
              </a:rPr>
              <a:t>Track agent activities and system health.</a:t>
            </a:r>
            <a:endParaRPr lang="en-US" sz="1750" dirty="0"/>
          </a:p>
        </p:txBody>
      </p:sp>
      <p:sp>
        <p:nvSpPr>
          <p:cNvPr id="8" name="Shape 4"/>
          <p:cNvSpPr/>
          <p:nvPr/>
        </p:nvSpPr>
        <p:spPr>
          <a:xfrm>
            <a:off x="793790" y="3835598"/>
            <a:ext cx="510302" cy="510302"/>
          </a:xfrm>
          <a:prstGeom prst="roundRect">
            <a:avLst>
              <a:gd name="adj" fmla="val 18669"/>
            </a:avLst>
          </a:prstGeom>
          <a:solidFill>
            <a:srgbClr val="F7EDD4"/>
          </a:solidFill>
          <a:ln w="7620">
            <a:solidFill>
              <a:srgbClr val="DDD3BA"/>
            </a:solidFill>
            <a:prstDash val="solid"/>
          </a:ln>
        </p:spPr>
      </p:sp>
      <p:pic>
        <p:nvPicPr>
          <p:cNvPr id="9" name="Image 2" descr="preencoded.png"/>
          <p:cNvPicPr>
            <a:picLocks noChangeAspect="1"/>
          </p:cNvPicPr>
          <p:nvPr/>
        </p:nvPicPr>
        <p:blipFill>
          <a:blip r:embed="rId5"/>
          <a:stretch>
            <a:fillRect/>
          </a:stretch>
        </p:blipFill>
        <p:spPr>
          <a:xfrm>
            <a:off x="878860" y="3878104"/>
            <a:ext cx="340162" cy="425291"/>
          </a:xfrm>
          <a:prstGeom prst="rect">
            <a:avLst/>
          </a:prstGeom>
        </p:spPr>
      </p:pic>
      <p:sp>
        <p:nvSpPr>
          <p:cNvPr id="10" name="Text 5"/>
          <p:cNvSpPr/>
          <p:nvPr/>
        </p:nvSpPr>
        <p:spPr>
          <a:xfrm>
            <a:off x="1530906" y="3913465"/>
            <a:ext cx="4316016"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ea typeface="Libre Baskerville" pitchFamily="34" charset="-122"/>
                <a:cs typeface="Libre Baskerville" pitchFamily="34" charset="-120"/>
              </a:rPr>
              <a:t>Prompt tracking &amp; versioning</a:t>
            </a:r>
            <a:endParaRPr lang="en-US" sz="2200" dirty="0"/>
          </a:p>
        </p:txBody>
      </p:sp>
      <p:sp>
        <p:nvSpPr>
          <p:cNvPr id="11" name="Text 6"/>
          <p:cNvSpPr/>
          <p:nvPr/>
        </p:nvSpPr>
        <p:spPr>
          <a:xfrm>
            <a:off x="1530906" y="4403884"/>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ea typeface="DM Sans" pitchFamily="34" charset="-122"/>
                <a:cs typeface="DM Sans" pitchFamily="34" charset="-120"/>
              </a:rPr>
              <a:t>Manage and version prompts for auditability.</a:t>
            </a:r>
            <a:endParaRPr lang="en-US" sz="1750" dirty="0"/>
          </a:p>
        </p:txBody>
      </p:sp>
      <p:sp>
        <p:nvSpPr>
          <p:cNvPr id="12" name="Shape 7"/>
          <p:cNvSpPr/>
          <p:nvPr/>
        </p:nvSpPr>
        <p:spPr>
          <a:xfrm>
            <a:off x="793790" y="5220414"/>
            <a:ext cx="510302" cy="510302"/>
          </a:xfrm>
          <a:prstGeom prst="roundRect">
            <a:avLst>
              <a:gd name="adj" fmla="val 18669"/>
            </a:avLst>
          </a:prstGeom>
          <a:solidFill>
            <a:srgbClr val="F7EDD4"/>
          </a:solidFill>
          <a:ln w="7620">
            <a:solidFill>
              <a:srgbClr val="DDD3BA"/>
            </a:solidFill>
            <a:prstDash val="solid"/>
          </a:ln>
        </p:spPr>
      </p:sp>
      <p:pic>
        <p:nvPicPr>
          <p:cNvPr id="13" name="Image 3" descr="preencoded.png"/>
          <p:cNvPicPr>
            <a:picLocks noChangeAspect="1"/>
          </p:cNvPicPr>
          <p:nvPr/>
        </p:nvPicPr>
        <p:blipFill>
          <a:blip r:embed="rId6"/>
          <a:stretch>
            <a:fillRect/>
          </a:stretch>
        </p:blipFill>
        <p:spPr>
          <a:xfrm>
            <a:off x="878860" y="5262920"/>
            <a:ext cx="340162" cy="425291"/>
          </a:xfrm>
          <a:prstGeom prst="rect">
            <a:avLst/>
          </a:prstGeom>
        </p:spPr>
      </p:pic>
      <p:sp>
        <p:nvSpPr>
          <p:cNvPr id="14" name="Text 8"/>
          <p:cNvSpPr/>
          <p:nvPr/>
        </p:nvSpPr>
        <p:spPr>
          <a:xfrm>
            <a:off x="1530906" y="5298281"/>
            <a:ext cx="3932039"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ea typeface="Libre Baskerville" pitchFamily="34" charset="-122"/>
                <a:cs typeface="Libre Baskerville" pitchFamily="34" charset="-120"/>
              </a:rPr>
              <a:t>Controlled execution loops</a:t>
            </a:r>
            <a:endParaRPr lang="en-US" sz="2200" dirty="0"/>
          </a:p>
        </p:txBody>
      </p:sp>
      <p:sp>
        <p:nvSpPr>
          <p:cNvPr id="15" name="Text 9"/>
          <p:cNvSpPr/>
          <p:nvPr/>
        </p:nvSpPr>
        <p:spPr>
          <a:xfrm>
            <a:off x="1530906" y="5788700"/>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ea typeface="DM Sans" pitchFamily="34" charset="-122"/>
                <a:cs typeface="DM Sans" pitchFamily="34" charset="-120"/>
              </a:rPr>
              <a:t>Ensure agents operate within defined parameters.</a:t>
            </a:r>
            <a:endParaRPr lang="en-US" sz="1750" dirty="0"/>
          </a:p>
        </p:txBody>
      </p:sp>
      <p:sp>
        <p:nvSpPr>
          <p:cNvPr id="16" name="Shape 10"/>
          <p:cNvSpPr/>
          <p:nvPr/>
        </p:nvSpPr>
        <p:spPr>
          <a:xfrm>
            <a:off x="793790" y="6605230"/>
            <a:ext cx="510302" cy="510302"/>
          </a:xfrm>
          <a:prstGeom prst="roundRect">
            <a:avLst>
              <a:gd name="adj" fmla="val 18669"/>
            </a:avLst>
          </a:prstGeom>
          <a:solidFill>
            <a:srgbClr val="F7EDD4"/>
          </a:solidFill>
          <a:ln w="7620">
            <a:solidFill>
              <a:srgbClr val="DDD3BA"/>
            </a:solidFill>
            <a:prstDash val="solid"/>
          </a:ln>
        </p:spPr>
      </p:sp>
      <p:pic>
        <p:nvPicPr>
          <p:cNvPr id="17" name="Image 4" descr="preencoded.png"/>
          <p:cNvPicPr>
            <a:picLocks noChangeAspect="1"/>
          </p:cNvPicPr>
          <p:nvPr/>
        </p:nvPicPr>
        <p:blipFill>
          <a:blip r:embed="rId7"/>
          <a:stretch>
            <a:fillRect/>
          </a:stretch>
        </p:blipFill>
        <p:spPr>
          <a:xfrm>
            <a:off x="878860" y="6647736"/>
            <a:ext cx="340162" cy="425291"/>
          </a:xfrm>
          <a:prstGeom prst="rect">
            <a:avLst/>
          </a:prstGeom>
        </p:spPr>
      </p:pic>
      <p:sp>
        <p:nvSpPr>
          <p:cNvPr id="18" name="Text 11"/>
          <p:cNvSpPr/>
          <p:nvPr/>
        </p:nvSpPr>
        <p:spPr>
          <a:xfrm>
            <a:off x="1530906" y="6683097"/>
            <a:ext cx="5513903"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ea typeface="Libre Baskerville" pitchFamily="34" charset="-122"/>
                <a:cs typeface="Libre Baskerville" pitchFamily="34" charset="-120"/>
              </a:rPr>
              <a:t>Supports team-based agent workflows</a:t>
            </a:r>
            <a:endParaRPr lang="en-US" sz="2200" dirty="0"/>
          </a:p>
        </p:txBody>
      </p:sp>
      <p:sp>
        <p:nvSpPr>
          <p:cNvPr id="19" name="Text 12"/>
          <p:cNvSpPr/>
          <p:nvPr/>
        </p:nvSpPr>
        <p:spPr>
          <a:xfrm>
            <a:off x="1530906" y="7173516"/>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ea typeface="DM Sans" pitchFamily="34" charset="-122"/>
                <a:cs typeface="DM Sans" pitchFamily="34" charset="-120"/>
              </a:rPr>
              <a:t>Facilitate collaboration in multi-agent environments.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668435"/>
            <a:ext cx="6902291"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What is AutoGen Studio?</a:t>
            </a:r>
            <a:endParaRPr lang="en-US" sz="4450" dirty="0"/>
          </a:p>
        </p:txBody>
      </p:sp>
      <p:sp>
        <p:nvSpPr>
          <p:cNvPr id="4" name="Shape 1"/>
          <p:cNvSpPr/>
          <p:nvPr/>
        </p:nvSpPr>
        <p:spPr>
          <a:xfrm>
            <a:off x="793790" y="4717375"/>
            <a:ext cx="510302" cy="510302"/>
          </a:xfrm>
          <a:prstGeom prst="roundRect">
            <a:avLst>
              <a:gd name="adj" fmla="val 18669"/>
            </a:avLst>
          </a:prstGeom>
          <a:solidFill>
            <a:srgbClr val="DADBF1"/>
          </a:solidFill>
          <a:ln w="7620">
            <a:solidFill>
              <a:srgbClr val="C0C1D7"/>
            </a:solidFill>
            <a:prstDash val="solid"/>
          </a:ln>
        </p:spPr>
      </p:sp>
      <p:pic>
        <p:nvPicPr>
          <p:cNvPr id="5" name="Image 1" descr="preencoded.png"/>
          <p:cNvPicPr>
            <a:picLocks noChangeAspect="1"/>
          </p:cNvPicPr>
          <p:nvPr/>
        </p:nvPicPr>
        <p:blipFill>
          <a:blip r:embed="rId4"/>
          <a:stretch>
            <a:fillRect/>
          </a:stretch>
        </p:blipFill>
        <p:spPr>
          <a:xfrm>
            <a:off x="878860" y="4759881"/>
            <a:ext cx="340162" cy="425291"/>
          </a:xfrm>
          <a:prstGeom prst="rect">
            <a:avLst/>
          </a:prstGeom>
        </p:spPr>
      </p:pic>
      <p:sp>
        <p:nvSpPr>
          <p:cNvPr id="6" name="Text 2"/>
          <p:cNvSpPr/>
          <p:nvPr/>
        </p:nvSpPr>
        <p:spPr>
          <a:xfrm>
            <a:off x="1530906" y="479524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Visual Development</a:t>
            </a:r>
            <a:endParaRPr lang="en-US" sz="2200" dirty="0"/>
          </a:p>
        </p:txBody>
      </p:sp>
      <p:sp>
        <p:nvSpPr>
          <p:cNvPr id="7" name="Text 3"/>
          <p:cNvSpPr/>
          <p:nvPr/>
        </p:nvSpPr>
        <p:spPr>
          <a:xfrm>
            <a:off x="1530906" y="5285661"/>
            <a:ext cx="5642610"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 visual tool for multi-agent LLM workflows.</a:t>
            </a:r>
            <a:endParaRPr lang="en-US" sz="1750" dirty="0"/>
          </a:p>
        </p:txBody>
      </p:sp>
      <p:sp>
        <p:nvSpPr>
          <p:cNvPr id="8" name="Shape 4"/>
          <p:cNvSpPr/>
          <p:nvPr/>
        </p:nvSpPr>
        <p:spPr>
          <a:xfrm>
            <a:off x="7457003" y="4717375"/>
            <a:ext cx="510302" cy="510302"/>
          </a:xfrm>
          <a:prstGeom prst="roundRect">
            <a:avLst>
              <a:gd name="adj" fmla="val 18669"/>
            </a:avLst>
          </a:prstGeom>
          <a:solidFill>
            <a:srgbClr val="DADBF1"/>
          </a:solidFill>
          <a:ln w="7620">
            <a:solidFill>
              <a:srgbClr val="C0C1D7"/>
            </a:solidFill>
            <a:prstDash val="solid"/>
          </a:ln>
        </p:spPr>
      </p:sp>
      <p:pic>
        <p:nvPicPr>
          <p:cNvPr id="9" name="Image 2" descr="preencoded.png"/>
          <p:cNvPicPr>
            <a:picLocks noChangeAspect="1"/>
          </p:cNvPicPr>
          <p:nvPr/>
        </p:nvPicPr>
        <p:blipFill>
          <a:blip r:embed="rId5"/>
          <a:stretch>
            <a:fillRect/>
          </a:stretch>
        </p:blipFill>
        <p:spPr>
          <a:xfrm>
            <a:off x="7542074" y="4759881"/>
            <a:ext cx="340162" cy="425291"/>
          </a:xfrm>
          <a:prstGeom prst="rect">
            <a:avLst/>
          </a:prstGeom>
        </p:spPr>
      </p:pic>
      <p:sp>
        <p:nvSpPr>
          <p:cNvPr id="10" name="Text 5"/>
          <p:cNvSpPr/>
          <p:nvPr/>
        </p:nvSpPr>
        <p:spPr>
          <a:xfrm>
            <a:off x="8194119" y="479524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Microsoft AutoGen</a:t>
            </a:r>
            <a:endParaRPr lang="en-US" sz="2200" dirty="0"/>
          </a:p>
        </p:txBody>
      </p:sp>
      <p:sp>
        <p:nvSpPr>
          <p:cNvPr id="11" name="Text 6"/>
          <p:cNvSpPr/>
          <p:nvPr/>
        </p:nvSpPr>
        <p:spPr>
          <a:xfrm>
            <a:off x="8194119" y="5285661"/>
            <a:ext cx="5642610"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Built on Microsoft's AutoGen framework.</a:t>
            </a:r>
            <a:endParaRPr lang="en-US" sz="1750" dirty="0"/>
          </a:p>
        </p:txBody>
      </p:sp>
      <p:sp>
        <p:nvSpPr>
          <p:cNvPr id="12" name="Shape 7"/>
          <p:cNvSpPr/>
          <p:nvPr/>
        </p:nvSpPr>
        <p:spPr>
          <a:xfrm>
            <a:off x="793790" y="6102191"/>
            <a:ext cx="510302" cy="510302"/>
          </a:xfrm>
          <a:prstGeom prst="roundRect">
            <a:avLst>
              <a:gd name="adj" fmla="val 18669"/>
            </a:avLst>
          </a:prstGeom>
          <a:solidFill>
            <a:srgbClr val="DADBF1"/>
          </a:solidFill>
          <a:ln w="7620">
            <a:solidFill>
              <a:srgbClr val="C0C1D7"/>
            </a:solidFill>
            <a:prstDash val="solid"/>
          </a:ln>
        </p:spPr>
      </p:sp>
      <p:pic>
        <p:nvPicPr>
          <p:cNvPr id="13" name="Image 3" descr="preencoded.png"/>
          <p:cNvPicPr>
            <a:picLocks noChangeAspect="1"/>
          </p:cNvPicPr>
          <p:nvPr/>
        </p:nvPicPr>
        <p:blipFill>
          <a:blip r:embed="rId6"/>
          <a:stretch>
            <a:fillRect/>
          </a:stretch>
        </p:blipFill>
        <p:spPr>
          <a:xfrm>
            <a:off x="878860" y="6144697"/>
            <a:ext cx="340162" cy="425291"/>
          </a:xfrm>
          <a:prstGeom prst="rect">
            <a:avLst/>
          </a:prstGeom>
        </p:spPr>
      </p:pic>
      <p:sp>
        <p:nvSpPr>
          <p:cNvPr id="14" name="Text 8"/>
          <p:cNvSpPr/>
          <p:nvPr/>
        </p:nvSpPr>
        <p:spPr>
          <a:xfrm>
            <a:off x="1530906" y="618005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Simplifies Design</a:t>
            </a:r>
            <a:endParaRPr lang="en-US" sz="2200" dirty="0"/>
          </a:p>
        </p:txBody>
      </p:sp>
      <p:sp>
        <p:nvSpPr>
          <p:cNvPr id="15" name="Text 9"/>
          <p:cNvSpPr/>
          <p:nvPr/>
        </p:nvSpPr>
        <p:spPr>
          <a:xfrm>
            <a:off x="1530906" y="6670477"/>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Simplifies agent creation, customization, and interaction.</a:t>
            </a:r>
            <a:endParaRPr lang="en-US" sz="1750" dirty="0"/>
          </a:p>
        </p:txBody>
      </p:sp>
      <p:sp>
        <p:nvSpPr>
          <p:cNvPr id="16" name="Shape 10"/>
          <p:cNvSpPr/>
          <p:nvPr/>
        </p:nvSpPr>
        <p:spPr>
          <a:xfrm>
            <a:off x="7457003" y="6102191"/>
            <a:ext cx="510302" cy="510302"/>
          </a:xfrm>
          <a:prstGeom prst="roundRect">
            <a:avLst>
              <a:gd name="adj" fmla="val 18669"/>
            </a:avLst>
          </a:prstGeom>
          <a:solidFill>
            <a:srgbClr val="DADBF1"/>
          </a:solidFill>
          <a:ln w="7620">
            <a:solidFill>
              <a:srgbClr val="C0C1D7"/>
            </a:solidFill>
            <a:prstDash val="solid"/>
          </a:ln>
        </p:spPr>
      </p:sp>
      <p:pic>
        <p:nvPicPr>
          <p:cNvPr id="17" name="Image 4" descr="preencoded.png"/>
          <p:cNvPicPr>
            <a:picLocks noChangeAspect="1"/>
          </p:cNvPicPr>
          <p:nvPr/>
        </p:nvPicPr>
        <p:blipFill>
          <a:blip r:embed="rId7"/>
          <a:stretch>
            <a:fillRect/>
          </a:stretch>
        </p:blipFill>
        <p:spPr>
          <a:xfrm>
            <a:off x="7542074" y="6144697"/>
            <a:ext cx="340162" cy="425291"/>
          </a:xfrm>
          <a:prstGeom prst="rect">
            <a:avLst/>
          </a:prstGeom>
        </p:spPr>
      </p:pic>
      <p:sp>
        <p:nvSpPr>
          <p:cNvPr id="18" name="Text 11"/>
          <p:cNvSpPr/>
          <p:nvPr/>
        </p:nvSpPr>
        <p:spPr>
          <a:xfrm>
            <a:off x="8194119" y="618005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Democratizes AI</a:t>
            </a:r>
            <a:endParaRPr lang="en-US" sz="2200" dirty="0"/>
          </a:p>
        </p:txBody>
      </p:sp>
      <p:sp>
        <p:nvSpPr>
          <p:cNvPr id="19" name="Text 12"/>
          <p:cNvSpPr/>
          <p:nvPr/>
        </p:nvSpPr>
        <p:spPr>
          <a:xfrm>
            <a:off x="8194119" y="6670477"/>
            <a:ext cx="5642610"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Aims to democratize AI workflow design for all.</a:t>
            </a:r>
            <a:endParaRPr lang="en-US" sz="1750" dirty="0"/>
          </a:p>
        </p:txBody>
      </p:sp>
      <p:sp>
        <p:nvSpPr>
          <p:cNvPr id="20" name="Rectangle 19">
            <a:extLst>
              <a:ext uri="{FF2B5EF4-FFF2-40B4-BE49-F238E27FC236}">
                <a16:creationId xmlns:a16="http://schemas.microsoft.com/office/drawing/2014/main" id="{DE0877E0-F612-43C5-8AA7-F8143EAC9A74}"/>
              </a:ext>
            </a:extLst>
          </p:cNvPr>
          <p:cNvSpPr/>
          <p:nvPr/>
        </p:nvSpPr>
        <p:spPr>
          <a:xfrm>
            <a:off x="12750800" y="7569200"/>
            <a:ext cx="1879600" cy="66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1198840"/>
            <a:ext cx="7010519"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AutoGen Studio Interface</a:t>
            </a:r>
            <a:endParaRPr lang="en-US" sz="4450" dirty="0"/>
          </a:p>
        </p:txBody>
      </p:sp>
      <p:pic>
        <p:nvPicPr>
          <p:cNvPr id="5" name="Image 1" descr="preencoded.png"/>
          <p:cNvPicPr>
            <a:picLocks noChangeAspect="1"/>
          </p:cNvPicPr>
          <p:nvPr/>
        </p:nvPicPr>
        <p:blipFill>
          <a:blip r:embed="rId4"/>
          <a:stretch>
            <a:fillRect/>
          </a:stretch>
        </p:blipFill>
        <p:spPr>
          <a:xfrm>
            <a:off x="793790" y="2502932"/>
            <a:ext cx="6244709" cy="4272677"/>
          </a:xfrm>
          <a:prstGeom prst="rect">
            <a:avLst/>
          </a:prstGeom>
        </p:spPr>
      </p:pic>
      <p:sp>
        <p:nvSpPr>
          <p:cNvPr id="6" name="Text 2"/>
          <p:cNvSpPr/>
          <p:nvPr/>
        </p:nvSpPr>
        <p:spPr>
          <a:xfrm>
            <a:off x="7599521" y="232707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ea typeface="Inter" pitchFamily="34" charset="-122"/>
                <a:cs typeface="Inter" pitchFamily="34" charset="-120"/>
              </a:rPr>
              <a:t>Graph-based interface for visualizing workflows.</a:t>
            </a:r>
            <a:endParaRPr lang="en-US" sz="1750" dirty="0"/>
          </a:p>
        </p:txBody>
      </p:sp>
      <p:sp>
        <p:nvSpPr>
          <p:cNvPr id="7" name="Text 3"/>
          <p:cNvSpPr/>
          <p:nvPr/>
        </p:nvSpPr>
        <p:spPr>
          <a:xfrm>
            <a:off x="7599521" y="276927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ea typeface="Inter" pitchFamily="34" charset="-122"/>
                <a:cs typeface="Inter" pitchFamily="34" charset="-120"/>
              </a:rPr>
              <a:t>Drag-and-drop components for easy design.</a:t>
            </a:r>
            <a:endParaRPr lang="en-US" sz="1750" dirty="0"/>
          </a:p>
        </p:txBody>
      </p:sp>
      <p:sp>
        <p:nvSpPr>
          <p:cNvPr id="8" name="Text 4"/>
          <p:cNvSpPr/>
          <p:nvPr/>
        </p:nvSpPr>
        <p:spPr>
          <a:xfrm>
            <a:off x="7599521" y="321147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ea typeface="Inter" pitchFamily="34" charset="-122"/>
                <a:cs typeface="Inter" pitchFamily="34" charset="-120"/>
              </a:rPr>
              <a:t>Real-time feedback for workflow adjustments.</a:t>
            </a:r>
            <a:endParaRPr lang="en-US" sz="1750" dirty="0"/>
          </a:p>
        </p:txBody>
      </p:sp>
      <p:sp>
        <p:nvSpPr>
          <p:cNvPr id="9" name="Text 5"/>
          <p:cNvSpPr/>
          <p:nvPr/>
        </p:nvSpPr>
        <p:spPr>
          <a:xfrm>
            <a:off x="7599521" y="365367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ea typeface="Inter" pitchFamily="34" charset="-122"/>
                <a:cs typeface="Inter" pitchFamily="34" charset="-120"/>
              </a:rPr>
              <a:t>Integrated code editor for advanced customization.</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0689" y="933331"/>
            <a:ext cx="6129218" cy="670322"/>
          </a:xfrm>
          <a:prstGeom prst="rect">
            <a:avLst/>
          </a:prstGeom>
          <a:noFill/>
          <a:ln/>
        </p:spPr>
        <p:txBody>
          <a:bodyPr wrap="none" lIns="0" tIns="0" rIns="0" bIns="0" rtlCol="0" anchor="t"/>
          <a:lstStyle/>
          <a:p>
            <a:pPr marL="0" indent="0" algn="l">
              <a:lnSpc>
                <a:spcPts val="5250"/>
              </a:lnSpc>
              <a:buNone/>
            </a:pPr>
            <a:r>
              <a:rPr lang="en-US" sz="4200" b="1" dirty="0">
                <a:solidFill>
                  <a:srgbClr val="000000"/>
                </a:solidFill>
                <a:ea typeface="Inter Bold" pitchFamily="34" charset="-122"/>
                <a:cs typeface="Inter Bold" pitchFamily="34" charset="-120"/>
              </a:rPr>
              <a:t>AutoGen Studio Agents</a:t>
            </a:r>
            <a:endParaRPr lang="en-US" sz="4200" dirty="0"/>
          </a:p>
        </p:txBody>
      </p:sp>
      <p:pic>
        <p:nvPicPr>
          <p:cNvPr id="4" name="Image 1" descr="preencoded.png"/>
          <p:cNvPicPr>
            <a:picLocks noChangeAspect="1"/>
          </p:cNvPicPr>
          <p:nvPr/>
        </p:nvPicPr>
        <p:blipFill>
          <a:blip r:embed="rId4"/>
          <a:stretch>
            <a:fillRect/>
          </a:stretch>
        </p:blipFill>
        <p:spPr>
          <a:xfrm>
            <a:off x="750689" y="1962864"/>
            <a:ext cx="536258" cy="536258"/>
          </a:xfrm>
          <a:prstGeom prst="rect">
            <a:avLst/>
          </a:prstGeom>
        </p:spPr>
      </p:pic>
      <p:sp>
        <p:nvSpPr>
          <p:cNvPr id="5" name="Text 1"/>
          <p:cNvSpPr/>
          <p:nvPr/>
        </p:nvSpPr>
        <p:spPr>
          <a:xfrm>
            <a:off x="1501378" y="2052638"/>
            <a:ext cx="1618059" cy="670322"/>
          </a:xfrm>
          <a:prstGeom prst="rect">
            <a:avLst/>
          </a:prstGeom>
          <a:noFill/>
          <a:ln/>
        </p:spPr>
        <p:txBody>
          <a:bodyPr wrap="square" lIns="0" tIns="0" rIns="0" bIns="0" rtlCol="0" anchor="t"/>
          <a:lstStyle/>
          <a:p>
            <a:pPr marL="0" indent="0" algn="l">
              <a:lnSpc>
                <a:spcPts val="2600"/>
              </a:lnSpc>
              <a:buNone/>
            </a:pPr>
            <a:r>
              <a:rPr lang="en-US" sz="2100" b="1" dirty="0">
                <a:solidFill>
                  <a:srgbClr val="272525"/>
                </a:solidFill>
                <a:ea typeface="Inter Bold" pitchFamily="34" charset="-122"/>
                <a:cs typeface="Inter Bold" pitchFamily="34" charset="-120"/>
              </a:rPr>
              <a:t>Customizable Roles</a:t>
            </a:r>
            <a:endParaRPr lang="en-US" sz="2100" dirty="0"/>
          </a:p>
        </p:txBody>
      </p:sp>
      <p:sp>
        <p:nvSpPr>
          <p:cNvPr id="6" name="Text 2"/>
          <p:cNvSpPr/>
          <p:nvPr/>
        </p:nvSpPr>
        <p:spPr>
          <a:xfrm>
            <a:off x="1501378" y="2851666"/>
            <a:ext cx="1618059" cy="1373029"/>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ea typeface="Inter" pitchFamily="34" charset="-122"/>
                <a:cs typeface="Inter" pitchFamily="34" charset="-120"/>
              </a:rPr>
              <a:t>Agents have customizable roles, skills, and knowledge.</a:t>
            </a:r>
            <a:endParaRPr lang="en-US" sz="1650" dirty="0"/>
          </a:p>
        </p:txBody>
      </p:sp>
      <p:pic>
        <p:nvPicPr>
          <p:cNvPr id="7" name="Image 2" descr="preencoded.png"/>
          <p:cNvPicPr>
            <a:picLocks noChangeAspect="1"/>
          </p:cNvPicPr>
          <p:nvPr/>
        </p:nvPicPr>
        <p:blipFill>
          <a:blip r:embed="rId5"/>
          <a:stretch>
            <a:fillRect/>
          </a:stretch>
        </p:blipFill>
        <p:spPr>
          <a:xfrm>
            <a:off x="3387566" y="1962864"/>
            <a:ext cx="536258" cy="536258"/>
          </a:xfrm>
          <a:prstGeom prst="rect">
            <a:avLst/>
          </a:prstGeom>
        </p:spPr>
      </p:pic>
      <p:sp>
        <p:nvSpPr>
          <p:cNvPr id="8" name="Text 3"/>
          <p:cNvSpPr/>
          <p:nvPr/>
        </p:nvSpPr>
        <p:spPr>
          <a:xfrm>
            <a:off x="4138255" y="2052638"/>
            <a:ext cx="1618059" cy="670322"/>
          </a:xfrm>
          <a:prstGeom prst="rect">
            <a:avLst/>
          </a:prstGeom>
          <a:noFill/>
          <a:ln/>
        </p:spPr>
        <p:txBody>
          <a:bodyPr wrap="square" lIns="0" tIns="0" rIns="0" bIns="0" rtlCol="0" anchor="t"/>
          <a:lstStyle/>
          <a:p>
            <a:pPr marL="0" indent="0" algn="l">
              <a:lnSpc>
                <a:spcPts val="2600"/>
              </a:lnSpc>
              <a:buNone/>
            </a:pPr>
            <a:r>
              <a:rPr lang="en-US" sz="2100" b="1" dirty="0">
                <a:solidFill>
                  <a:srgbClr val="272525"/>
                </a:solidFill>
                <a:ea typeface="Inter Bold" pitchFamily="34" charset="-122"/>
                <a:cs typeface="Inter Bold" pitchFamily="34" charset="-120"/>
              </a:rPr>
              <a:t>LLM Support</a:t>
            </a:r>
            <a:endParaRPr lang="en-US" sz="2100" dirty="0"/>
          </a:p>
        </p:txBody>
      </p:sp>
      <p:sp>
        <p:nvSpPr>
          <p:cNvPr id="9" name="Text 4"/>
          <p:cNvSpPr/>
          <p:nvPr/>
        </p:nvSpPr>
        <p:spPr>
          <a:xfrm>
            <a:off x="4138255" y="2851666"/>
            <a:ext cx="1618059" cy="1373029"/>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ea typeface="Inter" pitchFamily="34" charset="-122"/>
                <a:cs typeface="Inter" pitchFamily="34" charset="-120"/>
              </a:rPr>
              <a:t>Supports various LLMs like GPT-4 and Gemini.</a:t>
            </a:r>
            <a:endParaRPr lang="en-US" sz="1650" dirty="0"/>
          </a:p>
        </p:txBody>
      </p:sp>
      <p:pic>
        <p:nvPicPr>
          <p:cNvPr id="10" name="Image 3" descr="preencoded.png"/>
          <p:cNvPicPr>
            <a:picLocks noChangeAspect="1"/>
          </p:cNvPicPr>
          <p:nvPr/>
        </p:nvPicPr>
        <p:blipFill>
          <a:blip r:embed="rId6"/>
          <a:stretch>
            <a:fillRect/>
          </a:stretch>
        </p:blipFill>
        <p:spPr>
          <a:xfrm>
            <a:off x="6024443" y="1962864"/>
            <a:ext cx="536258" cy="536258"/>
          </a:xfrm>
          <a:prstGeom prst="rect">
            <a:avLst/>
          </a:prstGeom>
        </p:spPr>
      </p:pic>
      <p:sp>
        <p:nvSpPr>
          <p:cNvPr id="11" name="Text 5"/>
          <p:cNvSpPr/>
          <p:nvPr/>
        </p:nvSpPr>
        <p:spPr>
          <a:xfrm>
            <a:off x="6775133" y="2052638"/>
            <a:ext cx="1618059" cy="670322"/>
          </a:xfrm>
          <a:prstGeom prst="rect">
            <a:avLst/>
          </a:prstGeom>
          <a:noFill/>
          <a:ln/>
        </p:spPr>
        <p:txBody>
          <a:bodyPr wrap="square" lIns="0" tIns="0" rIns="0" bIns="0" rtlCol="0" anchor="t"/>
          <a:lstStyle/>
          <a:p>
            <a:pPr marL="0" indent="0" algn="l">
              <a:lnSpc>
                <a:spcPts val="2600"/>
              </a:lnSpc>
              <a:buNone/>
            </a:pPr>
            <a:r>
              <a:rPr lang="en-US" sz="2100" b="1" dirty="0">
                <a:solidFill>
                  <a:srgbClr val="272525"/>
                </a:solidFill>
                <a:ea typeface="Inter Bold" pitchFamily="34" charset="-122"/>
                <a:cs typeface="Inter Bold" pitchFamily="34" charset="-120"/>
              </a:rPr>
              <a:t>Collaboration</a:t>
            </a:r>
            <a:endParaRPr lang="en-US" sz="2100" dirty="0"/>
          </a:p>
        </p:txBody>
      </p:sp>
      <p:sp>
        <p:nvSpPr>
          <p:cNvPr id="12" name="Text 6"/>
          <p:cNvSpPr/>
          <p:nvPr/>
        </p:nvSpPr>
        <p:spPr>
          <a:xfrm>
            <a:off x="6775133" y="2851666"/>
            <a:ext cx="1618059" cy="1373029"/>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ea typeface="Inter" pitchFamily="34" charset="-122"/>
                <a:cs typeface="Inter" pitchFamily="34" charset="-120"/>
              </a:rPr>
              <a:t>Agents communicate and collaborate on tasks.</a:t>
            </a:r>
            <a:endParaRPr lang="en-US" sz="1650" dirty="0"/>
          </a:p>
        </p:txBody>
      </p:sp>
      <p:pic>
        <p:nvPicPr>
          <p:cNvPr id="13" name="Image 4" descr="preencoded.png"/>
          <p:cNvPicPr>
            <a:picLocks noChangeAspect="1"/>
          </p:cNvPicPr>
          <p:nvPr/>
        </p:nvPicPr>
        <p:blipFill>
          <a:blip r:embed="rId7"/>
          <a:stretch>
            <a:fillRect/>
          </a:stretch>
        </p:blipFill>
        <p:spPr>
          <a:xfrm>
            <a:off x="750689" y="4691182"/>
            <a:ext cx="536258" cy="536258"/>
          </a:xfrm>
          <a:prstGeom prst="rect">
            <a:avLst/>
          </a:prstGeom>
        </p:spPr>
      </p:pic>
      <p:sp>
        <p:nvSpPr>
          <p:cNvPr id="14" name="Text 7"/>
          <p:cNvSpPr/>
          <p:nvPr/>
        </p:nvSpPr>
        <p:spPr>
          <a:xfrm>
            <a:off x="1501378" y="4780955"/>
            <a:ext cx="1618059" cy="670322"/>
          </a:xfrm>
          <a:prstGeom prst="rect">
            <a:avLst/>
          </a:prstGeom>
          <a:noFill/>
          <a:ln/>
        </p:spPr>
        <p:txBody>
          <a:bodyPr wrap="square" lIns="0" tIns="0" rIns="0" bIns="0" rtlCol="0" anchor="t"/>
          <a:lstStyle/>
          <a:p>
            <a:pPr marL="0" indent="0" algn="l">
              <a:lnSpc>
                <a:spcPts val="2600"/>
              </a:lnSpc>
              <a:buNone/>
            </a:pPr>
            <a:r>
              <a:rPr lang="en-US" sz="2100" b="1" dirty="0">
                <a:solidFill>
                  <a:srgbClr val="272525"/>
                </a:solidFill>
                <a:ea typeface="Inter Bold" pitchFamily="34" charset="-122"/>
                <a:cs typeface="Inter Bold" pitchFamily="34" charset="-120"/>
              </a:rPr>
              <a:t>Diverse Examples</a:t>
            </a:r>
            <a:endParaRPr lang="en-US" sz="2100" dirty="0"/>
          </a:p>
        </p:txBody>
      </p:sp>
      <p:sp>
        <p:nvSpPr>
          <p:cNvPr id="15" name="Text 8"/>
          <p:cNvSpPr/>
          <p:nvPr/>
        </p:nvSpPr>
        <p:spPr>
          <a:xfrm>
            <a:off x="1501378" y="5579983"/>
            <a:ext cx="1618059" cy="1716286"/>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ea typeface="Inter" pitchFamily="34" charset="-122"/>
                <a:cs typeface="Inter" pitchFamily="34" charset="-120"/>
              </a:rPr>
              <a:t>Examples: Data Analyst, Content Creator, Project Manager.</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14018"/>
            <a:ext cx="7427476"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AutoGen Studio Use Cases</a:t>
            </a:r>
            <a:endParaRPr lang="en-US" sz="4450" dirty="0"/>
          </a:p>
        </p:txBody>
      </p:sp>
      <p:pic>
        <p:nvPicPr>
          <p:cNvPr id="4" name="Image 1" descr="preencoded.png"/>
          <p:cNvPicPr>
            <a:picLocks noChangeAspect="1"/>
          </p:cNvPicPr>
          <p:nvPr/>
        </p:nvPicPr>
        <p:blipFill>
          <a:blip r:embed="rId4"/>
          <a:stretch>
            <a:fillRect/>
          </a:stretch>
        </p:blipFill>
        <p:spPr>
          <a:xfrm>
            <a:off x="6280190" y="1762958"/>
            <a:ext cx="1134070" cy="1360884"/>
          </a:xfrm>
          <a:prstGeom prst="rect">
            <a:avLst/>
          </a:prstGeom>
        </p:spPr>
      </p:pic>
      <p:sp>
        <p:nvSpPr>
          <p:cNvPr id="5" name="Text 1"/>
          <p:cNvSpPr/>
          <p:nvPr/>
        </p:nvSpPr>
        <p:spPr>
          <a:xfrm>
            <a:off x="7754422" y="198977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Data Analysis</a:t>
            </a:r>
            <a:endParaRPr lang="en-US" sz="2200" dirty="0"/>
          </a:p>
        </p:txBody>
      </p:sp>
      <p:sp>
        <p:nvSpPr>
          <p:cNvPr id="6" name="Text 2"/>
          <p:cNvSpPr/>
          <p:nvPr/>
        </p:nvSpPr>
        <p:spPr>
          <a:xfrm>
            <a:off x="7754422" y="2480191"/>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Automating complex data analysis tasks.</a:t>
            </a:r>
            <a:endParaRPr lang="en-US" sz="1750" dirty="0"/>
          </a:p>
        </p:txBody>
      </p:sp>
      <p:pic>
        <p:nvPicPr>
          <p:cNvPr id="7" name="Image 2" descr="preencoded.png"/>
          <p:cNvPicPr>
            <a:picLocks noChangeAspect="1"/>
          </p:cNvPicPr>
          <p:nvPr/>
        </p:nvPicPr>
        <p:blipFill>
          <a:blip r:embed="rId5"/>
          <a:stretch>
            <a:fillRect/>
          </a:stretch>
        </p:blipFill>
        <p:spPr>
          <a:xfrm>
            <a:off x="6280190" y="3123843"/>
            <a:ext cx="1134070" cy="1360884"/>
          </a:xfrm>
          <a:prstGeom prst="rect">
            <a:avLst/>
          </a:prstGeom>
        </p:spPr>
      </p:pic>
      <p:sp>
        <p:nvSpPr>
          <p:cNvPr id="8" name="Text 3"/>
          <p:cNvSpPr/>
          <p:nvPr/>
        </p:nvSpPr>
        <p:spPr>
          <a:xfrm>
            <a:off x="7754422" y="335065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Content Generation</a:t>
            </a:r>
            <a:endParaRPr lang="en-US" sz="2200" dirty="0"/>
          </a:p>
        </p:txBody>
      </p:sp>
      <p:sp>
        <p:nvSpPr>
          <p:cNvPr id="9" name="Text 4"/>
          <p:cNvSpPr/>
          <p:nvPr/>
        </p:nvSpPr>
        <p:spPr>
          <a:xfrm>
            <a:off x="7754422" y="3841075"/>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Generating marketing content with multiple agents.</a:t>
            </a:r>
            <a:endParaRPr lang="en-US" sz="1750" dirty="0"/>
          </a:p>
        </p:txBody>
      </p:sp>
      <p:pic>
        <p:nvPicPr>
          <p:cNvPr id="10" name="Image 3" descr="preencoded.png"/>
          <p:cNvPicPr>
            <a:picLocks noChangeAspect="1"/>
          </p:cNvPicPr>
          <p:nvPr/>
        </p:nvPicPr>
        <p:blipFill>
          <a:blip r:embed="rId6"/>
          <a:stretch>
            <a:fillRect/>
          </a:stretch>
        </p:blipFill>
        <p:spPr>
          <a:xfrm>
            <a:off x="6280190" y="4484727"/>
            <a:ext cx="1134070" cy="1360884"/>
          </a:xfrm>
          <a:prstGeom prst="rect">
            <a:avLst/>
          </a:prstGeom>
        </p:spPr>
      </p:pic>
      <p:sp>
        <p:nvSpPr>
          <p:cNvPr id="11" name="Text 5"/>
          <p:cNvSpPr/>
          <p:nvPr/>
        </p:nvSpPr>
        <p:spPr>
          <a:xfrm>
            <a:off x="7754422" y="4711541"/>
            <a:ext cx="287405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Project Management</a:t>
            </a:r>
            <a:endParaRPr lang="en-US" sz="2200" dirty="0"/>
          </a:p>
        </p:txBody>
      </p:sp>
      <p:sp>
        <p:nvSpPr>
          <p:cNvPr id="12" name="Text 6"/>
          <p:cNvSpPr/>
          <p:nvPr/>
        </p:nvSpPr>
        <p:spPr>
          <a:xfrm>
            <a:off x="7754422" y="5201960"/>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Streamlining project management workflows.</a:t>
            </a:r>
            <a:endParaRPr lang="en-US" sz="1750" dirty="0"/>
          </a:p>
        </p:txBody>
      </p:sp>
      <p:pic>
        <p:nvPicPr>
          <p:cNvPr id="13" name="Image 4" descr="preencoded.png"/>
          <p:cNvPicPr>
            <a:picLocks noChangeAspect="1"/>
          </p:cNvPicPr>
          <p:nvPr/>
        </p:nvPicPr>
        <p:blipFill>
          <a:blip r:embed="rId7"/>
          <a:stretch>
            <a:fillRect/>
          </a:stretch>
        </p:blipFill>
        <p:spPr>
          <a:xfrm>
            <a:off x="6280190" y="5845612"/>
            <a:ext cx="1134070" cy="1669852"/>
          </a:xfrm>
          <a:prstGeom prst="rect">
            <a:avLst/>
          </a:prstGeom>
        </p:spPr>
      </p:pic>
      <p:sp>
        <p:nvSpPr>
          <p:cNvPr id="14" name="Text 7"/>
          <p:cNvSpPr/>
          <p:nvPr/>
        </p:nvSpPr>
        <p:spPr>
          <a:xfrm>
            <a:off x="7754422" y="607242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Chatbots</a:t>
            </a:r>
            <a:endParaRPr lang="en-US" sz="2200" dirty="0"/>
          </a:p>
        </p:txBody>
      </p:sp>
      <p:sp>
        <p:nvSpPr>
          <p:cNvPr id="15" name="Text 8"/>
          <p:cNvSpPr/>
          <p:nvPr/>
        </p:nvSpPr>
        <p:spPr>
          <a:xfrm>
            <a:off x="7754422" y="6562844"/>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Building customer service chatbots with diverse expertise.</a:t>
            </a:r>
            <a:endParaRPr lang="en-US" sz="1750" dirty="0"/>
          </a:p>
        </p:txBody>
      </p:sp>
      <p:sp>
        <p:nvSpPr>
          <p:cNvPr id="16" name="Rectangle 15">
            <a:extLst>
              <a:ext uri="{FF2B5EF4-FFF2-40B4-BE49-F238E27FC236}">
                <a16:creationId xmlns:a16="http://schemas.microsoft.com/office/drawing/2014/main" id="{3C23CA9D-A4F7-4680-88F8-DE26E419EAEE}"/>
              </a:ext>
            </a:extLst>
          </p:cNvPr>
          <p:cNvSpPr/>
          <p:nvPr/>
        </p:nvSpPr>
        <p:spPr>
          <a:xfrm>
            <a:off x="12669520" y="7609840"/>
            <a:ext cx="1960880" cy="619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69501"/>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How AutoGen Studio Works</a:t>
            </a:r>
            <a:endParaRPr lang="en-US" sz="4450" dirty="0"/>
          </a:p>
        </p:txBody>
      </p:sp>
      <p:sp>
        <p:nvSpPr>
          <p:cNvPr id="4" name="Text 1"/>
          <p:cNvSpPr/>
          <p:nvPr/>
        </p:nvSpPr>
        <p:spPr>
          <a:xfrm>
            <a:off x="793790" y="2723553"/>
            <a:ext cx="1473994"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ea typeface="Inter Bold" pitchFamily="34" charset="-122"/>
                <a:cs typeface="Inter Bold" pitchFamily="34" charset="-120"/>
              </a:rPr>
              <a:t>User Input</a:t>
            </a:r>
            <a:endParaRPr lang="en-US" sz="2200" dirty="0"/>
          </a:p>
        </p:txBody>
      </p:sp>
      <p:sp>
        <p:nvSpPr>
          <p:cNvPr id="5" name="Text 2"/>
          <p:cNvSpPr/>
          <p:nvPr/>
        </p:nvSpPr>
        <p:spPr>
          <a:xfrm>
            <a:off x="793790" y="3569017"/>
            <a:ext cx="1473994"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Users define goals and initial prompts.</a:t>
            </a:r>
            <a:endParaRPr lang="en-US" sz="1750" dirty="0"/>
          </a:p>
        </p:txBody>
      </p:sp>
      <p:sp>
        <p:nvSpPr>
          <p:cNvPr id="6" name="Text 3"/>
          <p:cNvSpPr/>
          <p:nvPr/>
        </p:nvSpPr>
        <p:spPr>
          <a:xfrm>
            <a:off x="2828806" y="2536190"/>
            <a:ext cx="1473994" cy="708660"/>
          </a:xfrm>
          <a:prstGeom prst="rect">
            <a:avLst/>
          </a:prstGeom>
          <a:noFill/>
          <a:ln/>
        </p:spPr>
        <p:txBody>
          <a:bodyPr wrap="square" lIns="0" tIns="0" rIns="0" bIns="0" rtlCol="0" anchor="t"/>
          <a:lstStyle/>
          <a:p>
            <a:pPr marL="0" indent="0" algn="l">
              <a:lnSpc>
                <a:spcPts val="2750"/>
              </a:lnSpc>
              <a:buNone/>
            </a:pPr>
            <a:r>
              <a:rPr lang="en-US" sz="2200" b="1" dirty="0">
                <a:solidFill>
                  <a:srgbClr val="000000"/>
                </a:solidFill>
                <a:ea typeface="Inter Bold" pitchFamily="34" charset="-122"/>
                <a:cs typeface="Inter Bold" pitchFamily="34" charset="-120"/>
              </a:rPr>
              <a:t>Agent Design</a:t>
            </a:r>
            <a:endParaRPr lang="en-US" sz="2200" dirty="0"/>
          </a:p>
        </p:txBody>
      </p:sp>
      <p:sp>
        <p:nvSpPr>
          <p:cNvPr id="7" name="Text 4"/>
          <p:cNvSpPr/>
          <p:nvPr/>
        </p:nvSpPr>
        <p:spPr>
          <a:xfrm>
            <a:off x="2828806" y="3609378"/>
            <a:ext cx="1473994"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Configure custom roles and capabilities.</a:t>
            </a:r>
            <a:endParaRPr lang="en-US" sz="1750" dirty="0"/>
          </a:p>
        </p:txBody>
      </p:sp>
      <p:sp>
        <p:nvSpPr>
          <p:cNvPr id="8" name="Text 5"/>
          <p:cNvSpPr/>
          <p:nvPr/>
        </p:nvSpPr>
        <p:spPr>
          <a:xfrm>
            <a:off x="4863822" y="2546388"/>
            <a:ext cx="1473994" cy="1062990"/>
          </a:xfrm>
          <a:prstGeom prst="rect">
            <a:avLst/>
          </a:prstGeom>
          <a:noFill/>
          <a:ln/>
        </p:spPr>
        <p:txBody>
          <a:bodyPr wrap="square" lIns="0" tIns="0" rIns="0" bIns="0" rtlCol="0" anchor="t"/>
          <a:lstStyle/>
          <a:p>
            <a:pPr marL="0" indent="0" algn="l">
              <a:lnSpc>
                <a:spcPts val="2750"/>
              </a:lnSpc>
              <a:buNone/>
            </a:pPr>
            <a:r>
              <a:rPr lang="en-US" sz="2200" b="1" dirty="0">
                <a:solidFill>
                  <a:srgbClr val="000000"/>
                </a:solidFill>
                <a:ea typeface="Inter Bold" pitchFamily="34" charset="-122"/>
                <a:cs typeface="Inter Bold" pitchFamily="34" charset="-120"/>
              </a:rPr>
              <a:t>Tool Integration</a:t>
            </a:r>
            <a:endParaRPr lang="en-US" sz="2200" dirty="0"/>
          </a:p>
        </p:txBody>
      </p:sp>
      <p:sp>
        <p:nvSpPr>
          <p:cNvPr id="9" name="Text 6"/>
          <p:cNvSpPr/>
          <p:nvPr/>
        </p:nvSpPr>
        <p:spPr>
          <a:xfrm>
            <a:off x="4863822" y="3609378"/>
            <a:ext cx="1473994"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Connect agents to executors and web search.</a:t>
            </a:r>
            <a:endParaRPr lang="en-US" sz="1750" dirty="0"/>
          </a:p>
        </p:txBody>
      </p:sp>
      <p:sp>
        <p:nvSpPr>
          <p:cNvPr id="10" name="Text 7"/>
          <p:cNvSpPr/>
          <p:nvPr/>
        </p:nvSpPr>
        <p:spPr>
          <a:xfrm>
            <a:off x="6876217" y="2546388"/>
            <a:ext cx="1473994" cy="708660"/>
          </a:xfrm>
          <a:prstGeom prst="rect">
            <a:avLst/>
          </a:prstGeom>
          <a:noFill/>
          <a:ln/>
        </p:spPr>
        <p:txBody>
          <a:bodyPr wrap="square" lIns="0" tIns="0" rIns="0" bIns="0" rtlCol="0" anchor="t"/>
          <a:lstStyle/>
          <a:p>
            <a:pPr marL="0" indent="0" algn="l">
              <a:lnSpc>
                <a:spcPts val="2750"/>
              </a:lnSpc>
              <a:buNone/>
            </a:pPr>
            <a:r>
              <a:rPr lang="en-US" sz="2200" b="1" dirty="0">
                <a:solidFill>
                  <a:srgbClr val="000000"/>
                </a:solidFill>
                <a:ea typeface="Inter Bold" pitchFamily="34" charset="-122"/>
                <a:cs typeface="Inter Bold" pitchFamily="34" charset="-120"/>
              </a:rPr>
              <a:t>Conversation Engine</a:t>
            </a:r>
            <a:endParaRPr lang="en-US" sz="2200" dirty="0"/>
          </a:p>
        </p:txBody>
      </p:sp>
      <p:sp>
        <p:nvSpPr>
          <p:cNvPr id="11" name="Text 8"/>
          <p:cNvSpPr/>
          <p:nvPr/>
        </p:nvSpPr>
        <p:spPr>
          <a:xfrm>
            <a:off x="6898838" y="3609378"/>
            <a:ext cx="1473994"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Agents collaborate through dynamic chat.</a:t>
            </a:r>
            <a:endParaRPr lang="en-US" sz="1750" dirty="0"/>
          </a:p>
        </p:txBody>
      </p:sp>
      <p:sp>
        <p:nvSpPr>
          <p:cNvPr id="12" name="Text 9"/>
          <p:cNvSpPr/>
          <p:nvPr/>
        </p:nvSpPr>
        <p:spPr>
          <a:xfrm>
            <a:off x="793790" y="640258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ea typeface="Inter Bold" pitchFamily="34" charset="-122"/>
                <a:cs typeface="Inter Bold" pitchFamily="34" charset="-120"/>
              </a:rPr>
              <a:t>Final Output</a:t>
            </a:r>
            <a:endParaRPr lang="en-US" sz="2200" dirty="0"/>
          </a:p>
        </p:txBody>
      </p:sp>
      <p:sp>
        <p:nvSpPr>
          <p:cNvPr id="13" name="Text 10"/>
          <p:cNvSpPr/>
          <p:nvPr/>
        </p:nvSpPr>
        <p:spPr>
          <a:xfrm>
            <a:off x="793790" y="7097078"/>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Results are delivered, logged, or exported.</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3933349"/>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3" name="Rectangle 2">
            <a:extLst>
              <a:ext uri="{FF2B5EF4-FFF2-40B4-BE49-F238E27FC236}">
                <a16:creationId xmlns:a16="http://schemas.microsoft.com/office/drawing/2014/main" id="{E8533309-835C-48C8-8D12-D203BBC15F6C}"/>
              </a:ext>
            </a:extLst>
          </p:cNvPr>
          <p:cNvSpPr/>
          <p:nvPr/>
        </p:nvSpPr>
        <p:spPr>
          <a:xfrm>
            <a:off x="12496800" y="7426960"/>
            <a:ext cx="2133600" cy="802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EB229DC7-E781-4C54-99A2-ECAE71FD25D1}"/>
              </a:ext>
            </a:extLst>
          </p:cNvPr>
          <p:cNvPicPr>
            <a:picLocks noChangeAspect="1"/>
          </p:cNvPicPr>
          <p:nvPr/>
        </p:nvPicPr>
        <p:blipFill>
          <a:blip r:embed="rId3"/>
          <a:stretch>
            <a:fillRect/>
          </a:stretch>
        </p:blipFill>
        <p:spPr>
          <a:xfrm>
            <a:off x="1143000" y="0"/>
            <a:ext cx="12344400" cy="8229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76618" y="622340"/>
            <a:ext cx="5644515" cy="705564"/>
          </a:xfrm>
          <a:prstGeom prst="rect">
            <a:avLst/>
          </a:prstGeom>
          <a:noFill/>
          <a:ln/>
        </p:spPr>
        <p:txBody>
          <a:bodyPr wrap="none" lIns="0" tIns="0" rIns="0" bIns="0" rtlCol="0" anchor="t"/>
          <a:lstStyle/>
          <a:p>
            <a:pPr marL="0" indent="0" algn="l">
              <a:lnSpc>
                <a:spcPts val="5550"/>
              </a:lnSpc>
              <a:buNone/>
            </a:pPr>
            <a:r>
              <a:rPr lang="en-US" sz="4400" b="1" dirty="0">
                <a:solidFill>
                  <a:srgbClr val="000000"/>
                </a:solidFill>
                <a:ea typeface="Inter Bold" pitchFamily="34" charset="-122"/>
                <a:cs typeface="Inter Bold" pitchFamily="34" charset="-120"/>
              </a:rPr>
              <a:t>What is CrewAI?</a:t>
            </a:r>
            <a:endParaRPr lang="en-US" sz="4400" dirty="0"/>
          </a:p>
        </p:txBody>
      </p:sp>
      <p:sp>
        <p:nvSpPr>
          <p:cNvPr id="4" name="Shape 1"/>
          <p:cNvSpPr/>
          <p:nvPr/>
        </p:nvSpPr>
        <p:spPr>
          <a:xfrm>
            <a:off x="6276618" y="1666518"/>
            <a:ext cx="7563564" cy="1315879"/>
          </a:xfrm>
          <a:prstGeom prst="roundRect">
            <a:avLst>
              <a:gd name="adj" fmla="val 7206"/>
            </a:avLst>
          </a:prstGeom>
          <a:solidFill>
            <a:srgbClr val="DADBF1"/>
          </a:solidFill>
          <a:ln w="7620">
            <a:solidFill>
              <a:srgbClr val="C0C1D7"/>
            </a:solidFill>
            <a:prstDash val="solid"/>
          </a:ln>
        </p:spPr>
      </p:sp>
      <p:sp>
        <p:nvSpPr>
          <p:cNvPr id="5" name="Text 2"/>
          <p:cNvSpPr/>
          <p:nvPr/>
        </p:nvSpPr>
        <p:spPr>
          <a:xfrm>
            <a:off x="6509980" y="1899880"/>
            <a:ext cx="3514249" cy="35266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Orchestration Framework</a:t>
            </a:r>
            <a:endParaRPr lang="en-US" sz="2200" dirty="0"/>
          </a:p>
        </p:txBody>
      </p:sp>
      <p:sp>
        <p:nvSpPr>
          <p:cNvPr id="6" name="Text 3"/>
          <p:cNvSpPr/>
          <p:nvPr/>
        </p:nvSpPr>
        <p:spPr>
          <a:xfrm>
            <a:off x="6509980" y="2387918"/>
            <a:ext cx="7096839" cy="361117"/>
          </a:xfrm>
          <a:prstGeom prst="rect">
            <a:avLst/>
          </a:prstGeom>
          <a:noFill/>
          <a:ln/>
        </p:spPr>
        <p:txBody>
          <a:bodyPr wrap="none" lIns="0" tIns="0" rIns="0" bIns="0" rtlCol="0" anchor="t"/>
          <a:lstStyle/>
          <a:p>
            <a:pPr marL="0" indent="0" algn="l">
              <a:lnSpc>
                <a:spcPts val="2800"/>
              </a:lnSpc>
              <a:buNone/>
            </a:pPr>
            <a:r>
              <a:rPr lang="en-US" sz="1750" dirty="0">
                <a:solidFill>
                  <a:srgbClr val="272525"/>
                </a:solidFill>
                <a:ea typeface="Inter" pitchFamily="34" charset="-122"/>
                <a:cs typeface="Inter" pitchFamily="34" charset="-120"/>
              </a:rPr>
              <a:t>Open-source framework for orchestrating agent crews.</a:t>
            </a:r>
            <a:endParaRPr lang="en-US" sz="1750" dirty="0"/>
          </a:p>
        </p:txBody>
      </p:sp>
      <p:sp>
        <p:nvSpPr>
          <p:cNvPr id="7" name="Shape 4"/>
          <p:cNvSpPr/>
          <p:nvPr/>
        </p:nvSpPr>
        <p:spPr>
          <a:xfrm>
            <a:off x="6276618" y="3208139"/>
            <a:ext cx="7563564" cy="1315879"/>
          </a:xfrm>
          <a:prstGeom prst="roundRect">
            <a:avLst>
              <a:gd name="adj" fmla="val 7206"/>
            </a:avLst>
          </a:prstGeom>
          <a:solidFill>
            <a:srgbClr val="DADBF1"/>
          </a:solidFill>
          <a:ln w="7620">
            <a:solidFill>
              <a:srgbClr val="C0C1D7"/>
            </a:solidFill>
            <a:prstDash val="solid"/>
          </a:ln>
        </p:spPr>
      </p:sp>
      <p:sp>
        <p:nvSpPr>
          <p:cNvPr id="8" name="Text 5"/>
          <p:cNvSpPr/>
          <p:nvPr/>
        </p:nvSpPr>
        <p:spPr>
          <a:xfrm>
            <a:off x="6509980" y="3441502"/>
            <a:ext cx="4214098" cy="35266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Collaborative Problem-Solving</a:t>
            </a:r>
            <a:endParaRPr lang="en-US" sz="2200" dirty="0"/>
          </a:p>
        </p:txBody>
      </p:sp>
      <p:sp>
        <p:nvSpPr>
          <p:cNvPr id="9" name="Text 6"/>
          <p:cNvSpPr/>
          <p:nvPr/>
        </p:nvSpPr>
        <p:spPr>
          <a:xfrm>
            <a:off x="6509980" y="3929539"/>
            <a:ext cx="7096839" cy="361117"/>
          </a:xfrm>
          <a:prstGeom prst="rect">
            <a:avLst/>
          </a:prstGeom>
          <a:noFill/>
          <a:ln/>
        </p:spPr>
        <p:txBody>
          <a:bodyPr wrap="none" lIns="0" tIns="0" rIns="0" bIns="0" rtlCol="0" anchor="t"/>
          <a:lstStyle/>
          <a:p>
            <a:pPr marL="0" indent="0" algn="l">
              <a:lnSpc>
                <a:spcPts val="2800"/>
              </a:lnSpc>
              <a:buNone/>
            </a:pPr>
            <a:r>
              <a:rPr lang="en-US" sz="1750" dirty="0">
                <a:solidFill>
                  <a:srgbClr val="272525"/>
                </a:solidFill>
                <a:ea typeface="Inter" pitchFamily="34" charset="-122"/>
                <a:cs typeface="Inter" pitchFamily="34" charset="-120"/>
              </a:rPr>
              <a:t>Focuses on collaborative problem-solving with specialized roles.</a:t>
            </a:r>
            <a:endParaRPr lang="en-US" sz="1750" dirty="0"/>
          </a:p>
        </p:txBody>
      </p:sp>
      <p:sp>
        <p:nvSpPr>
          <p:cNvPr id="10" name="Shape 7"/>
          <p:cNvSpPr/>
          <p:nvPr/>
        </p:nvSpPr>
        <p:spPr>
          <a:xfrm>
            <a:off x="6276618" y="4749760"/>
            <a:ext cx="7563564" cy="1315879"/>
          </a:xfrm>
          <a:prstGeom prst="roundRect">
            <a:avLst>
              <a:gd name="adj" fmla="val 7206"/>
            </a:avLst>
          </a:prstGeom>
          <a:solidFill>
            <a:srgbClr val="DADBF1"/>
          </a:solidFill>
          <a:ln w="7620">
            <a:solidFill>
              <a:srgbClr val="C0C1D7"/>
            </a:solidFill>
            <a:prstDash val="solid"/>
          </a:ln>
        </p:spPr>
      </p:sp>
      <p:sp>
        <p:nvSpPr>
          <p:cNvPr id="11" name="Text 8"/>
          <p:cNvSpPr/>
          <p:nvPr/>
        </p:nvSpPr>
        <p:spPr>
          <a:xfrm>
            <a:off x="6509980" y="4983123"/>
            <a:ext cx="2822258" cy="35266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Task Management</a:t>
            </a:r>
            <a:endParaRPr lang="en-US" sz="2200" dirty="0"/>
          </a:p>
        </p:txBody>
      </p:sp>
      <p:sp>
        <p:nvSpPr>
          <p:cNvPr id="12" name="Text 9"/>
          <p:cNvSpPr/>
          <p:nvPr/>
        </p:nvSpPr>
        <p:spPr>
          <a:xfrm>
            <a:off x="6509980" y="5471160"/>
            <a:ext cx="7096839" cy="361117"/>
          </a:xfrm>
          <a:prstGeom prst="rect">
            <a:avLst/>
          </a:prstGeom>
          <a:noFill/>
          <a:ln/>
        </p:spPr>
        <p:txBody>
          <a:bodyPr wrap="none" lIns="0" tIns="0" rIns="0" bIns="0" rtlCol="0" anchor="t"/>
          <a:lstStyle/>
          <a:p>
            <a:pPr marL="0" indent="0" algn="l">
              <a:lnSpc>
                <a:spcPts val="2800"/>
              </a:lnSpc>
              <a:buNone/>
            </a:pPr>
            <a:r>
              <a:rPr lang="en-US" sz="1750" dirty="0">
                <a:solidFill>
                  <a:srgbClr val="272525"/>
                </a:solidFill>
                <a:ea typeface="Inter" pitchFamily="34" charset="-122"/>
                <a:cs typeface="Inter" pitchFamily="34" charset="-120"/>
              </a:rPr>
              <a:t>Offers tools for defining tasks and managing execution.</a:t>
            </a:r>
            <a:endParaRPr lang="en-US" sz="1750" dirty="0"/>
          </a:p>
        </p:txBody>
      </p:sp>
      <p:sp>
        <p:nvSpPr>
          <p:cNvPr id="13" name="Shape 10"/>
          <p:cNvSpPr/>
          <p:nvPr/>
        </p:nvSpPr>
        <p:spPr>
          <a:xfrm>
            <a:off x="6276618" y="6291382"/>
            <a:ext cx="7563564" cy="1315879"/>
          </a:xfrm>
          <a:prstGeom prst="roundRect">
            <a:avLst>
              <a:gd name="adj" fmla="val 7206"/>
            </a:avLst>
          </a:prstGeom>
          <a:solidFill>
            <a:srgbClr val="DADBF1"/>
          </a:solidFill>
          <a:ln w="7620">
            <a:solidFill>
              <a:srgbClr val="C0C1D7"/>
            </a:solidFill>
            <a:prstDash val="solid"/>
          </a:ln>
        </p:spPr>
      </p:sp>
      <p:sp>
        <p:nvSpPr>
          <p:cNvPr id="14" name="Text 11"/>
          <p:cNvSpPr/>
          <p:nvPr/>
        </p:nvSpPr>
        <p:spPr>
          <a:xfrm>
            <a:off x="6509980" y="6524744"/>
            <a:ext cx="3023949" cy="35266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Complex Applications</a:t>
            </a:r>
            <a:endParaRPr lang="en-US" sz="2200" dirty="0"/>
          </a:p>
        </p:txBody>
      </p:sp>
      <p:sp>
        <p:nvSpPr>
          <p:cNvPr id="15" name="Text 12"/>
          <p:cNvSpPr/>
          <p:nvPr/>
        </p:nvSpPr>
        <p:spPr>
          <a:xfrm>
            <a:off x="6509980" y="7012781"/>
            <a:ext cx="7096839" cy="361117"/>
          </a:xfrm>
          <a:prstGeom prst="rect">
            <a:avLst/>
          </a:prstGeom>
          <a:noFill/>
          <a:ln/>
        </p:spPr>
        <p:txBody>
          <a:bodyPr wrap="none" lIns="0" tIns="0" rIns="0" bIns="0" rtlCol="0" anchor="t"/>
          <a:lstStyle/>
          <a:p>
            <a:pPr marL="0" indent="0" algn="l">
              <a:lnSpc>
                <a:spcPts val="2800"/>
              </a:lnSpc>
              <a:buNone/>
            </a:pPr>
            <a:r>
              <a:rPr lang="en-US" sz="1750" dirty="0">
                <a:solidFill>
                  <a:srgbClr val="272525"/>
                </a:solidFill>
                <a:ea typeface="Inter" pitchFamily="34" charset="-122"/>
                <a:cs typeface="Inter" pitchFamily="34" charset="-120"/>
              </a:rPr>
              <a:t>Designed for complex AI-driven applications.</a:t>
            </a:r>
            <a:endParaRPr lang="en-US" sz="1750" dirty="0"/>
          </a:p>
        </p:txBody>
      </p:sp>
      <p:sp>
        <p:nvSpPr>
          <p:cNvPr id="16" name="Rectangle 15">
            <a:extLst>
              <a:ext uri="{FF2B5EF4-FFF2-40B4-BE49-F238E27FC236}">
                <a16:creationId xmlns:a16="http://schemas.microsoft.com/office/drawing/2014/main" id="{A4B37803-7737-412F-A9E4-9F8B98786A73}"/>
              </a:ext>
            </a:extLst>
          </p:cNvPr>
          <p:cNvSpPr/>
          <p:nvPr/>
        </p:nvSpPr>
        <p:spPr>
          <a:xfrm>
            <a:off x="12740640" y="7721600"/>
            <a:ext cx="1889760" cy="50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34628"/>
            <a:ext cx="573702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CrewAI Key Features</a:t>
            </a:r>
            <a:endParaRPr lang="en-US" sz="4450" dirty="0"/>
          </a:p>
        </p:txBody>
      </p:sp>
      <p:pic>
        <p:nvPicPr>
          <p:cNvPr id="3" name="Image 0" descr="preencoded.png"/>
          <p:cNvPicPr>
            <a:picLocks noChangeAspect="1"/>
          </p:cNvPicPr>
          <p:nvPr/>
        </p:nvPicPr>
        <p:blipFill>
          <a:blip r:embed="rId3"/>
          <a:stretch>
            <a:fillRect/>
          </a:stretch>
        </p:blipFill>
        <p:spPr>
          <a:xfrm>
            <a:off x="3247430" y="1997035"/>
            <a:ext cx="1614011" cy="1306949"/>
          </a:xfrm>
          <a:prstGeom prst="rect">
            <a:avLst/>
          </a:prstGeom>
        </p:spPr>
      </p:pic>
      <p:pic>
        <p:nvPicPr>
          <p:cNvPr id="4" name="Image 1" descr="preencoded.png"/>
          <p:cNvPicPr>
            <a:picLocks noChangeAspect="1"/>
          </p:cNvPicPr>
          <p:nvPr/>
        </p:nvPicPr>
        <p:blipFill>
          <a:blip r:embed="rId4"/>
          <a:stretch>
            <a:fillRect/>
          </a:stretch>
        </p:blipFill>
        <p:spPr>
          <a:xfrm>
            <a:off x="3894892" y="2613065"/>
            <a:ext cx="318968" cy="398621"/>
          </a:xfrm>
          <a:prstGeom prst="rect">
            <a:avLst/>
          </a:prstGeom>
        </p:spPr>
      </p:pic>
      <p:sp>
        <p:nvSpPr>
          <p:cNvPr id="5" name="Text 1"/>
          <p:cNvSpPr/>
          <p:nvPr/>
        </p:nvSpPr>
        <p:spPr>
          <a:xfrm>
            <a:off x="5088255" y="222384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Tools and Expertise</a:t>
            </a:r>
            <a:endParaRPr lang="en-US" sz="2200" dirty="0"/>
          </a:p>
        </p:txBody>
      </p:sp>
      <p:sp>
        <p:nvSpPr>
          <p:cNvPr id="6" name="Text 2"/>
          <p:cNvSpPr/>
          <p:nvPr/>
        </p:nvSpPr>
        <p:spPr>
          <a:xfrm>
            <a:off x="5088255" y="2714268"/>
            <a:ext cx="595300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Role-based agent definition: tools, tasks, and expertise.</a:t>
            </a:r>
            <a:endParaRPr lang="en-US" sz="1750" dirty="0"/>
          </a:p>
        </p:txBody>
      </p:sp>
      <p:sp>
        <p:nvSpPr>
          <p:cNvPr id="7" name="Shape 3"/>
          <p:cNvSpPr/>
          <p:nvPr/>
        </p:nvSpPr>
        <p:spPr>
          <a:xfrm>
            <a:off x="4918115" y="3317081"/>
            <a:ext cx="8861822" cy="15240"/>
          </a:xfrm>
          <a:prstGeom prst="roundRect">
            <a:avLst>
              <a:gd name="adj" fmla="val 625116"/>
            </a:avLst>
          </a:prstGeom>
          <a:solidFill>
            <a:srgbClr val="C0C1D7"/>
          </a:solidFill>
          <a:ln/>
        </p:spPr>
      </p:sp>
      <p:pic>
        <p:nvPicPr>
          <p:cNvPr id="8" name="Image 2" descr="preencoded.png"/>
          <p:cNvPicPr>
            <a:picLocks noChangeAspect="1"/>
          </p:cNvPicPr>
          <p:nvPr/>
        </p:nvPicPr>
        <p:blipFill>
          <a:blip r:embed="rId5"/>
          <a:stretch>
            <a:fillRect/>
          </a:stretch>
        </p:blipFill>
        <p:spPr>
          <a:xfrm>
            <a:off x="2440424" y="3360658"/>
            <a:ext cx="3228022" cy="1306949"/>
          </a:xfrm>
          <a:prstGeom prst="rect">
            <a:avLst/>
          </a:prstGeom>
        </p:spPr>
      </p:pic>
      <p:pic>
        <p:nvPicPr>
          <p:cNvPr id="9" name="Image 3" descr="preencoded.png"/>
          <p:cNvPicPr>
            <a:picLocks noChangeAspect="1"/>
          </p:cNvPicPr>
          <p:nvPr/>
        </p:nvPicPr>
        <p:blipFill>
          <a:blip r:embed="rId6"/>
          <a:stretch>
            <a:fillRect/>
          </a:stretch>
        </p:blipFill>
        <p:spPr>
          <a:xfrm>
            <a:off x="3894892" y="3814762"/>
            <a:ext cx="318968" cy="398621"/>
          </a:xfrm>
          <a:prstGeom prst="rect">
            <a:avLst/>
          </a:prstGeom>
        </p:spPr>
      </p:pic>
      <p:sp>
        <p:nvSpPr>
          <p:cNvPr id="10" name="Text 4"/>
          <p:cNvSpPr/>
          <p:nvPr/>
        </p:nvSpPr>
        <p:spPr>
          <a:xfrm>
            <a:off x="5895261" y="358747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Task Delegation</a:t>
            </a:r>
            <a:endParaRPr lang="en-US" sz="2200" dirty="0"/>
          </a:p>
        </p:txBody>
      </p:sp>
      <p:sp>
        <p:nvSpPr>
          <p:cNvPr id="11" name="Text 5"/>
          <p:cNvSpPr/>
          <p:nvPr/>
        </p:nvSpPr>
        <p:spPr>
          <a:xfrm>
            <a:off x="5895261" y="4077891"/>
            <a:ext cx="450199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Efficient task delegation and coordination.</a:t>
            </a:r>
            <a:endParaRPr lang="en-US" sz="1750" dirty="0"/>
          </a:p>
        </p:txBody>
      </p:sp>
      <p:sp>
        <p:nvSpPr>
          <p:cNvPr id="12" name="Shape 6"/>
          <p:cNvSpPr/>
          <p:nvPr/>
        </p:nvSpPr>
        <p:spPr>
          <a:xfrm>
            <a:off x="5725120" y="4680704"/>
            <a:ext cx="8054816" cy="15240"/>
          </a:xfrm>
          <a:prstGeom prst="roundRect">
            <a:avLst>
              <a:gd name="adj" fmla="val 625116"/>
            </a:avLst>
          </a:prstGeom>
          <a:solidFill>
            <a:srgbClr val="C0C1D7"/>
          </a:solidFill>
          <a:ln/>
        </p:spPr>
      </p:sp>
      <p:pic>
        <p:nvPicPr>
          <p:cNvPr id="13" name="Image 4" descr="preencoded.png"/>
          <p:cNvPicPr>
            <a:picLocks noChangeAspect="1"/>
          </p:cNvPicPr>
          <p:nvPr/>
        </p:nvPicPr>
        <p:blipFill>
          <a:blip r:embed="rId7"/>
          <a:stretch>
            <a:fillRect/>
          </a:stretch>
        </p:blipFill>
        <p:spPr>
          <a:xfrm>
            <a:off x="1633418" y="4724281"/>
            <a:ext cx="4842034" cy="1306949"/>
          </a:xfrm>
          <a:prstGeom prst="rect">
            <a:avLst/>
          </a:prstGeom>
        </p:spPr>
      </p:pic>
      <p:pic>
        <p:nvPicPr>
          <p:cNvPr id="14" name="Image 5" descr="preencoded.png"/>
          <p:cNvPicPr>
            <a:picLocks noChangeAspect="1"/>
          </p:cNvPicPr>
          <p:nvPr/>
        </p:nvPicPr>
        <p:blipFill>
          <a:blip r:embed="rId8"/>
          <a:stretch>
            <a:fillRect/>
          </a:stretch>
        </p:blipFill>
        <p:spPr>
          <a:xfrm>
            <a:off x="3894892" y="5178385"/>
            <a:ext cx="318968" cy="398621"/>
          </a:xfrm>
          <a:prstGeom prst="rect">
            <a:avLst/>
          </a:prstGeom>
        </p:spPr>
      </p:pic>
      <p:sp>
        <p:nvSpPr>
          <p:cNvPr id="15" name="Text 7"/>
          <p:cNvSpPr/>
          <p:nvPr/>
        </p:nvSpPr>
        <p:spPr>
          <a:xfrm>
            <a:off x="6702266" y="495109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Execution Flexibility</a:t>
            </a:r>
            <a:endParaRPr lang="en-US" sz="2200" dirty="0"/>
          </a:p>
        </p:txBody>
      </p:sp>
      <p:sp>
        <p:nvSpPr>
          <p:cNvPr id="16" name="Text 8"/>
          <p:cNvSpPr/>
          <p:nvPr/>
        </p:nvSpPr>
        <p:spPr>
          <a:xfrm>
            <a:off x="6702266" y="5441513"/>
            <a:ext cx="55204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Supports concurrent and sequential task execution.</a:t>
            </a:r>
            <a:endParaRPr lang="en-US" sz="1750" dirty="0"/>
          </a:p>
        </p:txBody>
      </p:sp>
      <p:sp>
        <p:nvSpPr>
          <p:cNvPr id="17" name="Shape 9"/>
          <p:cNvSpPr/>
          <p:nvPr/>
        </p:nvSpPr>
        <p:spPr>
          <a:xfrm>
            <a:off x="6532126" y="6044327"/>
            <a:ext cx="7247811" cy="15240"/>
          </a:xfrm>
          <a:prstGeom prst="roundRect">
            <a:avLst>
              <a:gd name="adj" fmla="val 625116"/>
            </a:avLst>
          </a:prstGeom>
          <a:solidFill>
            <a:srgbClr val="C0C1D7"/>
          </a:solidFill>
          <a:ln/>
        </p:spPr>
      </p:sp>
      <p:pic>
        <p:nvPicPr>
          <p:cNvPr id="18" name="Image 6" descr="preencoded.png"/>
          <p:cNvPicPr>
            <a:picLocks noChangeAspect="1"/>
          </p:cNvPicPr>
          <p:nvPr/>
        </p:nvPicPr>
        <p:blipFill>
          <a:blip r:embed="rId9"/>
          <a:stretch>
            <a:fillRect/>
          </a:stretch>
        </p:blipFill>
        <p:spPr>
          <a:xfrm>
            <a:off x="826294" y="6087904"/>
            <a:ext cx="6456164" cy="1306949"/>
          </a:xfrm>
          <a:prstGeom prst="rect">
            <a:avLst/>
          </a:prstGeom>
        </p:spPr>
      </p:pic>
      <p:pic>
        <p:nvPicPr>
          <p:cNvPr id="19" name="Image 7" descr="preencoded.png"/>
          <p:cNvPicPr>
            <a:picLocks noChangeAspect="1"/>
          </p:cNvPicPr>
          <p:nvPr/>
        </p:nvPicPr>
        <p:blipFill>
          <a:blip r:embed="rId10"/>
          <a:stretch>
            <a:fillRect/>
          </a:stretch>
        </p:blipFill>
        <p:spPr>
          <a:xfrm>
            <a:off x="3894773" y="6542008"/>
            <a:ext cx="318968" cy="398621"/>
          </a:xfrm>
          <a:prstGeom prst="rect">
            <a:avLst/>
          </a:prstGeom>
        </p:spPr>
      </p:pic>
      <p:sp>
        <p:nvSpPr>
          <p:cNvPr id="20" name="Text 10"/>
          <p:cNvSpPr/>
          <p:nvPr/>
        </p:nvSpPr>
        <p:spPr>
          <a:xfrm>
            <a:off x="7509272" y="6314718"/>
            <a:ext cx="2958703"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Knowledge Retention</a:t>
            </a:r>
            <a:endParaRPr lang="en-US" sz="2200" dirty="0"/>
          </a:p>
        </p:txBody>
      </p:sp>
      <p:sp>
        <p:nvSpPr>
          <p:cNvPr id="21" name="Text 11"/>
          <p:cNvSpPr/>
          <p:nvPr/>
        </p:nvSpPr>
        <p:spPr>
          <a:xfrm>
            <a:off x="7509272" y="6805136"/>
            <a:ext cx="606349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Context sharing and knowledge retention among agents.</a:t>
            </a:r>
            <a:endParaRPr lang="en-US" sz="1750" dirty="0"/>
          </a:p>
        </p:txBody>
      </p:sp>
      <p:sp>
        <p:nvSpPr>
          <p:cNvPr id="22" name="Rectangle 21">
            <a:extLst>
              <a:ext uri="{FF2B5EF4-FFF2-40B4-BE49-F238E27FC236}">
                <a16:creationId xmlns:a16="http://schemas.microsoft.com/office/drawing/2014/main" id="{73CA5C4E-81F0-41E4-9CAE-59A45CB7F7AD}"/>
              </a:ext>
            </a:extLst>
          </p:cNvPr>
          <p:cNvSpPr/>
          <p:nvPr/>
        </p:nvSpPr>
        <p:spPr>
          <a:xfrm>
            <a:off x="12446000" y="7620000"/>
            <a:ext cx="21844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2585323"/>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CrewAI Architecture</a:t>
            </a:r>
            <a:endParaRPr lang="en-US" sz="4450" dirty="0"/>
          </a:p>
        </p:txBody>
      </p:sp>
      <p:pic>
        <p:nvPicPr>
          <p:cNvPr id="5" name="Image 1" descr="preencoded.png"/>
          <p:cNvPicPr>
            <a:picLocks noChangeAspect="1"/>
          </p:cNvPicPr>
          <p:nvPr/>
        </p:nvPicPr>
        <p:blipFill>
          <a:blip r:embed="rId4"/>
          <a:stretch>
            <a:fillRect/>
          </a:stretch>
        </p:blipFill>
        <p:spPr>
          <a:xfrm>
            <a:off x="793790" y="3634264"/>
            <a:ext cx="566976" cy="566976"/>
          </a:xfrm>
          <a:prstGeom prst="rect">
            <a:avLst/>
          </a:prstGeom>
        </p:spPr>
      </p:pic>
      <p:sp>
        <p:nvSpPr>
          <p:cNvPr id="6" name="Text 2"/>
          <p:cNvSpPr/>
          <p:nvPr/>
        </p:nvSpPr>
        <p:spPr>
          <a:xfrm>
            <a:off x="793790" y="442805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Crew</a:t>
            </a:r>
            <a:endParaRPr lang="en-US" sz="2200" dirty="0"/>
          </a:p>
        </p:txBody>
      </p:sp>
      <p:sp>
        <p:nvSpPr>
          <p:cNvPr id="7" name="Text 3"/>
          <p:cNvSpPr/>
          <p:nvPr/>
        </p:nvSpPr>
        <p:spPr>
          <a:xfrm>
            <a:off x="793790" y="4918472"/>
            <a:ext cx="304800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 team of agents working towards a common goal.</a:t>
            </a:r>
            <a:endParaRPr lang="en-US" sz="1750" dirty="0"/>
          </a:p>
        </p:txBody>
      </p:sp>
      <p:pic>
        <p:nvPicPr>
          <p:cNvPr id="8" name="Image 2" descr="preencoded.png"/>
          <p:cNvPicPr>
            <a:picLocks noChangeAspect="1"/>
          </p:cNvPicPr>
          <p:nvPr/>
        </p:nvPicPr>
        <p:blipFill>
          <a:blip r:embed="rId5"/>
          <a:stretch>
            <a:fillRect/>
          </a:stretch>
        </p:blipFill>
        <p:spPr>
          <a:xfrm>
            <a:off x="4125278" y="3634264"/>
            <a:ext cx="566976" cy="566976"/>
          </a:xfrm>
          <a:prstGeom prst="rect">
            <a:avLst/>
          </a:prstGeom>
        </p:spPr>
      </p:pic>
      <p:sp>
        <p:nvSpPr>
          <p:cNvPr id="9" name="Text 4"/>
          <p:cNvSpPr/>
          <p:nvPr/>
        </p:nvSpPr>
        <p:spPr>
          <a:xfrm>
            <a:off x="4125278" y="442805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Agent</a:t>
            </a:r>
            <a:endParaRPr lang="en-US" sz="2200" dirty="0"/>
          </a:p>
        </p:txBody>
      </p:sp>
      <p:sp>
        <p:nvSpPr>
          <p:cNvPr id="10" name="Text 5"/>
          <p:cNvSpPr/>
          <p:nvPr/>
        </p:nvSpPr>
        <p:spPr>
          <a:xfrm>
            <a:off x="4125278" y="4918472"/>
            <a:ext cx="304811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An individual with specific skills and tools.</a:t>
            </a:r>
            <a:endParaRPr lang="en-US" sz="1750" dirty="0"/>
          </a:p>
        </p:txBody>
      </p:sp>
      <p:pic>
        <p:nvPicPr>
          <p:cNvPr id="11" name="Image 3" descr="preencoded.png"/>
          <p:cNvPicPr>
            <a:picLocks noChangeAspect="1"/>
          </p:cNvPicPr>
          <p:nvPr/>
        </p:nvPicPr>
        <p:blipFill>
          <a:blip r:embed="rId6"/>
          <a:stretch>
            <a:fillRect/>
          </a:stretch>
        </p:blipFill>
        <p:spPr>
          <a:xfrm>
            <a:off x="7456884" y="3634264"/>
            <a:ext cx="566976" cy="566976"/>
          </a:xfrm>
          <a:prstGeom prst="rect">
            <a:avLst/>
          </a:prstGeom>
        </p:spPr>
      </p:pic>
      <p:sp>
        <p:nvSpPr>
          <p:cNvPr id="12" name="Text 6"/>
          <p:cNvSpPr/>
          <p:nvPr/>
        </p:nvSpPr>
        <p:spPr>
          <a:xfrm>
            <a:off x="7456884" y="442805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Task</a:t>
            </a:r>
            <a:endParaRPr lang="en-US" sz="2200" dirty="0"/>
          </a:p>
        </p:txBody>
      </p:sp>
      <p:sp>
        <p:nvSpPr>
          <p:cNvPr id="13" name="Text 7"/>
          <p:cNvSpPr/>
          <p:nvPr/>
        </p:nvSpPr>
        <p:spPr>
          <a:xfrm>
            <a:off x="7456884" y="4918472"/>
            <a:ext cx="304811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 specific objective assigned to an agent.</a:t>
            </a:r>
            <a:endParaRPr lang="en-US" sz="1750" dirty="0"/>
          </a:p>
        </p:txBody>
      </p:sp>
      <p:pic>
        <p:nvPicPr>
          <p:cNvPr id="14" name="Image 4" descr="preencoded.png"/>
          <p:cNvPicPr>
            <a:picLocks noChangeAspect="1"/>
          </p:cNvPicPr>
          <p:nvPr/>
        </p:nvPicPr>
        <p:blipFill>
          <a:blip r:embed="rId7"/>
          <a:stretch>
            <a:fillRect/>
          </a:stretch>
        </p:blipFill>
        <p:spPr>
          <a:xfrm>
            <a:off x="10788491" y="3634264"/>
            <a:ext cx="566976" cy="566976"/>
          </a:xfrm>
          <a:prstGeom prst="rect">
            <a:avLst/>
          </a:prstGeom>
        </p:spPr>
      </p:pic>
      <p:sp>
        <p:nvSpPr>
          <p:cNvPr id="15" name="Text 8"/>
          <p:cNvSpPr/>
          <p:nvPr/>
        </p:nvSpPr>
        <p:spPr>
          <a:xfrm>
            <a:off x="10788491" y="442805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Tools</a:t>
            </a:r>
            <a:endParaRPr lang="en-US" sz="2200" dirty="0"/>
          </a:p>
        </p:txBody>
      </p:sp>
      <p:sp>
        <p:nvSpPr>
          <p:cNvPr id="16" name="Text 9"/>
          <p:cNvSpPr/>
          <p:nvPr/>
        </p:nvSpPr>
        <p:spPr>
          <a:xfrm>
            <a:off x="10788491" y="4918472"/>
            <a:ext cx="304811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External resources available to agents.</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93063"/>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How CrewAI Orchestrates Multi-Agent Tasks</a:t>
            </a:r>
            <a:endParaRPr lang="en-US" sz="4450" dirty="0"/>
          </a:p>
        </p:txBody>
      </p:sp>
      <p:sp>
        <p:nvSpPr>
          <p:cNvPr id="4" name="Shape 1"/>
          <p:cNvSpPr/>
          <p:nvPr/>
        </p:nvSpPr>
        <p:spPr>
          <a:xfrm>
            <a:off x="793790" y="2450783"/>
            <a:ext cx="510302" cy="510302"/>
          </a:xfrm>
          <a:prstGeom prst="roundRect">
            <a:avLst>
              <a:gd name="adj" fmla="val 18669"/>
            </a:avLst>
          </a:prstGeom>
          <a:solidFill>
            <a:srgbClr val="DADBF1"/>
          </a:solidFill>
          <a:ln w="7620">
            <a:solidFill>
              <a:srgbClr val="C0C1D7"/>
            </a:solidFill>
            <a:prstDash val="solid"/>
          </a:ln>
        </p:spPr>
      </p:sp>
      <p:pic>
        <p:nvPicPr>
          <p:cNvPr id="5" name="Image 1" descr="preencoded.png"/>
          <p:cNvPicPr>
            <a:picLocks noChangeAspect="1"/>
          </p:cNvPicPr>
          <p:nvPr/>
        </p:nvPicPr>
        <p:blipFill>
          <a:blip r:embed="rId4"/>
          <a:stretch>
            <a:fillRect/>
          </a:stretch>
        </p:blipFill>
        <p:spPr>
          <a:xfrm>
            <a:off x="878860" y="2493288"/>
            <a:ext cx="340162" cy="425291"/>
          </a:xfrm>
          <a:prstGeom prst="rect">
            <a:avLst/>
          </a:prstGeom>
        </p:spPr>
      </p:pic>
      <p:sp>
        <p:nvSpPr>
          <p:cNvPr id="6" name="Text 2"/>
          <p:cNvSpPr/>
          <p:nvPr/>
        </p:nvSpPr>
        <p:spPr>
          <a:xfrm>
            <a:off x="1530906" y="252864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Define Agents</a:t>
            </a:r>
            <a:endParaRPr lang="en-US" sz="2200" dirty="0"/>
          </a:p>
        </p:txBody>
      </p:sp>
      <p:sp>
        <p:nvSpPr>
          <p:cNvPr id="7" name="Text 3"/>
          <p:cNvSpPr/>
          <p:nvPr/>
        </p:nvSpPr>
        <p:spPr>
          <a:xfrm>
            <a:off x="1530906" y="3019068"/>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Assign specialized roles and skills to each agent.</a:t>
            </a:r>
            <a:endParaRPr lang="en-US" sz="1750" dirty="0"/>
          </a:p>
        </p:txBody>
      </p:sp>
      <p:sp>
        <p:nvSpPr>
          <p:cNvPr id="8" name="Shape 4"/>
          <p:cNvSpPr/>
          <p:nvPr/>
        </p:nvSpPr>
        <p:spPr>
          <a:xfrm>
            <a:off x="793790" y="3835598"/>
            <a:ext cx="510302" cy="510302"/>
          </a:xfrm>
          <a:prstGeom prst="roundRect">
            <a:avLst>
              <a:gd name="adj" fmla="val 18669"/>
            </a:avLst>
          </a:prstGeom>
          <a:solidFill>
            <a:srgbClr val="DADBF1"/>
          </a:solidFill>
          <a:ln w="7620">
            <a:solidFill>
              <a:srgbClr val="C0C1D7"/>
            </a:solidFill>
            <a:prstDash val="solid"/>
          </a:ln>
        </p:spPr>
      </p:sp>
      <p:pic>
        <p:nvPicPr>
          <p:cNvPr id="9" name="Image 2" descr="preencoded.png"/>
          <p:cNvPicPr>
            <a:picLocks noChangeAspect="1"/>
          </p:cNvPicPr>
          <p:nvPr/>
        </p:nvPicPr>
        <p:blipFill>
          <a:blip r:embed="rId5"/>
          <a:stretch>
            <a:fillRect/>
          </a:stretch>
        </p:blipFill>
        <p:spPr>
          <a:xfrm>
            <a:off x="878860" y="3878104"/>
            <a:ext cx="340162" cy="425291"/>
          </a:xfrm>
          <a:prstGeom prst="rect">
            <a:avLst/>
          </a:prstGeom>
        </p:spPr>
      </p:pic>
      <p:sp>
        <p:nvSpPr>
          <p:cNvPr id="10" name="Text 5"/>
          <p:cNvSpPr/>
          <p:nvPr/>
        </p:nvSpPr>
        <p:spPr>
          <a:xfrm>
            <a:off x="1530906" y="391346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Assign Tasks</a:t>
            </a:r>
            <a:endParaRPr lang="en-US" sz="2200" dirty="0"/>
          </a:p>
        </p:txBody>
      </p:sp>
      <p:sp>
        <p:nvSpPr>
          <p:cNvPr id="11" name="Text 6"/>
          <p:cNvSpPr/>
          <p:nvPr/>
        </p:nvSpPr>
        <p:spPr>
          <a:xfrm>
            <a:off x="1530906" y="4403884"/>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Set clear, specific objectives for each agent's contribution.</a:t>
            </a:r>
            <a:endParaRPr lang="en-US" sz="1750" dirty="0"/>
          </a:p>
        </p:txBody>
      </p:sp>
      <p:sp>
        <p:nvSpPr>
          <p:cNvPr id="12" name="Shape 7"/>
          <p:cNvSpPr/>
          <p:nvPr/>
        </p:nvSpPr>
        <p:spPr>
          <a:xfrm>
            <a:off x="793790" y="5220414"/>
            <a:ext cx="510302" cy="510302"/>
          </a:xfrm>
          <a:prstGeom prst="roundRect">
            <a:avLst>
              <a:gd name="adj" fmla="val 18669"/>
            </a:avLst>
          </a:prstGeom>
          <a:solidFill>
            <a:srgbClr val="DADBF1"/>
          </a:solidFill>
          <a:ln w="7620">
            <a:solidFill>
              <a:srgbClr val="C0C1D7"/>
            </a:solidFill>
            <a:prstDash val="solid"/>
          </a:ln>
        </p:spPr>
      </p:sp>
      <p:sp>
        <p:nvSpPr>
          <p:cNvPr id="13" name="Text 8"/>
          <p:cNvSpPr/>
          <p:nvPr/>
        </p:nvSpPr>
        <p:spPr>
          <a:xfrm>
            <a:off x="878860" y="526292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ea typeface="Inter Bold" pitchFamily="34" charset="-122"/>
                <a:cs typeface="Inter Bold" pitchFamily="34" charset="-120"/>
              </a:rPr>
              <a:t>3</a:t>
            </a:r>
            <a:endParaRPr lang="en-US" sz="2650" dirty="0"/>
          </a:p>
        </p:txBody>
      </p:sp>
      <p:sp>
        <p:nvSpPr>
          <p:cNvPr id="14" name="Text 9"/>
          <p:cNvSpPr/>
          <p:nvPr/>
        </p:nvSpPr>
        <p:spPr>
          <a:xfrm>
            <a:off x="1530906" y="52982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Crew Executes</a:t>
            </a:r>
            <a:endParaRPr lang="en-US" sz="2200" dirty="0"/>
          </a:p>
        </p:txBody>
      </p:sp>
      <p:sp>
        <p:nvSpPr>
          <p:cNvPr id="15" name="Text 10"/>
          <p:cNvSpPr/>
          <p:nvPr/>
        </p:nvSpPr>
        <p:spPr>
          <a:xfrm>
            <a:off x="1530906" y="5788700"/>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Agents collaborate dynamically using advanced LLMs.</a:t>
            </a:r>
            <a:endParaRPr lang="en-US" sz="1750" dirty="0"/>
          </a:p>
        </p:txBody>
      </p:sp>
      <p:sp>
        <p:nvSpPr>
          <p:cNvPr id="16" name="Shape 11"/>
          <p:cNvSpPr/>
          <p:nvPr/>
        </p:nvSpPr>
        <p:spPr>
          <a:xfrm>
            <a:off x="793790" y="6605230"/>
            <a:ext cx="510302" cy="510302"/>
          </a:xfrm>
          <a:prstGeom prst="roundRect">
            <a:avLst>
              <a:gd name="adj" fmla="val 18669"/>
            </a:avLst>
          </a:prstGeom>
          <a:solidFill>
            <a:srgbClr val="DADBF1"/>
          </a:solidFill>
          <a:ln w="7620">
            <a:solidFill>
              <a:srgbClr val="C0C1D7"/>
            </a:solidFill>
            <a:prstDash val="solid"/>
          </a:ln>
        </p:spPr>
      </p:sp>
      <p:pic>
        <p:nvPicPr>
          <p:cNvPr id="17" name="Image 3" descr="preencoded.png"/>
          <p:cNvPicPr>
            <a:picLocks noChangeAspect="1"/>
          </p:cNvPicPr>
          <p:nvPr/>
        </p:nvPicPr>
        <p:blipFill>
          <a:blip r:embed="rId6"/>
          <a:stretch>
            <a:fillRect/>
          </a:stretch>
        </p:blipFill>
        <p:spPr>
          <a:xfrm>
            <a:off x="878860" y="6647736"/>
            <a:ext cx="340162" cy="425291"/>
          </a:xfrm>
          <a:prstGeom prst="rect">
            <a:avLst/>
          </a:prstGeom>
        </p:spPr>
      </p:pic>
      <p:sp>
        <p:nvSpPr>
          <p:cNvPr id="18" name="Text 12"/>
          <p:cNvSpPr/>
          <p:nvPr/>
        </p:nvSpPr>
        <p:spPr>
          <a:xfrm>
            <a:off x="1530906" y="668309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ea typeface="Inter Bold" pitchFamily="34" charset="-122"/>
                <a:cs typeface="Inter Bold" pitchFamily="34" charset="-120"/>
              </a:rPr>
              <a:t>Final Output</a:t>
            </a:r>
            <a:endParaRPr lang="en-US" sz="2200" dirty="0"/>
          </a:p>
        </p:txBody>
      </p:sp>
      <p:sp>
        <p:nvSpPr>
          <p:cNvPr id="19" name="Text 13"/>
          <p:cNvSpPr/>
          <p:nvPr/>
        </p:nvSpPr>
        <p:spPr>
          <a:xfrm>
            <a:off x="1530906" y="7173516"/>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A unified, high-quality aggregated result is delivered.</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3" name="Rectangle 2">
            <a:extLst>
              <a:ext uri="{FF2B5EF4-FFF2-40B4-BE49-F238E27FC236}">
                <a16:creationId xmlns:a16="http://schemas.microsoft.com/office/drawing/2014/main" id="{22A38EED-E114-430E-BB5E-D2FE75F09AF8}"/>
              </a:ext>
            </a:extLst>
          </p:cNvPr>
          <p:cNvSpPr/>
          <p:nvPr/>
        </p:nvSpPr>
        <p:spPr>
          <a:xfrm>
            <a:off x="12710160" y="7569200"/>
            <a:ext cx="1920240" cy="66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8C4C7C2E-6962-40BF-AEF0-D0E0B65AB90E}"/>
              </a:ext>
            </a:extLst>
          </p:cNvPr>
          <p:cNvPicPr>
            <a:picLocks noChangeAspect="1"/>
          </p:cNvPicPr>
          <p:nvPr/>
        </p:nvPicPr>
        <p:blipFill>
          <a:blip r:embed="rId3"/>
          <a:stretch>
            <a:fillRect/>
          </a:stretch>
        </p:blipFill>
        <p:spPr>
          <a:xfrm>
            <a:off x="1143000" y="0"/>
            <a:ext cx="12344400" cy="8229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227427"/>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ea typeface="Inter Bold" pitchFamily="34" charset="-122"/>
                <a:cs typeface="Inter Bold" pitchFamily="34" charset="-120"/>
              </a:rPr>
              <a:t>Thank You</a:t>
            </a:r>
            <a:endParaRPr lang="en-US" sz="4450" dirty="0"/>
          </a:p>
        </p:txBody>
      </p:sp>
      <p:sp>
        <p:nvSpPr>
          <p:cNvPr id="4" name="Text 1"/>
          <p:cNvSpPr/>
          <p:nvPr/>
        </p:nvSpPr>
        <p:spPr>
          <a:xfrm>
            <a:off x="793790" y="427636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ea typeface="Inter" pitchFamily="34" charset="-122"/>
                <a:cs typeface="Inter" pitchFamily="34" charset="-120"/>
              </a:rPr>
              <a:t>We appreciate your time and attention today. We are now ready to answer any questions you may have.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3594</Words>
  <Application>Microsoft Office PowerPoint</Application>
  <PresentationFormat>Custom</PresentationFormat>
  <Paragraphs>480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Komal Nandal</cp:lastModifiedBy>
  <cp:revision>16</cp:revision>
  <dcterms:created xsi:type="dcterms:W3CDTF">2025-06-06T16:47:07Z</dcterms:created>
  <dcterms:modified xsi:type="dcterms:W3CDTF">2025-06-10T01:03:09Z</dcterms:modified>
</cp:coreProperties>
</file>